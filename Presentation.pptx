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9" r:id="rId2"/>
    <p:sldId id="268" r:id="rId3"/>
    <p:sldId id="274" r:id="rId4"/>
    <p:sldId id="269" r:id="rId5"/>
    <p:sldId id="271" r:id="rId6"/>
    <p:sldId id="272" r:id="rId7"/>
    <p:sldId id="275" r:id="rId8"/>
    <p:sldId id="276" r:id="rId9"/>
    <p:sldId id="277" r:id="rId10"/>
    <p:sldId id="278" r:id="rId11"/>
    <p:sldId id="279" r:id="rId12"/>
    <p:sldId id="280" r:id="rId13"/>
    <p:sldId id="281" r:id="rId14"/>
    <p:sldId id="282" r:id="rId15"/>
    <p:sldId id="285" r:id="rId16"/>
    <p:sldId id="283" r:id="rId17"/>
    <p:sldId id="284" r:id="rId18"/>
    <p:sldId id="273" r:id="rId19"/>
    <p:sldId id="286" r:id="rId20"/>
    <p:sldId id="287" r:id="rId21"/>
    <p:sldId id="28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24726"/>
    <a:srgbClr val="002060"/>
    <a:srgbClr val="4EA7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p:cViewPr>
        <p:scale>
          <a:sx n="68" d="100"/>
          <a:sy n="68" d="100"/>
        </p:scale>
        <p:origin x="1190"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96BE39-3F9E-463D-B9BD-5CAF5D4055D2}" type="datetimeFigureOut">
              <a:rPr lang="en-PK" smtClean="0"/>
              <a:t>03/12/2025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49DD03-5365-4492-95C1-30C2064C210F}" type="slidenum">
              <a:rPr lang="en-PK" smtClean="0"/>
              <a:t>‹#›</a:t>
            </a:fld>
            <a:endParaRPr lang="en-PK"/>
          </a:p>
        </p:txBody>
      </p:sp>
    </p:spTree>
    <p:extLst>
      <p:ext uri="{BB962C8B-B14F-4D97-AF65-F5344CB8AC3E}">
        <p14:creationId xmlns:p14="http://schemas.microsoft.com/office/powerpoint/2010/main" val="2015577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pPr marL="342900" indent="-342900">
              <a:buFont typeface="Arial"/>
              <a:buChar char="•"/>
            </a:pPr>
            <a:r>
              <a:rPr lang="en-US" sz="1200" dirty="0">
                <a:solidFill>
                  <a:srgbClr val="002060"/>
                </a:solidFill>
                <a:cs typeface="Arial"/>
              </a:rPr>
              <a:t>Sampling a set of input training locations () and passing them through the network. </a:t>
            </a:r>
          </a:p>
          <a:p>
            <a:endParaRPr lang="en-US" sz="1200" dirty="0">
              <a:solidFill>
                <a:srgbClr val="002060"/>
              </a:solidFill>
              <a:cs typeface="Arial"/>
            </a:endParaRPr>
          </a:p>
          <a:p>
            <a:pPr marL="342900" indent="-342900">
              <a:buFont typeface="Arial"/>
              <a:buChar char="•"/>
            </a:pPr>
            <a:r>
              <a:rPr lang="en-US" sz="1200" dirty="0">
                <a:solidFill>
                  <a:srgbClr val="002060"/>
                </a:solidFill>
                <a:cs typeface="Arial"/>
              </a:rPr>
              <a:t>Next gradients of the network’s output with respect to its input are computed at these locations (which are typically analytically available for most neural networks and can be easily computed using auto differentiation.</a:t>
            </a:r>
          </a:p>
          <a:p>
            <a:endParaRPr lang="en-US" sz="1200" dirty="0">
              <a:solidFill>
                <a:srgbClr val="002060"/>
              </a:solidFill>
              <a:cs typeface="Arial"/>
            </a:endParaRPr>
          </a:p>
          <a:p>
            <a:pPr marL="342900" indent="-342900">
              <a:buFont typeface="Arial"/>
              <a:buChar char="•"/>
            </a:pPr>
            <a:r>
              <a:rPr lang="en-US" sz="1200" dirty="0">
                <a:solidFill>
                  <a:srgbClr val="002060"/>
                </a:solidFill>
                <a:cs typeface="Arial"/>
              </a:rPr>
              <a:t>Finally, the residual of the underlying differential equation is computed using these gradients and added as an extra term in the loss function.</a:t>
            </a:r>
          </a:p>
        </p:txBody>
      </p:sp>
      <p:sp>
        <p:nvSpPr>
          <p:cNvPr id="4" name="Slide Number Placeholder 3"/>
          <p:cNvSpPr>
            <a:spLocks noGrp="1"/>
          </p:cNvSpPr>
          <p:nvPr>
            <p:ph type="sldNum" sz="quarter" idx="5"/>
          </p:nvPr>
        </p:nvSpPr>
        <p:spPr/>
        <p:txBody>
          <a:bodyPr/>
          <a:lstStyle/>
          <a:p>
            <a:fld id="{4B49DD03-5365-4492-95C1-30C2064C210F}" type="slidenum">
              <a:rPr lang="en-PK" smtClean="0"/>
              <a:t>4</a:t>
            </a:fld>
            <a:endParaRPr lang="en-PK"/>
          </a:p>
        </p:txBody>
      </p:sp>
    </p:spTree>
    <p:extLst>
      <p:ext uri="{BB962C8B-B14F-4D97-AF65-F5344CB8AC3E}">
        <p14:creationId xmlns:p14="http://schemas.microsoft.com/office/powerpoint/2010/main" val="1999261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4B49DD03-5365-4492-95C1-30C2064C210F}" type="slidenum">
              <a:rPr lang="en-PK" smtClean="0"/>
              <a:t>16</a:t>
            </a:fld>
            <a:endParaRPr lang="en-PK"/>
          </a:p>
        </p:txBody>
      </p:sp>
    </p:spTree>
    <p:extLst>
      <p:ext uri="{BB962C8B-B14F-4D97-AF65-F5344CB8AC3E}">
        <p14:creationId xmlns:p14="http://schemas.microsoft.com/office/powerpoint/2010/main" val="793379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6C345-1D4C-4F7A-8EB4-0426F5C0C1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027602-CAD9-D6A3-A3FC-F4A03EE18992}"/>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CE24A8A7-4264-0D4A-8AC8-5E7BEC1AA325}"/>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000309B4-DB28-B62D-8B96-689AEA59F7C4}"/>
              </a:ext>
            </a:extLst>
          </p:cNvPr>
          <p:cNvSpPr>
            <a:spLocks noGrp="1"/>
          </p:cNvSpPr>
          <p:nvPr>
            <p:ph type="sldNum" sz="quarter" idx="5"/>
          </p:nvPr>
        </p:nvSpPr>
        <p:spPr/>
        <p:txBody>
          <a:bodyPr/>
          <a:lstStyle/>
          <a:p>
            <a:fld id="{4B49DD03-5365-4492-95C1-30C2064C210F}" type="slidenum">
              <a:rPr lang="en-PK" smtClean="0"/>
              <a:t>17</a:t>
            </a:fld>
            <a:endParaRPr lang="en-PK"/>
          </a:p>
        </p:txBody>
      </p:sp>
    </p:spTree>
    <p:extLst>
      <p:ext uri="{BB962C8B-B14F-4D97-AF65-F5344CB8AC3E}">
        <p14:creationId xmlns:p14="http://schemas.microsoft.com/office/powerpoint/2010/main" val="12716253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2C937-A1A2-F864-60DD-9AB4267CDF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6D29A0-DEAC-5A92-B680-00A9BDD01E4C}"/>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6B15172B-9E6B-22F6-8072-BF4E9B14C400}"/>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426352C3-8382-6CC1-DF36-C539526B6C95}"/>
              </a:ext>
            </a:extLst>
          </p:cNvPr>
          <p:cNvSpPr>
            <a:spLocks noGrp="1"/>
          </p:cNvSpPr>
          <p:nvPr>
            <p:ph type="sldNum" sz="quarter" idx="5"/>
          </p:nvPr>
        </p:nvSpPr>
        <p:spPr/>
        <p:txBody>
          <a:bodyPr/>
          <a:lstStyle/>
          <a:p>
            <a:fld id="{4B49DD03-5365-4492-95C1-30C2064C210F}" type="slidenum">
              <a:rPr lang="en-PK" smtClean="0"/>
              <a:t>19</a:t>
            </a:fld>
            <a:endParaRPr lang="en-PK"/>
          </a:p>
        </p:txBody>
      </p:sp>
    </p:spTree>
    <p:extLst>
      <p:ext uri="{BB962C8B-B14F-4D97-AF65-F5344CB8AC3E}">
        <p14:creationId xmlns:p14="http://schemas.microsoft.com/office/powerpoint/2010/main" val="2679603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03B64-6D4A-98F5-81C4-32FFBD4BCF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19DB3-CFDE-5DD0-846F-C6A78787ED25}"/>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E8467212-1870-BDD6-68FD-D8F586B50665}"/>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6E4C17B2-A16D-7F70-B80A-CA1B750999AF}"/>
              </a:ext>
            </a:extLst>
          </p:cNvPr>
          <p:cNvSpPr>
            <a:spLocks noGrp="1"/>
          </p:cNvSpPr>
          <p:nvPr>
            <p:ph type="sldNum" sz="quarter" idx="5"/>
          </p:nvPr>
        </p:nvSpPr>
        <p:spPr/>
        <p:txBody>
          <a:bodyPr/>
          <a:lstStyle/>
          <a:p>
            <a:fld id="{4B49DD03-5365-4492-95C1-30C2064C210F}" type="slidenum">
              <a:rPr lang="en-PK" smtClean="0"/>
              <a:t>20</a:t>
            </a:fld>
            <a:endParaRPr lang="en-PK"/>
          </a:p>
        </p:txBody>
      </p:sp>
    </p:spTree>
    <p:extLst>
      <p:ext uri="{BB962C8B-B14F-4D97-AF65-F5344CB8AC3E}">
        <p14:creationId xmlns:p14="http://schemas.microsoft.com/office/powerpoint/2010/main" val="28831038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8277F-A0CD-066D-13C4-2275CF1EF2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825FBA-B4B4-75B6-082D-B16E2827A2F0}"/>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A21FBEF7-D27B-B065-B5CE-EA3874B5F65E}"/>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2E8A494C-7FEE-0800-949E-68B023B0F4E5}"/>
              </a:ext>
            </a:extLst>
          </p:cNvPr>
          <p:cNvSpPr>
            <a:spLocks noGrp="1"/>
          </p:cNvSpPr>
          <p:nvPr>
            <p:ph type="sldNum" sz="quarter" idx="5"/>
          </p:nvPr>
        </p:nvSpPr>
        <p:spPr/>
        <p:txBody>
          <a:bodyPr/>
          <a:lstStyle/>
          <a:p>
            <a:fld id="{4B49DD03-5365-4492-95C1-30C2064C210F}" type="slidenum">
              <a:rPr lang="en-PK" smtClean="0"/>
              <a:t>21</a:t>
            </a:fld>
            <a:endParaRPr lang="en-PK"/>
          </a:p>
        </p:txBody>
      </p:sp>
    </p:spTree>
    <p:extLst>
      <p:ext uri="{BB962C8B-B14F-4D97-AF65-F5344CB8AC3E}">
        <p14:creationId xmlns:p14="http://schemas.microsoft.com/office/powerpoint/2010/main" val="27403488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B265D-158A-860A-8387-48A0026723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DA7473D-F075-C172-91B1-67B2E0092D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66B415E-EF64-08EF-0842-57315C287141}"/>
              </a:ext>
            </a:extLst>
          </p:cNvPr>
          <p:cNvSpPr>
            <a:spLocks noGrp="1"/>
          </p:cNvSpPr>
          <p:nvPr>
            <p:ph type="dt" sz="half" idx="10"/>
          </p:nvPr>
        </p:nvSpPr>
        <p:spPr/>
        <p:txBody>
          <a:bodyPr/>
          <a:lstStyle/>
          <a:p>
            <a:fld id="{15C9A707-A1A4-4450-9016-0227356DACF2}" type="datetimeFigureOut">
              <a:rPr lang="en-US" smtClean="0"/>
              <a:t>12/3/2025</a:t>
            </a:fld>
            <a:endParaRPr lang="en-US"/>
          </a:p>
        </p:txBody>
      </p:sp>
      <p:sp>
        <p:nvSpPr>
          <p:cNvPr id="5" name="Footer Placeholder 4">
            <a:extLst>
              <a:ext uri="{FF2B5EF4-FFF2-40B4-BE49-F238E27FC236}">
                <a16:creationId xmlns:a16="http://schemas.microsoft.com/office/drawing/2014/main" id="{CF233280-05C8-FE8C-6011-2AE9A87945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3031DF-7E85-F291-7221-3ACBDC0D177E}"/>
              </a:ext>
            </a:extLst>
          </p:cNvPr>
          <p:cNvSpPr>
            <a:spLocks noGrp="1"/>
          </p:cNvSpPr>
          <p:nvPr>
            <p:ph type="sldNum" sz="quarter" idx="12"/>
          </p:nvPr>
        </p:nvSpPr>
        <p:spPr/>
        <p:txBody>
          <a:bodyPr/>
          <a:lstStyle/>
          <a:p>
            <a:fld id="{9C5D7C84-92B3-4060-AFCB-D25D132FB111}" type="slidenum">
              <a:rPr lang="en-US" smtClean="0"/>
              <a:t>‹#›</a:t>
            </a:fld>
            <a:endParaRPr lang="en-US"/>
          </a:p>
        </p:txBody>
      </p:sp>
    </p:spTree>
    <p:extLst>
      <p:ext uri="{BB962C8B-B14F-4D97-AF65-F5344CB8AC3E}">
        <p14:creationId xmlns:p14="http://schemas.microsoft.com/office/powerpoint/2010/main" val="1992680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CBAAF-1C15-819A-F2DC-02E8664E5B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490A18-D4B7-2EBD-387D-8967F252FC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F05C17-86AF-0FEC-DCBE-64E5AAD8ECE9}"/>
              </a:ext>
            </a:extLst>
          </p:cNvPr>
          <p:cNvSpPr>
            <a:spLocks noGrp="1"/>
          </p:cNvSpPr>
          <p:nvPr>
            <p:ph type="dt" sz="half" idx="10"/>
          </p:nvPr>
        </p:nvSpPr>
        <p:spPr/>
        <p:txBody>
          <a:bodyPr/>
          <a:lstStyle/>
          <a:p>
            <a:fld id="{15C9A707-A1A4-4450-9016-0227356DACF2}" type="datetimeFigureOut">
              <a:rPr lang="en-US" smtClean="0"/>
              <a:t>12/3/2025</a:t>
            </a:fld>
            <a:endParaRPr lang="en-US"/>
          </a:p>
        </p:txBody>
      </p:sp>
      <p:sp>
        <p:nvSpPr>
          <p:cNvPr id="5" name="Footer Placeholder 4">
            <a:extLst>
              <a:ext uri="{FF2B5EF4-FFF2-40B4-BE49-F238E27FC236}">
                <a16:creationId xmlns:a16="http://schemas.microsoft.com/office/drawing/2014/main" id="{EAC5AFAE-122C-9595-42B5-C65CD13EB3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DB2847-C667-45A8-9FED-767C142A84A4}"/>
              </a:ext>
            </a:extLst>
          </p:cNvPr>
          <p:cNvSpPr>
            <a:spLocks noGrp="1"/>
          </p:cNvSpPr>
          <p:nvPr>
            <p:ph type="sldNum" sz="quarter" idx="12"/>
          </p:nvPr>
        </p:nvSpPr>
        <p:spPr/>
        <p:txBody>
          <a:bodyPr/>
          <a:lstStyle/>
          <a:p>
            <a:fld id="{9C5D7C84-92B3-4060-AFCB-D25D132FB111}" type="slidenum">
              <a:rPr lang="en-US" smtClean="0"/>
              <a:t>‹#›</a:t>
            </a:fld>
            <a:endParaRPr lang="en-US"/>
          </a:p>
        </p:txBody>
      </p:sp>
    </p:spTree>
    <p:extLst>
      <p:ext uri="{BB962C8B-B14F-4D97-AF65-F5344CB8AC3E}">
        <p14:creationId xmlns:p14="http://schemas.microsoft.com/office/powerpoint/2010/main" val="20967561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8ADBD-4705-6D88-64F7-5CF46C11FF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B65701-EFAF-209E-D0A1-BEBA798BC73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7F3B1E-596A-55CC-9289-E80DE97E289C}"/>
              </a:ext>
            </a:extLst>
          </p:cNvPr>
          <p:cNvSpPr>
            <a:spLocks noGrp="1"/>
          </p:cNvSpPr>
          <p:nvPr>
            <p:ph type="dt" sz="half" idx="10"/>
          </p:nvPr>
        </p:nvSpPr>
        <p:spPr/>
        <p:txBody>
          <a:bodyPr/>
          <a:lstStyle/>
          <a:p>
            <a:fld id="{15C9A707-A1A4-4450-9016-0227356DACF2}" type="datetimeFigureOut">
              <a:rPr lang="en-US" smtClean="0"/>
              <a:t>12/3/2025</a:t>
            </a:fld>
            <a:endParaRPr lang="en-US"/>
          </a:p>
        </p:txBody>
      </p:sp>
      <p:sp>
        <p:nvSpPr>
          <p:cNvPr id="5" name="Footer Placeholder 4">
            <a:extLst>
              <a:ext uri="{FF2B5EF4-FFF2-40B4-BE49-F238E27FC236}">
                <a16:creationId xmlns:a16="http://schemas.microsoft.com/office/drawing/2014/main" id="{D6C4DCAB-00F4-4093-E4E4-7E85A0574B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C9D220-FAC7-2CA5-E77B-E72D84D40583}"/>
              </a:ext>
            </a:extLst>
          </p:cNvPr>
          <p:cNvSpPr>
            <a:spLocks noGrp="1"/>
          </p:cNvSpPr>
          <p:nvPr>
            <p:ph type="sldNum" sz="quarter" idx="12"/>
          </p:nvPr>
        </p:nvSpPr>
        <p:spPr/>
        <p:txBody>
          <a:bodyPr/>
          <a:lstStyle/>
          <a:p>
            <a:fld id="{9C5D7C84-92B3-4060-AFCB-D25D132FB111}" type="slidenum">
              <a:rPr lang="en-US" smtClean="0"/>
              <a:t>‹#›</a:t>
            </a:fld>
            <a:endParaRPr lang="en-US"/>
          </a:p>
        </p:txBody>
      </p:sp>
    </p:spTree>
    <p:extLst>
      <p:ext uri="{BB962C8B-B14F-4D97-AF65-F5344CB8AC3E}">
        <p14:creationId xmlns:p14="http://schemas.microsoft.com/office/powerpoint/2010/main" val="133679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DA7D7-E24B-CE93-3227-E5F3671655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CF7265-1123-808D-7E20-375FFD9777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106315-96BB-910B-F8C6-78AB5A3147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F33E0D-6DA4-FDFF-4345-596B1F834192}"/>
              </a:ext>
            </a:extLst>
          </p:cNvPr>
          <p:cNvSpPr>
            <a:spLocks noGrp="1"/>
          </p:cNvSpPr>
          <p:nvPr>
            <p:ph type="dt" sz="half" idx="10"/>
          </p:nvPr>
        </p:nvSpPr>
        <p:spPr/>
        <p:txBody>
          <a:bodyPr/>
          <a:lstStyle/>
          <a:p>
            <a:fld id="{15C9A707-A1A4-4450-9016-0227356DACF2}" type="datetimeFigureOut">
              <a:rPr lang="en-US" smtClean="0"/>
              <a:t>12/3/2025</a:t>
            </a:fld>
            <a:endParaRPr lang="en-US"/>
          </a:p>
        </p:txBody>
      </p:sp>
      <p:sp>
        <p:nvSpPr>
          <p:cNvPr id="6" name="Footer Placeholder 5">
            <a:extLst>
              <a:ext uri="{FF2B5EF4-FFF2-40B4-BE49-F238E27FC236}">
                <a16:creationId xmlns:a16="http://schemas.microsoft.com/office/drawing/2014/main" id="{D547C8B0-F4AC-CDB6-203C-B7EAFC9555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DC67AD-5E0D-325F-7688-CC2BFBB9899C}"/>
              </a:ext>
            </a:extLst>
          </p:cNvPr>
          <p:cNvSpPr>
            <a:spLocks noGrp="1"/>
          </p:cNvSpPr>
          <p:nvPr>
            <p:ph type="sldNum" sz="quarter" idx="12"/>
          </p:nvPr>
        </p:nvSpPr>
        <p:spPr/>
        <p:txBody>
          <a:bodyPr/>
          <a:lstStyle/>
          <a:p>
            <a:fld id="{9C5D7C84-92B3-4060-AFCB-D25D132FB111}" type="slidenum">
              <a:rPr lang="en-US" smtClean="0"/>
              <a:t>‹#›</a:t>
            </a:fld>
            <a:endParaRPr lang="en-US"/>
          </a:p>
        </p:txBody>
      </p:sp>
    </p:spTree>
    <p:extLst>
      <p:ext uri="{BB962C8B-B14F-4D97-AF65-F5344CB8AC3E}">
        <p14:creationId xmlns:p14="http://schemas.microsoft.com/office/powerpoint/2010/main" val="1850122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503AD-321C-E91C-E8B7-4CF5202218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F2C7EF-8743-6970-AD81-AEA087A183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800535-5914-9F9B-DD91-2CA63CD853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4C787CD-249F-59AF-FA21-AB2D51D905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C09288-7F4C-B5CA-368D-BD8985997A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F219167-CE8B-B466-2E42-865D7AA118FE}"/>
              </a:ext>
            </a:extLst>
          </p:cNvPr>
          <p:cNvSpPr>
            <a:spLocks noGrp="1"/>
          </p:cNvSpPr>
          <p:nvPr>
            <p:ph type="dt" sz="half" idx="10"/>
          </p:nvPr>
        </p:nvSpPr>
        <p:spPr/>
        <p:txBody>
          <a:bodyPr/>
          <a:lstStyle/>
          <a:p>
            <a:fld id="{15C9A707-A1A4-4450-9016-0227356DACF2}" type="datetimeFigureOut">
              <a:rPr lang="en-US" smtClean="0"/>
              <a:t>12/3/2025</a:t>
            </a:fld>
            <a:endParaRPr lang="en-US"/>
          </a:p>
        </p:txBody>
      </p:sp>
      <p:sp>
        <p:nvSpPr>
          <p:cNvPr id="8" name="Footer Placeholder 7">
            <a:extLst>
              <a:ext uri="{FF2B5EF4-FFF2-40B4-BE49-F238E27FC236}">
                <a16:creationId xmlns:a16="http://schemas.microsoft.com/office/drawing/2014/main" id="{B073794F-F703-3FF5-35BB-33D335E1012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C935C2-82DA-4704-332C-275906E7CDE2}"/>
              </a:ext>
            </a:extLst>
          </p:cNvPr>
          <p:cNvSpPr>
            <a:spLocks noGrp="1"/>
          </p:cNvSpPr>
          <p:nvPr>
            <p:ph type="sldNum" sz="quarter" idx="12"/>
          </p:nvPr>
        </p:nvSpPr>
        <p:spPr/>
        <p:txBody>
          <a:bodyPr/>
          <a:lstStyle/>
          <a:p>
            <a:fld id="{9C5D7C84-92B3-4060-AFCB-D25D132FB111}" type="slidenum">
              <a:rPr lang="en-US" smtClean="0"/>
              <a:t>‹#›</a:t>
            </a:fld>
            <a:endParaRPr lang="en-US"/>
          </a:p>
        </p:txBody>
      </p:sp>
    </p:spTree>
    <p:extLst>
      <p:ext uri="{BB962C8B-B14F-4D97-AF65-F5344CB8AC3E}">
        <p14:creationId xmlns:p14="http://schemas.microsoft.com/office/powerpoint/2010/main" val="28704859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0769B-FAA4-9FE9-27F8-AF7539EAE83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AE64CC8-E4E9-E7AA-0B93-28584A0076F7}"/>
              </a:ext>
            </a:extLst>
          </p:cNvPr>
          <p:cNvSpPr>
            <a:spLocks noGrp="1"/>
          </p:cNvSpPr>
          <p:nvPr>
            <p:ph type="dt" sz="half" idx="10"/>
          </p:nvPr>
        </p:nvSpPr>
        <p:spPr/>
        <p:txBody>
          <a:bodyPr/>
          <a:lstStyle/>
          <a:p>
            <a:fld id="{15C9A707-A1A4-4450-9016-0227356DACF2}" type="datetimeFigureOut">
              <a:rPr lang="en-US" smtClean="0"/>
              <a:t>12/3/2025</a:t>
            </a:fld>
            <a:endParaRPr lang="en-US"/>
          </a:p>
        </p:txBody>
      </p:sp>
      <p:sp>
        <p:nvSpPr>
          <p:cNvPr id="4" name="Footer Placeholder 3">
            <a:extLst>
              <a:ext uri="{FF2B5EF4-FFF2-40B4-BE49-F238E27FC236}">
                <a16:creationId xmlns:a16="http://schemas.microsoft.com/office/drawing/2014/main" id="{FEE73751-FF47-89A7-8597-BB127E1950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52A41D1-BD46-8B09-151D-AEAE12C84825}"/>
              </a:ext>
            </a:extLst>
          </p:cNvPr>
          <p:cNvSpPr>
            <a:spLocks noGrp="1"/>
          </p:cNvSpPr>
          <p:nvPr>
            <p:ph type="sldNum" sz="quarter" idx="12"/>
          </p:nvPr>
        </p:nvSpPr>
        <p:spPr/>
        <p:txBody>
          <a:bodyPr/>
          <a:lstStyle/>
          <a:p>
            <a:fld id="{9C5D7C84-92B3-4060-AFCB-D25D132FB111}" type="slidenum">
              <a:rPr lang="en-US" smtClean="0"/>
              <a:t>‹#›</a:t>
            </a:fld>
            <a:endParaRPr lang="en-US"/>
          </a:p>
        </p:txBody>
      </p:sp>
    </p:spTree>
    <p:extLst>
      <p:ext uri="{BB962C8B-B14F-4D97-AF65-F5344CB8AC3E}">
        <p14:creationId xmlns:p14="http://schemas.microsoft.com/office/powerpoint/2010/main" val="118435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AFFA73-1128-B847-2AA2-A9D122C7B55A}"/>
              </a:ext>
            </a:extLst>
          </p:cNvPr>
          <p:cNvSpPr>
            <a:spLocks noGrp="1"/>
          </p:cNvSpPr>
          <p:nvPr>
            <p:ph type="dt" sz="half" idx="10"/>
          </p:nvPr>
        </p:nvSpPr>
        <p:spPr/>
        <p:txBody>
          <a:bodyPr/>
          <a:lstStyle/>
          <a:p>
            <a:fld id="{15C9A707-A1A4-4450-9016-0227356DACF2}" type="datetimeFigureOut">
              <a:rPr lang="en-US" smtClean="0"/>
              <a:t>12/3/2025</a:t>
            </a:fld>
            <a:endParaRPr lang="en-US"/>
          </a:p>
        </p:txBody>
      </p:sp>
      <p:sp>
        <p:nvSpPr>
          <p:cNvPr id="3" name="Footer Placeholder 2">
            <a:extLst>
              <a:ext uri="{FF2B5EF4-FFF2-40B4-BE49-F238E27FC236}">
                <a16:creationId xmlns:a16="http://schemas.microsoft.com/office/drawing/2014/main" id="{99258C38-E534-C000-79C9-956F3453F6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FADBBD-11FF-E7CC-7D54-5BE12FE9C730}"/>
              </a:ext>
            </a:extLst>
          </p:cNvPr>
          <p:cNvSpPr>
            <a:spLocks noGrp="1"/>
          </p:cNvSpPr>
          <p:nvPr>
            <p:ph type="sldNum" sz="quarter" idx="12"/>
          </p:nvPr>
        </p:nvSpPr>
        <p:spPr/>
        <p:txBody>
          <a:bodyPr/>
          <a:lstStyle/>
          <a:p>
            <a:fld id="{9C5D7C84-92B3-4060-AFCB-D25D132FB111}" type="slidenum">
              <a:rPr lang="en-US" smtClean="0"/>
              <a:t>‹#›</a:t>
            </a:fld>
            <a:endParaRPr lang="en-US"/>
          </a:p>
        </p:txBody>
      </p:sp>
    </p:spTree>
    <p:extLst>
      <p:ext uri="{BB962C8B-B14F-4D97-AF65-F5344CB8AC3E}">
        <p14:creationId xmlns:p14="http://schemas.microsoft.com/office/powerpoint/2010/main" val="619140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A2581-BD69-24CB-91EA-D16D0F728D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2DB3779-12EA-B7FA-E221-ED2C675BBC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EA1BCA-F3A7-9740-1A5B-DD0A104E9E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5D7A83-986D-C553-28C0-AA73844E4EA3}"/>
              </a:ext>
            </a:extLst>
          </p:cNvPr>
          <p:cNvSpPr>
            <a:spLocks noGrp="1"/>
          </p:cNvSpPr>
          <p:nvPr>
            <p:ph type="dt" sz="half" idx="10"/>
          </p:nvPr>
        </p:nvSpPr>
        <p:spPr/>
        <p:txBody>
          <a:bodyPr/>
          <a:lstStyle/>
          <a:p>
            <a:fld id="{15C9A707-A1A4-4450-9016-0227356DACF2}" type="datetimeFigureOut">
              <a:rPr lang="en-US" smtClean="0"/>
              <a:t>12/3/2025</a:t>
            </a:fld>
            <a:endParaRPr lang="en-US"/>
          </a:p>
        </p:txBody>
      </p:sp>
      <p:sp>
        <p:nvSpPr>
          <p:cNvPr id="6" name="Footer Placeholder 5">
            <a:extLst>
              <a:ext uri="{FF2B5EF4-FFF2-40B4-BE49-F238E27FC236}">
                <a16:creationId xmlns:a16="http://schemas.microsoft.com/office/drawing/2014/main" id="{F74A7421-D4C7-B1D3-A88F-CEEBD2250D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7B2DD7-B051-CE88-6271-86148EE15656}"/>
              </a:ext>
            </a:extLst>
          </p:cNvPr>
          <p:cNvSpPr>
            <a:spLocks noGrp="1"/>
          </p:cNvSpPr>
          <p:nvPr>
            <p:ph type="sldNum" sz="quarter" idx="12"/>
          </p:nvPr>
        </p:nvSpPr>
        <p:spPr/>
        <p:txBody>
          <a:bodyPr/>
          <a:lstStyle/>
          <a:p>
            <a:fld id="{9C5D7C84-92B3-4060-AFCB-D25D132FB111}" type="slidenum">
              <a:rPr lang="en-US" smtClean="0"/>
              <a:t>‹#›</a:t>
            </a:fld>
            <a:endParaRPr lang="en-US"/>
          </a:p>
        </p:txBody>
      </p:sp>
    </p:spTree>
    <p:extLst>
      <p:ext uri="{BB962C8B-B14F-4D97-AF65-F5344CB8AC3E}">
        <p14:creationId xmlns:p14="http://schemas.microsoft.com/office/powerpoint/2010/main" val="1397018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1A8E3-A717-4798-6DD3-FAE81590EB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2A4FF2-2591-DE04-E2F2-07545F6870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BCFF4F2-8ECB-3FBD-F4E7-3BF4F2C08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A4B18E-1A99-0C4B-4D07-7DAA1780E49C}"/>
              </a:ext>
            </a:extLst>
          </p:cNvPr>
          <p:cNvSpPr>
            <a:spLocks noGrp="1"/>
          </p:cNvSpPr>
          <p:nvPr>
            <p:ph type="dt" sz="half" idx="10"/>
          </p:nvPr>
        </p:nvSpPr>
        <p:spPr/>
        <p:txBody>
          <a:bodyPr/>
          <a:lstStyle/>
          <a:p>
            <a:fld id="{15C9A707-A1A4-4450-9016-0227356DACF2}" type="datetimeFigureOut">
              <a:rPr lang="en-US" smtClean="0"/>
              <a:t>12/3/2025</a:t>
            </a:fld>
            <a:endParaRPr lang="en-US"/>
          </a:p>
        </p:txBody>
      </p:sp>
      <p:sp>
        <p:nvSpPr>
          <p:cNvPr id="6" name="Footer Placeholder 5">
            <a:extLst>
              <a:ext uri="{FF2B5EF4-FFF2-40B4-BE49-F238E27FC236}">
                <a16:creationId xmlns:a16="http://schemas.microsoft.com/office/drawing/2014/main" id="{CD3A443D-FBC8-6B09-5545-6B0C2CB371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F62EA5-5D62-16FD-038F-1ABDD7988AED}"/>
              </a:ext>
            </a:extLst>
          </p:cNvPr>
          <p:cNvSpPr>
            <a:spLocks noGrp="1"/>
          </p:cNvSpPr>
          <p:nvPr>
            <p:ph type="sldNum" sz="quarter" idx="12"/>
          </p:nvPr>
        </p:nvSpPr>
        <p:spPr/>
        <p:txBody>
          <a:bodyPr/>
          <a:lstStyle/>
          <a:p>
            <a:fld id="{9C5D7C84-92B3-4060-AFCB-D25D132FB111}" type="slidenum">
              <a:rPr lang="en-US" smtClean="0"/>
              <a:t>‹#›</a:t>
            </a:fld>
            <a:endParaRPr lang="en-US"/>
          </a:p>
        </p:txBody>
      </p:sp>
    </p:spTree>
    <p:extLst>
      <p:ext uri="{BB962C8B-B14F-4D97-AF65-F5344CB8AC3E}">
        <p14:creationId xmlns:p14="http://schemas.microsoft.com/office/powerpoint/2010/main" val="8722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593BE-940C-0A61-1C47-D3A9CB6BE91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6785C5-3CEB-A93D-335F-2A3AFD0927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CA893D-E1ED-76E1-BC5E-912C19DB2316}"/>
              </a:ext>
            </a:extLst>
          </p:cNvPr>
          <p:cNvSpPr>
            <a:spLocks noGrp="1"/>
          </p:cNvSpPr>
          <p:nvPr>
            <p:ph type="dt" sz="half" idx="10"/>
          </p:nvPr>
        </p:nvSpPr>
        <p:spPr/>
        <p:txBody>
          <a:bodyPr/>
          <a:lstStyle/>
          <a:p>
            <a:fld id="{15C9A707-A1A4-4450-9016-0227356DACF2}" type="datetimeFigureOut">
              <a:rPr lang="en-US" smtClean="0"/>
              <a:t>12/3/2025</a:t>
            </a:fld>
            <a:endParaRPr lang="en-US"/>
          </a:p>
        </p:txBody>
      </p:sp>
      <p:sp>
        <p:nvSpPr>
          <p:cNvPr id="5" name="Footer Placeholder 4">
            <a:extLst>
              <a:ext uri="{FF2B5EF4-FFF2-40B4-BE49-F238E27FC236}">
                <a16:creationId xmlns:a16="http://schemas.microsoft.com/office/drawing/2014/main" id="{5B297492-D7FD-B055-7A22-F7060C2729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925FFA-A438-76C7-50F5-BAF506DBDEB4}"/>
              </a:ext>
            </a:extLst>
          </p:cNvPr>
          <p:cNvSpPr>
            <a:spLocks noGrp="1"/>
          </p:cNvSpPr>
          <p:nvPr>
            <p:ph type="sldNum" sz="quarter" idx="12"/>
          </p:nvPr>
        </p:nvSpPr>
        <p:spPr/>
        <p:txBody>
          <a:bodyPr/>
          <a:lstStyle/>
          <a:p>
            <a:fld id="{9C5D7C84-92B3-4060-AFCB-D25D132FB111}" type="slidenum">
              <a:rPr lang="en-US" smtClean="0"/>
              <a:t>‹#›</a:t>
            </a:fld>
            <a:endParaRPr lang="en-US"/>
          </a:p>
        </p:txBody>
      </p:sp>
    </p:spTree>
    <p:extLst>
      <p:ext uri="{BB962C8B-B14F-4D97-AF65-F5344CB8AC3E}">
        <p14:creationId xmlns:p14="http://schemas.microsoft.com/office/powerpoint/2010/main" val="546919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998F19-7EA4-84F7-8644-BF067A40C4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D037B5-26B2-0B73-AC9C-AE197F6E39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79A03D-56C0-0C1B-4CD6-D1A12A211B89}"/>
              </a:ext>
            </a:extLst>
          </p:cNvPr>
          <p:cNvSpPr>
            <a:spLocks noGrp="1"/>
          </p:cNvSpPr>
          <p:nvPr>
            <p:ph type="dt" sz="half" idx="10"/>
          </p:nvPr>
        </p:nvSpPr>
        <p:spPr/>
        <p:txBody>
          <a:bodyPr/>
          <a:lstStyle/>
          <a:p>
            <a:fld id="{15C9A707-A1A4-4450-9016-0227356DACF2}" type="datetimeFigureOut">
              <a:rPr lang="en-US" smtClean="0"/>
              <a:t>12/3/2025</a:t>
            </a:fld>
            <a:endParaRPr lang="en-US"/>
          </a:p>
        </p:txBody>
      </p:sp>
      <p:sp>
        <p:nvSpPr>
          <p:cNvPr id="5" name="Footer Placeholder 4">
            <a:extLst>
              <a:ext uri="{FF2B5EF4-FFF2-40B4-BE49-F238E27FC236}">
                <a16:creationId xmlns:a16="http://schemas.microsoft.com/office/drawing/2014/main" id="{25D5A37B-6ACF-C469-119F-3C43E84F99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267C15-A1FF-EAAC-2F48-E1D153B5C540}"/>
              </a:ext>
            </a:extLst>
          </p:cNvPr>
          <p:cNvSpPr>
            <a:spLocks noGrp="1"/>
          </p:cNvSpPr>
          <p:nvPr>
            <p:ph type="sldNum" sz="quarter" idx="12"/>
          </p:nvPr>
        </p:nvSpPr>
        <p:spPr/>
        <p:txBody>
          <a:bodyPr/>
          <a:lstStyle/>
          <a:p>
            <a:fld id="{9C5D7C84-92B3-4060-AFCB-D25D132FB111}" type="slidenum">
              <a:rPr lang="en-US" smtClean="0"/>
              <a:t>‹#›</a:t>
            </a:fld>
            <a:endParaRPr lang="en-US"/>
          </a:p>
        </p:txBody>
      </p:sp>
    </p:spTree>
    <p:extLst>
      <p:ext uri="{BB962C8B-B14F-4D97-AF65-F5344CB8AC3E}">
        <p14:creationId xmlns:p14="http://schemas.microsoft.com/office/powerpoint/2010/main" val="36777970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0974584-F7C5-6440-926F-F6A9781D61F4}"/>
              </a:ext>
            </a:extLst>
          </p:cNvPr>
          <p:cNvSpPr>
            <a:spLocks noGrp="1"/>
          </p:cNvSpPr>
          <p:nvPr>
            <p:ph type="title"/>
          </p:nvPr>
        </p:nvSpPr>
        <p:spPr>
          <a:xfrm>
            <a:off x="404310" y="2484470"/>
            <a:ext cx="7552916" cy="2130561"/>
          </a:xfrm>
          <a:prstGeom prst="rect">
            <a:avLst/>
          </a:prstGeom>
        </p:spPr>
        <p:txBody>
          <a:bodyPr>
            <a:normAutofit/>
          </a:bodyPr>
          <a:lstStyle>
            <a:lvl1pPr>
              <a:defRPr sz="6600" b="0">
                <a:solidFill>
                  <a:schemeClr val="tx1"/>
                </a:solidFill>
              </a:defRPr>
            </a:lvl1pPr>
          </a:lstStyle>
          <a:p>
            <a:r>
              <a:rPr lang="en-US"/>
              <a:t>Click to edit Master title style</a:t>
            </a:r>
          </a:p>
        </p:txBody>
      </p:sp>
    </p:spTree>
    <p:extLst>
      <p:ext uri="{BB962C8B-B14F-4D97-AF65-F5344CB8AC3E}">
        <p14:creationId xmlns:p14="http://schemas.microsoft.com/office/powerpoint/2010/main" val="3554891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72A72F24-C2F4-A848-9526-6DDE3032300C}"/>
              </a:ext>
            </a:extLst>
          </p:cNvPr>
          <p:cNvSpPr>
            <a:spLocks noGrp="1"/>
          </p:cNvSpPr>
          <p:nvPr>
            <p:ph sz="quarter" idx="10"/>
          </p:nvPr>
        </p:nvSpPr>
        <p:spPr>
          <a:xfrm>
            <a:off x="444500" y="1460500"/>
            <a:ext cx="5327904" cy="3977640"/>
          </a:xfrm>
          <a:prstGeom prst="rect">
            <a:avLst/>
          </a:prstGeom>
        </p:spPr>
        <p:txBody>
          <a:bodyPr vert="horz" lIns="91440" tIns="45720" rIns="91440" bIns="45720" rtlCol="0">
            <a:normAutofit/>
          </a:bodyPr>
          <a:lstStyle>
            <a:lvl1pPr>
              <a:lnSpc>
                <a:spcPct val="100000"/>
              </a:lnSpc>
              <a:defRPr lang="en-US" sz="1400" smtClean="0">
                <a:solidFill>
                  <a:schemeClr val="tx1">
                    <a:lumMod val="75000"/>
                    <a:lumOff val="25000"/>
                  </a:schemeClr>
                </a:solidFill>
              </a:defRPr>
            </a:lvl1pPr>
            <a:lvl2pPr>
              <a:lnSpc>
                <a:spcPct val="100000"/>
              </a:lnSpc>
              <a:defRPr lang="en-US" sz="1400" smtClean="0">
                <a:solidFill>
                  <a:schemeClr val="tx1">
                    <a:lumMod val="75000"/>
                    <a:lumOff val="25000"/>
                  </a:schemeClr>
                </a:solidFill>
              </a:defRPr>
            </a:lvl2pPr>
            <a:lvl3pPr>
              <a:lnSpc>
                <a:spcPct val="100000"/>
              </a:lnSpc>
              <a:defRPr lang="en-US" sz="1400" smtClean="0">
                <a:solidFill>
                  <a:schemeClr val="tx1">
                    <a:lumMod val="75000"/>
                    <a:lumOff val="25000"/>
                  </a:schemeClr>
                </a:solidFill>
              </a:defRPr>
            </a:lvl3pPr>
            <a:lvl4pPr>
              <a:lnSpc>
                <a:spcPct val="100000"/>
              </a:lnSpc>
              <a:defRPr lang="en-US" sz="1400" smtClean="0">
                <a:solidFill>
                  <a:schemeClr val="tx1">
                    <a:lumMod val="75000"/>
                    <a:lumOff val="25000"/>
                  </a:schemeClr>
                </a:solidFill>
              </a:defRPr>
            </a:lvl4pPr>
            <a:lvl5pPr>
              <a:lnSpc>
                <a:spcPct val="100000"/>
              </a:lnSpc>
              <a:defRPr lang="en-US" sz="14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p>
        </p:txBody>
      </p:sp>
      <p:sp>
        <p:nvSpPr>
          <p:cNvPr id="10" name="Footer Placeholder 4">
            <a:extLst>
              <a:ext uri="{FF2B5EF4-FFF2-40B4-BE49-F238E27FC236}">
                <a16:creationId xmlns:a16="http://schemas.microsoft.com/office/drawing/2014/main" id="{AB9CE1BE-CD51-BD42-A659-2F084EB57DE7}"/>
              </a:ext>
            </a:extLst>
          </p:cNvPr>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a:p>
        </p:txBody>
      </p:sp>
      <p:cxnSp>
        <p:nvCxnSpPr>
          <p:cNvPr id="12" name="Straight Connector 11">
            <a:extLst>
              <a:ext uri="{FF2B5EF4-FFF2-40B4-BE49-F238E27FC236}">
                <a16:creationId xmlns:a16="http://schemas.microsoft.com/office/drawing/2014/main" id="{06D362EF-E079-514F-814C-6085176CA7AD}"/>
              </a:ext>
            </a:extLst>
          </p:cNvPr>
          <p:cNvCxnSpPr>
            <a:cxnSpLocks/>
          </p:cNvCxnSpPr>
          <p:nvPr userDrawn="1"/>
        </p:nvCxnSpPr>
        <p:spPr>
          <a:xfrm>
            <a:off x="533400" y="1104900"/>
            <a:ext cx="11119104"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2AC75DAD-32BC-CC41-8DF4-9E68DB31CFAC}"/>
              </a:ext>
            </a:extLst>
          </p:cNvPr>
          <p:cNvSpPr>
            <a:spLocks noGrp="1"/>
          </p:cNvSpPr>
          <p:nvPr>
            <p:ph type="title"/>
          </p:nvPr>
        </p:nvSpPr>
        <p:spPr>
          <a:xfrm>
            <a:off x="1245378" y="430609"/>
            <a:ext cx="8346093" cy="640080"/>
          </a:xfrm>
          <a:prstGeom prst="rect">
            <a:avLst/>
          </a:prstGeom>
        </p:spPr>
        <p:txBody>
          <a:bodyPr>
            <a:normAutofit/>
          </a:bodyPr>
          <a:lstStyle>
            <a:lvl1pPr>
              <a:defRPr sz="2800"/>
            </a:lvl1pPr>
          </a:lstStyle>
          <a:p>
            <a:r>
              <a:rPr lang="en-US"/>
              <a:t>Click to edit Master title style</a:t>
            </a:r>
          </a:p>
        </p:txBody>
      </p:sp>
    </p:spTree>
    <p:extLst>
      <p:ext uri="{BB962C8B-B14F-4D97-AF65-F5344CB8AC3E}">
        <p14:creationId xmlns:p14="http://schemas.microsoft.com/office/powerpoint/2010/main" val="3759919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C88292-EDD4-552F-BE70-35BC6F745B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9E42A4-B053-21A3-7A69-28C568EF92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C3B3D3-F74E-795F-E80E-ECF888F36A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C9A707-A1A4-4450-9016-0227356DACF2}" type="datetimeFigureOut">
              <a:rPr lang="en-US" smtClean="0"/>
              <a:t>12/3/2025</a:t>
            </a:fld>
            <a:endParaRPr lang="en-US"/>
          </a:p>
        </p:txBody>
      </p:sp>
      <p:sp>
        <p:nvSpPr>
          <p:cNvPr id="5" name="Footer Placeholder 4">
            <a:extLst>
              <a:ext uri="{FF2B5EF4-FFF2-40B4-BE49-F238E27FC236}">
                <a16:creationId xmlns:a16="http://schemas.microsoft.com/office/drawing/2014/main" id="{6E89EECC-BBCA-F3F0-C3AA-91BE4A9E99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3DBAC4F-7EC0-D0B6-1258-1FBE1A59C2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5D7C84-92B3-4060-AFCB-D25D132FB111}" type="slidenum">
              <a:rPr lang="en-US" smtClean="0"/>
              <a:t>‹#›</a:t>
            </a:fld>
            <a:endParaRPr lang="en-US"/>
          </a:p>
        </p:txBody>
      </p:sp>
    </p:spTree>
    <p:extLst>
      <p:ext uri="{BB962C8B-B14F-4D97-AF65-F5344CB8AC3E}">
        <p14:creationId xmlns:p14="http://schemas.microsoft.com/office/powerpoint/2010/main" val="25401127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775583F-376C-40AE-9849-09070F0B5E51}"/>
              </a:ext>
            </a:extLst>
          </p:cNvPr>
          <p:cNvSpPr>
            <a:spLocks noGrp="1"/>
          </p:cNvSpPr>
          <p:nvPr>
            <p:ph type="title"/>
          </p:nvPr>
        </p:nvSpPr>
        <p:spPr>
          <a:xfrm>
            <a:off x="417010" y="2484470"/>
            <a:ext cx="6326690" cy="2130561"/>
          </a:xfrm>
        </p:spPr>
        <p:txBody>
          <a:bodyPr anchor="b">
            <a:normAutofit/>
          </a:bodyPr>
          <a:lstStyle/>
          <a:p>
            <a:r>
              <a:rPr lang="en-US" sz="3200" b="1" dirty="0">
                <a:solidFill>
                  <a:srgbClr val="002060"/>
                </a:solidFill>
                <a:ea typeface="+mj-lt"/>
                <a:cs typeface="+mj-lt"/>
              </a:rPr>
              <a:t>Neural Solvers for CFD: </a:t>
            </a:r>
            <a:br>
              <a:rPr lang="en-US" sz="3200" b="1" dirty="0">
                <a:solidFill>
                  <a:srgbClr val="002060"/>
                </a:solidFill>
                <a:ea typeface="+mj-lt"/>
                <a:cs typeface="+mj-lt"/>
              </a:rPr>
            </a:br>
            <a:r>
              <a:rPr lang="en-US" sz="3200" dirty="0">
                <a:solidFill>
                  <a:srgbClr val="002060"/>
                </a:solidFill>
                <a:ea typeface="+mj-lt"/>
                <a:cs typeface="+mj-lt"/>
              </a:rPr>
              <a:t>Introduction to Physics Informed Neural Networks (PINNs) and Neural Operators (PINOs)</a:t>
            </a:r>
            <a:endParaRPr lang="en-US" sz="3200" dirty="0">
              <a:ea typeface="+mj-lt"/>
              <a:cs typeface="+mj-lt"/>
            </a:endParaRPr>
          </a:p>
        </p:txBody>
      </p:sp>
      <p:sp>
        <p:nvSpPr>
          <p:cNvPr id="5" name="Subtitle 4">
            <a:extLst>
              <a:ext uri="{FF2B5EF4-FFF2-40B4-BE49-F238E27FC236}">
                <a16:creationId xmlns:a16="http://schemas.microsoft.com/office/drawing/2014/main" id="{7165814A-5271-4039-9F12-014787DA9EF7}"/>
              </a:ext>
            </a:extLst>
          </p:cNvPr>
          <p:cNvSpPr>
            <a:spLocks noGrp="1"/>
          </p:cNvSpPr>
          <p:nvPr>
            <p:ph type="subTitle" idx="4294967295"/>
          </p:nvPr>
        </p:nvSpPr>
        <p:spPr>
          <a:xfrm>
            <a:off x="426082" y="4755528"/>
            <a:ext cx="4938397" cy="1208087"/>
          </a:xfrm>
          <a:prstGeom prst="rect">
            <a:avLst/>
          </a:prstGeom>
        </p:spPr>
        <p:txBody>
          <a:bodyPr>
            <a:normAutofit/>
          </a:bodyPr>
          <a:lstStyle/>
          <a:p>
            <a:pPr marL="0" indent="0" algn="l">
              <a:lnSpc>
                <a:spcPct val="100000"/>
              </a:lnSpc>
              <a:buNone/>
            </a:pPr>
            <a:r>
              <a:rPr lang="en-US" sz="2000" dirty="0">
                <a:solidFill>
                  <a:schemeClr val="accent2"/>
                </a:solidFill>
                <a:latin typeface="Segoe UI" panose="020B0502040204020203" pitchFamily="34" charset="0"/>
                <a:cs typeface="Segoe UI" panose="020B0502040204020203" pitchFamily="34" charset="0"/>
              </a:rPr>
              <a:t>Gulzar Ali</a:t>
            </a:r>
          </a:p>
        </p:txBody>
      </p:sp>
      <p:grpSp>
        <p:nvGrpSpPr>
          <p:cNvPr id="2" name="Group 1" descr="circles connected by lines">
            <a:extLst>
              <a:ext uri="{FF2B5EF4-FFF2-40B4-BE49-F238E27FC236}">
                <a16:creationId xmlns:a16="http://schemas.microsoft.com/office/drawing/2014/main" id="{698A0E4F-CFB4-48D6-8D5D-D7F7DD3198A1}"/>
              </a:ext>
            </a:extLst>
          </p:cNvPr>
          <p:cNvGrpSpPr/>
          <p:nvPr/>
        </p:nvGrpSpPr>
        <p:grpSpPr>
          <a:xfrm>
            <a:off x="6867728" y="1031132"/>
            <a:ext cx="4046706" cy="4853637"/>
            <a:chOff x="6867728" y="1031132"/>
            <a:chExt cx="4046706" cy="4853637"/>
          </a:xfrm>
        </p:grpSpPr>
        <p:cxnSp>
          <p:nvCxnSpPr>
            <p:cNvPr id="8" name="Straight Connector 7" descr="straight line">
              <a:extLst>
                <a:ext uri="{FF2B5EF4-FFF2-40B4-BE49-F238E27FC236}">
                  <a16:creationId xmlns:a16="http://schemas.microsoft.com/office/drawing/2014/main" id="{C765D672-336B-734D-801A-36CBB0354E18}"/>
                </a:ext>
              </a:extLst>
            </p:cNvPr>
            <p:cNvCxnSpPr>
              <a:cxnSpLocks/>
            </p:cNvCxnSpPr>
            <p:nvPr/>
          </p:nvCxnSpPr>
          <p:spPr>
            <a:xfrm>
              <a:off x="7988238" y="2801566"/>
              <a:ext cx="1330860" cy="748184"/>
            </a:xfrm>
            <a:prstGeom prst="line">
              <a:avLst/>
            </a:prstGeom>
          </p:spPr>
          <p:style>
            <a:lnRef idx="3">
              <a:schemeClr val="dk1"/>
            </a:lnRef>
            <a:fillRef idx="0">
              <a:schemeClr val="dk1"/>
            </a:fillRef>
            <a:effectRef idx="2">
              <a:schemeClr val="dk1"/>
            </a:effectRef>
            <a:fontRef idx="minor">
              <a:schemeClr val="tx1"/>
            </a:fontRef>
          </p:style>
        </p:cxnSp>
        <p:cxnSp>
          <p:nvCxnSpPr>
            <p:cNvPr id="17" name="Straight Connector 16" descr="straight line">
              <a:extLst>
                <a:ext uri="{FF2B5EF4-FFF2-40B4-BE49-F238E27FC236}">
                  <a16:creationId xmlns:a16="http://schemas.microsoft.com/office/drawing/2014/main" id="{89008531-943E-8C42-82ED-72460A2D10A4}"/>
                </a:ext>
              </a:extLst>
            </p:cNvPr>
            <p:cNvCxnSpPr>
              <a:cxnSpLocks/>
            </p:cNvCxnSpPr>
            <p:nvPr/>
          </p:nvCxnSpPr>
          <p:spPr>
            <a:xfrm>
              <a:off x="9708204" y="1960547"/>
              <a:ext cx="214008" cy="1055027"/>
            </a:xfrm>
            <a:prstGeom prst="line">
              <a:avLst/>
            </a:prstGeom>
          </p:spPr>
          <p:style>
            <a:lnRef idx="3">
              <a:schemeClr val="dk1"/>
            </a:lnRef>
            <a:fillRef idx="0">
              <a:schemeClr val="dk1"/>
            </a:fillRef>
            <a:effectRef idx="2">
              <a:schemeClr val="dk1"/>
            </a:effectRef>
            <a:fontRef idx="minor">
              <a:schemeClr val="tx1"/>
            </a:fontRef>
          </p:style>
        </p:cxnSp>
        <p:sp>
          <p:nvSpPr>
            <p:cNvPr id="6" name="Oval 5" descr="oval shape">
              <a:extLst>
                <a:ext uri="{FF2B5EF4-FFF2-40B4-BE49-F238E27FC236}">
                  <a16:creationId xmlns:a16="http://schemas.microsoft.com/office/drawing/2014/main" id="{9A66A37A-7FB5-194C-B2F8-BB77745D65B0}"/>
                </a:ext>
              </a:extLst>
            </p:cNvPr>
            <p:cNvSpPr/>
            <p:nvPr/>
          </p:nvSpPr>
          <p:spPr>
            <a:xfrm>
              <a:off x="6867728" y="1887166"/>
              <a:ext cx="1303506" cy="13035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descr="oval shape">
              <a:extLst>
                <a:ext uri="{FF2B5EF4-FFF2-40B4-BE49-F238E27FC236}">
                  <a16:creationId xmlns:a16="http://schemas.microsoft.com/office/drawing/2014/main" id="{9B093669-6BD2-2541-BF99-500AC2759CD6}"/>
                </a:ext>
              </a:extLst>
            </p:cNvPr>
            <p:cNvSpPr/>
            <p:nvPr/>
          </p:nvSpPr>
          <p:spPr>
            <a:xfrm>
              <a:off x="9144000" y="1031132"/>
              <a:ext cx="1031132" cy="103113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descr="oval shape">
              <a:extLst>
                <a:ext uri="{FF2B5EF4-FFF2-40B4-BE49-F238E27FC236}">
                  <a16:creationId xmlns:a16="http://schemas.microsoft.com/office/drawing/2014/main" id="{EEB60046-7AC0-4C4A-9CA7-4DE66AF0F9E2}"/>
                </a:ext>
              </a:extLst>
            </p:cNvPr>
            <p:cNvSpPr/>
            <p:nvPr/>
          </p:nvSpPr>
          <p:spPr>
            <a:xfrm>
              <a:off x="8598544" y="5000016"/>
              <a:ext cx="884753" cy="88475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descr="straight line">
              <a:extLst>
                <a:ext uri="{FF2B5EF4-FFF2-40B4-BE49-F238E27FC236}">
                  <a16:creationId xmlns:a16="http://schemas.microsoft.com/office/drawing/2014/main" id="{DC6AFA79-D8E3-E745-9969-5BF09667F3B4}"/>
                </a:ext>
              </a:extLst>
            </p:cNvPr>
            <p:cNvCxnSpPr>
              <a:cxnSpLocks/>
              <a:endCxn id="9" idx="7"/>
            </p:cNvCxnSpPr>
            <p:nvPr/>
          </p:nvCxnSpPr>
          <p:spPr>
            <a:xfrm flipH="1">
              <a:off x="9353728" y="4465840"/>
              <a:ext cx="501713" cy="663745"/>
            </a:xfrm>
            <a:prstGeom prst="line">
              <a:avLst/>
            </a:prstGeom>
          </p:spPr>
          <p:style>
            <a:lnRef idx="3">
              <a:schemeClr val="dk1"/>
            </a:lnRef>
            <a:fillRef idx="0">
              <a:schemeClr val="dk1"/>
            </a:fillRef>
            <a:effectRef idx="2">
              <a:schemeClr val="dk1"/>
            </a:effectRef>
            <a:fontRef idx="minor">
              <a:schemeClr val="tx1"/>
            </a:fontRef>
          </p:style>
        </p:cxnSp>
        <p:sp>
          <p:nvSpPr>
            <p:cNvPr id="11" name="Oval 10" descr="oval shape">
              <a:extLst>
                <a:ext uri="{FF2B5EF4-FFF2-40B4-BE49-F238E27FC236}">
                  <a16:creationId xmlns:a16="http://schemas.microsoft.com/office/drawing/2014/main" id="{398897D7-2466-E540-8D23-AD7AEA562812}"/>
                </a:ext>
              </a:extLst>
            </p:cNvPr>
            <p:cNvSpPr/>
            <p:nvPr/>
          </p:nvSpPr>
          <p:spPr>
            <a:xfrm>
              <a:off x="9144000" y="3015574"/>
              <a:ext cx="1770434" cy="1770434"/>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38590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5B919-ED5D-C91F-92C1-CB352A3F8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3E630F-C281-AFF1-6B43-8D001CF9606F}"/>
              </a:ext>
            </a:extLst>
          </p:cNvPr>
          <p:cNvSpPr>
            <a:spLocks noGrp="1"/>
          </p:cNvSpPr>
          <p:nvPr>
            <p:ph type="title"/>
          </p:nvPr>
        </p:nvSpPr>
        <p:spPr>
          <a:xfrm>
            <a:off x="444500" y="412137"/>
            <a:ext cx="9146972" cy="640080"/>
          </a:xfrm>
        </p:spPr>
        <p:txBody>
          <a:bodyPr>
            <a:normAutofit/>
          </a:bodyPr>
          <a:lstStyle/>
          <a:p>
            <a:r>
              <a:rPr lang="en-US" sz="4000" b="1">
                <a:solidFill>
                  <a:srgbClr val="002060"/>
                </a:solidFill>
                <a:latin typeface="Segoe UI Semibold" panose="020B0502040204020203" pitchFamily="34" charset="0"/>
                <a:cs typeface="Segoe UI Semibold" panose="020B0502040204020203" pitchFamily="34" charset="0"/>
              </a:rPr>
              <a:t>Introduction</a:t>
            </a:r>
          </a:p>
        </p:txBody>
      </p:sp>
      <p:sp>
        <p:nvSpPr>
          <p:cNvPr id="6" name="TextBox 5">
            <a:extLst>
              <a:ext uri="{FF2B5EF4-FFF2-40B4-BE49-F238E27FC236}">
                <a16:creationId xmlns:a16="http://schemas.microsoft.com/office/drawing/2014/main" id="{CA32707B-B578-9137-AF00-32194A05A5D7}"/>
              </a:ext>
            </a:extLst>
          </p:cNvPr>
          <p:cNvSpPr txBox="1"/>
          <p:nvPr/>
        </p:nvSpPr>
        <p:spPr>
          <a:xfrm>
            <a:off x="440858" y="1184876"/>
            <a:ext cx="667555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rgbClr val="002060"/>
                </a:solidFill>
                <a:latin typeface="Aptos"/>
                <a:cs typeface="Segoe UI"/>
              </a:rPr>
              <a:t>Simulation Bottleneck </a:t>
            </a:r>
            <a:r>
              <a:rPr lang="en-US" sz="2000" dirty="0">
                <a:solidFill>
                  <a:srgbClr val="002060"/>
                </a:solidFill>
                <a:latin typeface="Aptos"/>
                <a:cs typeface="Segoe UI"/>
              </a:rPr>
              <a:t>  </a:t>
            </a:r>
            <a:r>
              <a:rPr lang="en-US" sz="2000" dirty="0">
                <a:latin typeface="Aptos"/>
                <a:cs typeface="Segoe UI"/>
              </a:rPr>
              <a:t>​</a:t>
            </a:r>
            <a:endParaRPr lang="en-US" dirty="0">
              <a:latin typeface="Aptos"/>
            </a:endParaRPr>
          </a:p>
        </p:txBody>
      </p:sp>
      <p:sp>
        <p:nvSpPr>
          <p:cNvPr id="5" name="Rectangle: Rounded Corners 4">
            <a:extLst>
              <a:ext uri="{FF2B5EF4-FFF2-40B4-BE49-F238E27FC236}">
                <a16:creationId xmlns:a16="http://schemas.microsoft.com/office/drawing/2014/main" id="{5B42F197-3176-8D9A-B82C-A9C67974FAE4}"/>
              </a:ext>
            </a:extLst>
          </p:cNvPr>
          <p:cNvSpPr/>
          <p:nvPr/>
        </p:nvSpPr>
        <p:spPr>
          <a:xfrm>
            <a:off x="6804991" y="2912165"/>
            <a:ext cx="4297018" cy="243508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Deep Learning offers a paradigm shift: approximating complex physical functions directly. The challenge has historically been ensuring these approximations respect the immutable laws of physics</a:t>
            </a:r>
            <a:endParaRPr lang="en-PK" dirty="0"/>
          </a:p>
        </p:txBody>
      </p:sp>
      <p:sp>
        <p:nvSpPr>
          <p:cNvPr id="7" name="Rectangle: Rounded Corners 6">
            <a:extLst>
              <a:ext uri="{FF2B5EF4-FFF2-40B4-BE49-F238E27FC236}">
                <a16:creationId xmlns:a16="http://schemas.microsoft.com/office/drawing/2014/main" id="{AF25C9B9-9EEF-8FEE-A31F-8FE2FDB940E0}"/>
              </a:ext>
            </a:extLst>
          </p:cNvPr>
          <p:cNvSpPr/>
          <p:nvPr/>
        </p:nvSpPr>
        <p:spPr>
          <a:xfrm>
            <a:off x="1089991" y="2912164"/>
            <a:ext cx="4297018" cy="243508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Numerical methods like Finite Element Analysis are the gold standard for accuracy. However, they rely on dense meshes and solving massive linear systems, making them computationally prohibitive for real-time applications or complex design optimization.</a:t>
            </a:r>
            <a:endParaRPr lang="en-PK" dirty="0"/>
          </a:p>
        </p:txBody>
      </p:sp>
      <p:sp>
        <p:nvSpPr>
          <p:cNvPr id="8" name="TextBox 7">
            <a:extLst>
              <a:ext uri="{FF2B5EF4-FFF2-40B4-BE49-F238E27FC236}">
                <a16:creationId xmlns:a16="http://schemas.microsoft.com/office/drawing/2014/main" id="{B45F8EC5-7049-DFFB-E454-10D12B09A367}"/>
              </a:ext>
            </a:extLst>
          </p:cNvPr>
          <p:cNvSpPr txBox="1"/>
          <p:nvPr/>
        </p:nvSpPr>
        <p:spPr>
          <a:xfrm>
            <a:off x="1719692" y="2466537"/>
            <a:ext cx="411789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D24726"/>
                </a:solidFill>
                <a:latin typeface="Aptos"/>
                <a:cs typeface="Segoe UI"/>
              </a:rPr>
              <a:t>Classical Solvers (FEM/FED)</a:t>
            </a:r>
            <a:endParaRPr lang="en-US" dirty="0">
              <a:solidFill>
                <a:srgbClr val="D24726"/>
              </a:solidFill>
              <a:latin typeface="Aptos"/>
            </a:endParaRPr>
          </a:p>
        </p:txBody>
      </p:sp>
      <p:sp>
        <p:nvSpPr>
          <p:cNvPr id="9" name="TextBox 8">
            <a:extLst>
              <a:ext uri="{FF2B5EF4-FFF2-40B4-BE49-F238E27FC236}">
                <a16:creationId xmlns:a16="http://schemas.microsoft.com/office/drawing/2014/main" id="{0727BC65-32D1-0160-7370-07A5EC7DBA1B}"/>
              </a:ext>
            </a:extLst>
          </p:cNvPr>
          <p:cNvSpPr txBox="1"/>
          <p:nvPr/>
        </p:nvSpPr>
        <p:spPr>
          <a:xfrm>
            <a:off x="8239763" y="2466537"/>
            <a:ext cx="411789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D24726"/>
                </a:solidFill>
                <a:latin typeface="Aptos"/>
                <a:cs typeface="Segoe UI"/>
              </a:rPr>
              <a:t>AI Opportunity</a:t>
            </a:r>
            <a:endParaRPr lang="en-US" dirty="0">
              <a:solidFill>
                <a:srgbClr val="D24726"/>
              </a:solidFill>
              <a:latin typeface="Aptos"/>
            </a:endParaRPr>
          </a:p>
        </p:txBody>
      </p:sp>
    </p:spTree>
    <p:extLst>
      <p:ext uri="{BB962C8B-B14F-4D97-AF65-F5344CB8AC3E}">
        <p14:creationId xmlns:p14="http://schemas.microsoft.com/office/powerpoint/2010/main" val="2043235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2F441-0D86-5097-59BC-11E31FD31A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F314C9-751D-69AB-E4E0-3DF11326EFE6}"/>
              </a:ext>
            </a:extLst>
          </p:cNvPr>
          <p:cNvSpPr>
            <a:spLocks noGrp="1"/>
          </p:cNvSpPr>
          <p:nvPr>
            <p:ph type="title"/>
          </p:nvPr>
        </p:nvSpPr>
        <p:spPr>
          <a:xfrm>
            <a:off x="444500" y="412137"/>
            <a:ext cx="9146972" cy="640080"/>
          </a:xfrm>
        </p:spPr>
        <p:txBody>
          <a:bodyPr>
            <a:normAutofit/>
          </a:bodyPr>
          <a:lstStyle/>
          <a:p>
            <a:r>
              <a:rPr lang="en-US" sz="4000" b="1">
                <a:solidFill>
                  <a:srgbClr val="002060"/>
                </a:solidFill>
                <a:latin typeface="Segoe UI Semibold" panose="020B0502040204020203" pitchFamily="34" charset="0"/>
                <a:cs typeface="Segoe UI Semibold" panose="020B0502040204020203" pitchFamily="34" charset="0"/>
              </a:rPr>
              <a:t>Introduction</a:t>
            </a:r>
          </a:p>
        </p:txBody>
      </p:sp>
      <p:sp>
        <p:nvSpPr>
          <p:cNvPr id="6" name="TextBox 5">
            <a:extLst>
              <a:ext uri="{FF2B5EF4-FFF2-40B4-BE49-F238E27FC236}">
                <a16:creationId xmlns:a16="http://schemas.microsoft.com/office/drawing/2014/main" id="{8A44B88E-F119-30CF-7252-FC212D7C8CDE}"/>
              </a:ext>
            </a:extLst>
          </p:cNvPr>
          <p:cNvSpPr txBox="1"/>
          <p:nvPr/>
        </p:nvSpPr>
        <p:spPr>
          <a:xfrm>
            <a:off x="440858" y="1184876"/>
            <a:ext cx="6675559" cy="46217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rgbClr val="002060"/>
                </a:solidFill>
                <a:latin typeface="Aptos"/>
                <a:cs typeface="Segoe UI"/>
              </a:rPr>
              <a:t>What is PINNs ? </a:t>
            </a:r>
            <a:r>
              <a:rPr lang="en-US" sz="2000" dirty="0">
                <a:solidFill>
                  <a:srgbClr val="002060"/>
                </a:solidFill>
                <a:latin typeface="Aptos"/>
                <a:cs typeface="Segoe UI"/>
              </a:rPr>
              <a:t>  </a:t>
            </a:r>
            <a:r>
              <a:rPr lang="en-US" sz="2000" dirty="0">
                <a:latin typeface="Aptos"/>
                <a:cs typeface="Segoe UI"/>
              </a:rPr>
              <a:t>​</a:t>
            </a:r>
            <a:endParaRPr lang="en-US" dirty="0">
              <a:latin typeface="Aptos"/>
            </a:endParaRPr>
          </a:p>
          <a:p>
            <a:endParaRPr lang="en-US" sz="2000" dirty="0">
              <a:solidFill>
                <a:srgbClr val="002060"/>
              </a:solidFill>
              <a:latin typeface="Aptos"/>
              <a:cs typeface="Segoe UI"/>
            </a:endParaRPr>
          </a:p>
          <a:p>
            <a:r>
              <a:rPr lang="en-US" dirty="0">
                <a:solidFill>
                  <a:srgbClr val="002060"/>
                </a:solidFill>
                <a:latin typeface="Aptos"/>
                <a:cs typeface="Segoe UI"/>
              </a:rPr>
              <a:t>N</a:t>
            </a:r>
            <a:r>
              <a:rPr lang="en-US" dirty="0">
                <a:solidFill>
                  <a:srgbClr val="002060"/>
                </a:solidFill>
                <a:cs typeface="Segoe UI"/>
              </a:rPr>
              <a:t>eural networks that incorporates physical laws by describing PDEs into the learning process.</a:t>
            </a:r>
          </a:p>
          <a:p>
            <a:endParaRPr lang="en-US" dirty="0">
              <a:cs typeface="Segoe UI"/>
            </a:endParaRPr>
          </a:p>
          <a:p>
            <a:pPr marL="685800" lvl="2" indent="-228600">
              <a:buFont typeface="Courier New,monospace"/>
              <a:buChar char="o"/>
            </a:pPr>
            <a:r>
              <a:rPr lang="en-US" dirty="0">
                <a:solidFill>
                  <a:srgbClr val="002060"/>
                </a:solidFill>
                <a:cs typeface="Arial"/>
              </a:rPr>
              <a:t>Ensures that the prediction </a:t>
            </a:r>
            <a:r>
              <a:rPr lang="en-US" dirty="0" err="1">
                <a:solidFill>
                  <a:srgbClr val="002060"/>
                </a:solidFill>
                <a:cs typeface="Arial"/>
              </a:rPr>
              <a:t>obey’s</a:t>
            </a:r>
            <a:r>
              <a:rPr lang="en-US" dirty="0">
                <a:solidFill>
                  <a:srgbClr val="002060"/>
                </a:solidFill>
                <a:cs typeface="Arial"/>
              </a:rPr>
              <a:t> physics laws</a:t>
            </a:r>
          </a:p>
          <a:p>
            <a:pPr marL="685800" lvl="2" indent="-228600">
              <a:buFont typeface="Courier New,monospace"/>
              <a:buChar char="o"/>
            </a:pPr>
            <a:r>
              <a:rPr lang="en-US" dirty="0">
                <a:solidFill>
                  <a:srgbClr val="002060"/>
                </a:solidFill>
                <a:cs typeface="Arial"/>
              </a:rPr>
              <a:t>Removes uncertainty of false or unrealistic predictions</a:t>
            </a:r>
          </a:p>
          <a:p>
            <a:pPr marL="457200" lvl="2"/>
            <a:endParaRPr lang="en-US" dirty="0">
              <a:solidFill>
                <a:srgbClr val="002060"/>
              </a:solidFill>
            </a:endParaRPr>
          </a:p>
          <a:p>
            <a:pPr marL="0" lvl="1"/>
            <a:r>
              <a:rPr lang="en-US" sz="3200" dirty="0">
                <a:solidFill>
                  <a:srgbClr val="D24726"/>
                </a:solidFill>
              </a:rPr>
              <a:t>Universal Approximation Theorem</a:t>
            </a:r>
          </a:p>
          <a:p>
            <a:pPr marL="0" lvl="1"/>
            <a:r>
              <a:rPr lang="en-US" sz="2000" dirty="0">
                <a:solidFill>
                  <a:srgbClr val="002060"/>
                </a:solidFill>
                <a:cs typeface="Arial"/>
              </a:rPr>
              <a:t>T</a:t>
            </a:r>
            <a:r>
              <a:rPr lang="en-US" dirty="0">
                <a:solidFill>
                  <a:srgbClr val="002060"/>
                </a:solidFill>
                <a:cs typeface="Arial"/>
              </a:rPr>
              <a:t>he Universal Approximation Theorem states that a feedforward neural network with at least one hidden layer can approximate any continuous function to any desired degree of accuracy, given sufficient neurons.</a:t>
            </a:r>
            <a:endParaRPr lang="en-US" dirty="0"/>
          </a:p>
          <a:p>
            <a:pPr marL="228600" indent="-228600">
              <a:spcBef>
                <a:spcPts val="1000"/>
              </a:spcBef>
            </a:pPr>
            <a:endParaRPr lang="en-US" sz="2000" dirty="0">
              <a:solidFill>
                <a:srgbClr val="002060"/>
              </a:solidFill>
              <a:cs typeface="Arial"/>
            </a:endParaRPr>
          </a:p>
        </p:txBody>
      </p:sp>
      <p:sp>
        <p:nvSpPr>
          <p:cNvPr id="3" name="Rectangle: Rounded Corners 2">
            <a:extLst>
              <a:ext uri="{FF2B5EF4-FFF2-40B4-BE49-F238E27FC236}">
                <a16:creationId xmlns:a16="http://schemas.microsoft.com/office/drawing/2014/main" id="{E44202C4-39A8-7C6D-856A-2DD55910F21C}"/>
              </a:ext>
            </a:extLst>
          </p:cNvPr>
          <p:cNvSpPr/>
          <p:nvPr/>
        </p:nvSpPr>
        <p:spPr>
          <a:xfrm>
            <a:off x="8130209" y="2683565"/>
            <a:ext cx="3180522" cy="2017644"/>
          </a:xfrm>
          <a:prstGeom prst="roundRect">
            <a:avLst/>
          </a:prstGeom>
          <a:solidFill>
            <a:schemeClr val="accent2"/>
          </a:solidFill>
          <a:ln>
            <a:solidFill>
              <a:srgbClr val="D2472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PINN acts as a function approximator. It takes spatial and temporal coordinates (x, t) as input and outputs the physical quantity (u).</a:t>
            </a:r>
            <a:endParaRPr lang="en-PK"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B3885DD-A375-189C-949A-25229807C2AE}"/>
                  </a:ext>
                </a:extLst>
              </p:cNvPr>
              <p:cNvSpPr txBox="1"/>
              <p:nvPr/>
            </p:nvSpPr>
            <p:spPr>
              <a:xfrm>
                <a:off x="2326640" y="5612172"/>
                <a:ext cx="2510174" cy="3271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i="1">
                          <a:latin typeface="Cambria Math" panose="02040503050406030204" pitchFamily="18" charset="0"/>
                        </a:rPr>
                        <m:t>∈</m:t>
                      </m:r>
                      <m:r>
                        <m:rPr>
                          <m:sty m:val="p"/>
                        </m:rPr>
                        <a:rPr lang="en-US" i="0">
                          <a:latin typeface="Cambria Math" panose="02040503050406030204" pitchFamily="18" charset="0"/>
                        </a:rPr>
                        <m:t>Θ</m:t>
                      </m:r>
                      <m:r>
                        <a:rPr lang="en-US" i="1">
                          <a:latin typeface="Cambria Math" panose="02040503050406030204" pitchFamily="18" charset="0"/>
                        </a:rPr>
                        <m:t>, </m:t>
                      </m:r>
                      <m:r>
                        <m:rPr>
                          <m:lit/>
                        </m:rPr>
                        <a:rPr lang="en-US" i="1">
                          <a:latin typeface="Cambria Math" panose="02040503050406030204" pitchFamily="18" charset="0"/>
                        </a:rPr>
                        <m:t>|</m:t>
                      </m:r>
                      <m:r>
                        <a:rPr lang="en-US" i="1">
                          <a:latin typeface="Cambria Math" panose="02040503050406030204" pitchFamily="18" charset="0"/>
                        </a:rPr>
                        <m:t>𝐮</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𝐮</m:t>
                          </m:r>
                        </m:e>
                        <m:sub>
                          <m:acc>
                            <m:accPr>
                              <m:chr m:val="̂"/>
                              <m:ctrlPr>
                                <a:rPr lang="en-US" i="1">
                                  <a:latin typeface="Cambria Math" panose="02040503050406030204" pitchFamily="18" charset="0"/>
                                </a:rPr>
                              </m:ctrlPr>
                            </m:accPr>
                            <m:e>
                              <m:r>
                                <a:rPr lang="en-US" i="1">
                                  <a:latin typeface="Cambria Math" panose="02040503050406030204" pitchFamily="18" charset="0"/>
                                </a:rPr>
                                <m:t>𝜃</m:t>
                              </m:r>
                            </m:e>
                          </m:acc>
                        </m:sub>
                      </m:sSub>
                      <m:sSub>
                        <m:sSubPr>
                          <m:ctrlPr>
                            <a:rPr lang="en-US" i="1">
                              <a:latin typeface="Cambria Math" panose="02040503050406030204" pitchFamily="18" charset="0"/>
                            </a:rPr>
                          </m:ctrlPr>
                        </m:sSubPr>
                        <m:e>
                          <m:r>
                            <m:rPr>
                              <m:lit/>
                            </m:rPr>
                            <a:rPr lang="en-US" i="1">
                              <a:latin typeface="Cambria Math" panose="02040503050406030204" pitchFamily="18" charset="0"/>
                            </a:rPr>
                            <m:t>|</m:t>
                          </m:r>
                        </m:e>
                        <m:sub>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𝑝</m:t>
                              </m:r>
                            </m:sup>
                          </m:sSup>
                        </m:sub>
                      </m:sSub>
                      <m:r>
                        <a:rPr lang="en-US" i="1">
                          <a:latin typeface="Cambria Math" panose="02040503050406030204" pitchFamily="18" charset="0"/>
                        </a:rPr>
                        <m:t>&lt;</m:t>
                      </m:r>
                      <m:r>
                        <a:rPr lang="en-US" i="1">
                          <a:latin typeface="Cambria Math" panose="02040503050406030204" pitchFamily="18" charset="0"/>
                        </a:rPr>
                        <m:t>𝜖</m:t>
                      </m:r>
                    </m:oMath>
                  </m:oMathPara>
                </a14:m>
                <a:endParaRPr lang="en-PK" dirty="0"/>
              </a:p>
            </p:txBody>
          </p:sp>
        </mc:Choice>
        <mc:Fallback xmlns="">
          <p:sp>
            <p:nvSpPr>
              <p:cNvPr id="8" name="TextBox 7">
                <a:extLst>
                  <a:ext uri="{FF2B5EF4-FFF2-40B4-BE49-F238E27FC236}">
                    <a16:creationId xmlns:a16="http://schemas.microsoft.com/office/drawing/2014/main" id="{9B3885DD-A375-189C-949A-25229807C2AE}"/>
                  </a:ext>
                </a:extLst>
              </p:cNvPr>
              <p:cNvSpPr txBox="1">
                <a:spLocks noRot="1" noChangeAspect="1" noMove="1" noResize="1" noEditPoints="1" noAdjustHandles="1" noChangeArrowheads="1" noChangeShapeType="1" noTextEdit="1"/>
              </p:cNvSpPr>
              <p:nvPr/>
            </p:nvSpPr>
            <p:spPr>
              <a:xfrm>
                <a:off x="2326640" y="5612172"/>
                <a:ext cx="2510174" cy="327141"/>
              </a:xfrm>
              <a:prstGeom prst="rect">
                <a:avLst/>
              </a:prstGeom>
              <a:blipFill>
                <a:blip r:embed="rId2"/>
                <a:stretch>
                  <a:fillRect l="-1703" t="-15094" r="-973" b="-37736"/>
                </a:stretch>
              </a:blipFill>
            </p:spPr>
            <p:txBody>
              <a:bodyPr/>
              <a:lstStyle/>
              <a:p>
                <a:r>
                  <a:rPr lang="en-PK">
                    <a:noFill/>
                  </a:rPr>
                  <a:t> </a:t>
                </a:r>
              </a:p>
            </p:txBody>
          </p:sp>
        </mc:Fallback>
      </mc:AlternateContent>
    </p:spTree>
    <p:extLst>
      <p:ext uri="{BB962C8B-B14F-4D97-AF65-F5344CB8AC3E}">
        <p14:creationId xmlns:p14="http://schemas.microsoft.com/office/powerpoint/2010/main" val="2447288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4159E-82AA-EBFF-1BE0-601F22CA3B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01AC2E-69B2-BD20-A8F4-73B45F5C1220}"/>
              </a:ext>
            </a:extLst>
          </p:cNvPr>
          <p:cNvSpPr>
            <a:spLocks noGrp="1"/>
          </p:cNvSpPr>
          <p:nvPr>
            <p:ph type="title"/>
          </p:nvPr>
        </p:nvSpPr>
        <p:spPr>
          <a:xfrm>
            <a:off x="444500" y="412137"/>
            <a:ext cx="9146972" cy="640080"/>
          </a:xfrm>
        </p:spPr>
        <p:txBody>
          <a:bodyPr>
            <a:normAutofit/>
          </a:bodyPr>
          <a:lstStyle/>
          <a:p>
            <a:r>
              <a:rPr lang="en-US" sz="4000" b="1">
                <a:solidFill>
                  <a:srgbClr val="002060"/>
                </a:solidFill>
                <a:latin typeface="Segoe UI Semibold" panose="020B0502040204020203" pitchFamily="34" charset="0"/>
                <a:cs typeface="Segoe UI Semibold" panose="020B0502040204020203" pitchFamily="34" charset="0"/>
              </a:rPr>
              <a:t>Introduction</a:t>
            </a:r>
          </a:p>
        </p:txBody>
      </p:sp>
      <p:sp>
        <p:nvSpPr>
          <p:cNvPr id="3" name="TextBox 2">
            <a:extLst>
              <a:ext uri="{FF2B5EF4-FFF2-40B4-BE49-F238E27FC236}">
                <a16:creationId xmlns:a16="http://schemas.microsoft.com/office/drawing/2014/main" id="{A25F8095-4D88-429A-63AA-85B81D358C08}"/>
              </a:ext>
            </a:extLst>
          </p:cNvPr>
          <p:cNvSpPr txBox="1"/>
          <p:nvPr/>
        </p:nvSpPr>
        <p:spPr>
          <a:xfrm>
            <a:off x="442654" y="1340916"/>
            <a:ext cx="11357406"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200" dirty="0">
                <a:solidFill>
                  <a:srgbClr val="002060"/>
                </a:solidFill>
                <a:cs typeface="Arial"/>
              </a:rPr>
              <a:t>How it Works ?</a:t>
            </a:r>
          </a:p>
          <a:p>
            <a:endParaRPr lang="en-GB" sz="3200" dirty="0">
              <a:solidFill>
                <a:srgbClr val="002060"/>
              </a:solidFill>
              <a:cs typeface="Arial"/>
            </a:endParaRPr>
          </a:p>
        </p:txBody>
      </p:sp>
      <p:pic>
        <p:nvPicPr>
          <p:cNvPr id="5" name="Picture 4" descr="A diagram of a network&#10;&#10;AI-generated content may be incorrect.">
            <a:extLst>
              <a:ext uri="{FF2B5EF4-FFF2-40B4-BE49-F238E27FC236}">
                <a16:creationId xmlns:a16="http://schemas.microsoft.com/office/drawing/2014/main" id="{8DEBBD85-E782-D33F-8A62-734C82059CE8}"/>
              </a:ext>
            </a:extLst>
          </p:cNvPr>
          <p:cNvPicPr>
            <a:picLocks noChangeAspect="1"/>
          </p:cNvPicPr>
          <p:nvPr/>
        </p:nvPicPr>
        <p:blipFill>
          <a:blip r:embed="rId3"/>
          <a:stretch>
            <a:fillRect/>
          </a:stretch>
        </p:blipFill>
        <p:spPr>
          <a:xfrm>
            <a:off x="758415" y="2418134"/>
            <a:ext cx="6933385" cy="2810251"/>
          </a:xfrm>
          <a:prstGeom prst="rect">
            <a:avLst/>
          </a:prstGeom>
        </p:spPr>
      </p:pic>
      <p:sp>
        <p:nvSpPr>
          <p:cNvPr id="4" name="Rectangle: Rounded Corners 3">
            <a:extLst>
              <a:ext uri="{FF2B5EF4-FFF2-40B4-BE49-F238E27FC236}">
                <a16:creationId xmlns:a16="http://schemas.microsoft.com/office/drawing/2014/main" id="{DD1EC823-97A8-B011-D869-A579D5D8474B}"/>
              </a:ext>
            </a:extLst>
          </p:cNvPr>
          <p:cNvSpPr/>
          <p:nvPr/>
        </p:nvSpPr>
        <p:spPr>
          <a:xfrm>
            <a:off x="8120882" y="3797007"/>
            <a:ext cx="3180522" cy="25642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Automatic differentiation calculates the derivatives of the output, allowing us to compute the residual of the Partial Differential Equation (PDE) directly in the loss function.</a:t>
            </a:r>
            <a:endParaRPr lang="en-PK" dirty="0"/>
          </a:p>
        </p:txBody>
      </p:sp>
      <p:sp>
        <p:nvSpPr>
          <p:cNvPr id="6" name="Rectangle: Rounded Corners 5">
            <a:extLst>
              <a:ext uri="{FF2B5EF4-FFF2-40B4-BE49-F238E27FC236}">
                <a16:creationId xmlns:a16="http://schemas.microsoft.com/office/drawing/2014/main" id="{51B11094-E66B-C569-D49F-584AEA6BDA2C}"/>
              </a:ext>
            </a:extLst>
          </p:cNvPr>
          <p:cNvSpPr/>
          <p:nvPr/>
        </p:nvSpPr>
        <p:spPr>
          <a:xfrm>
            <a:off x="8120882" y="1448520"/>
            <a:ext cx="3180522" cy="2017644"/>
          </a:xfrm>
          <a:prstGeom prst="roundRect">
            <a:avLst/>
          </a:prstGeom>
          <a:solidFill>
            <a:schemeClr val="accent2"/>
          </a:solidFill>
          <a:ln>
            <a:solidFill>
              <a:srgbClr val="D2472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PINN acts as a function approximator. It takes spatial and temporal coordinates (x, t) as input and outputs the physical quantity (u).</a:t>
            </a:r>
            <a:endParaRPr lang="en-PK" dirty="0"/>
          </a:p>
        </p:txBody>
      </p:sp>
    </p:spTree>
    <p:extLst>
      <p:ext uri="{BB962C8B-B14F-4D97-AF65-F5344CB8AC3E}">
        <p14:creationId xmlns:p14="http://schemas.microsoft.com/office/powerpoint/2010/main" val="2765352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6DCA2-AB16-C31C-D37D-5C02E016D9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809FC7-4752-1D91-F7E3-04D1A2570B95}"/>
              </a:ext>
            </a:extLst>
          </p:cNvPr>
          <p:cNvSpPr>
            <a:spLocks noGrp="1"/>
          </p:cNvSpPr>
          <p:nvPr>
            <p:ph type="title"/>
          </p:nvPr>
        </p:nvSpPr>
        <p:spPr>
          <a:xfrm>
            <a:off x="444500" y="412137"/>
            <a:ext cx="9146972" cy="640080"/>
          </a:xfrm>
        </p:spPr>
        <p:txBody>
          <a:bodyPr>
            <a:normAutofit/>
          </a:bodyPr>
          <a:lstStyle/>
          <a:p>
            <a:r>
              <a:rPr lang="en-US" sz="4000" b="1" dirty="0">
                <a:solidFill>
                  <a:srgbClr val="002060"/>
                </a:solidFill>
                <a:latin typeface="Segoe UI Semibold" panose="020B0502040204020203" pitchFamily="34" charset="0"/>
                <a:cs typeface="Segoe UI Semibold" panose="020B0502040204020203" pitchFamily="34" charset="0"/>
              </a:rPr>
              <a:t>Introduction</a:t>
            </a:r>
          </a:p>
        </p:txBody>
      </p:sp>
      <p:sp>
        <p:nvSpPr>
          <p:cNvPr id="7" name="TextBox 6">
            <a:extLst>
              <a:ext uri="{FF2B5EF4-FFF2-40B4-BE49-F238E27FC236}">
                <a16:creationId xmlns:a16="http://schemas.microsoft.com/office/drawing/2014/main" id="{458D393F-7300-6DEF-E328-FD5284442AA8}"/>
              </a:ext>
            </a:extLst>
          </p:cNvPr>
          <p:cNvSpPr txBox="1"/>
          <p:nvPr/>
        </p:nvSpPr>
        <p:spPr>
          <a:xfrm>
            <a:off x="442654" y="1974520"/>
            <a:ext cx="10955682" cy="646331"/>
          </a:xfrm>
          <a:prstGeom prst="rect">
            <a:avLst/>
          </a:prstGeom>
          <a:noFill/>
        </p:spPr>
        <p:txBody>
          <a:bodyPr wrap="square">
            <a:spAutoFit/>
          </a:bodyPr>
          <a:lstStyle/>
          <a:p>
            <a:pPr marL="285750" indent="-285750" algn="l">
              <a:buFont typeface="Arial" panose="020B0604020202020204" pitchFamily="34" charset="0"/>
              <a:buChar char="•"/>
            </a:pPr>
            <a:r>
              <a:rPr lang="en-US" dirty="0">
                <a:latin typeface="system-ui"/>
              </a:rPr>
              <a:t>U</a:t>
            </a:r>
            <a:r>
              <a:rPr lang="en-US" b="0" i="0" dirty="0">
                <a:effectLst/>
                <a:latin typeface="system-ui"/>
              </a:rPr>
              <a:t>nderstand the different types of scientific tasks PINNs can be used for</a:t>
            </a:r>
          </a:p>
          <a:p>
            <a:pPr marL="285750" indent="-285750" algn="l">
              <a:buFont typeface="Arial" panose="020B0604020202020204" pitchFamily="34" charset="0"/>
              <a:buChar char="•"/>
            </a:pPr>
            <a:r>
              <a:rPr lang="en-US" dirty="0">
                <a:latin typeface="system-ui"/>
              </a:rPr>
              <a:t>U</a:t>
            </a:r>
            <a:r>
              <a:rPr lang="en-US" b="0" i="0" dirty="0">
                <a:effectLst/>
                <a:latin typeface="system-ui"/>
              </a:rPr>
              <a:t>nderstand in more detail how PINNs are trained and how to improve their convergence</a:t>
            </a:r>
          </a:p>
        </p:txBody>
      </p:sp>
      <p:sp>
        <p:nvSpPr>
          <p:cNvPr id="6" name="TextBox 5">
            <a:extLst>
              <a:ext uri="{FF2B5EF4-FFF2-40B4-BE49-F238E27FC236}">
                <a16:creationId xmlns:a16="http://schemas.microsoft.com/office/drawing/2014/main" id="{D4C7E81A-8B18-8177-2498-F1261542F0FA}"/>
              </a:ext>
            </a:extLst>
          </p:cNvPr>
          <p:cNvSpPr txBox="1"/>
          <p:nvPr/>
        </p:nvSpPr>
        <p:spPr>
          <a:xfrm>
            <a:off x="442654" y="1340916"/>
            <a:ext cx="1135740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200" dirty="0">
                <a:solidFill>
                  <a:srgbClr val="D24726"/>
                </a:solidFill>
                <a:cs typeface="Arial"/>
              </a:rPr>
              <a:t>GOALS</a:t>
            </a:r>
          </a:p>
        </p:txBody>
      </p:sp>
      <p:sp>
        <p:nvSpPr>
          <p:cNvPr id="8" name="Rectangle: Rounded Corners 7">
            <a:extLst>
              <a:ext uri="{FF2B5EF4-FFF2-40B4-BE49-F238E27FC236}">
                <a16:creationId xmlns:a16="http://schemas.microsoft.com/office/drawing/2014/main" id="{4AB01D14-C5EB-D75B-6B70-5B876EF2C43B}"/>
              </a:ext>
            </a:extLst>
          </p:cNvPr>
          <p:cNvSpPr/>
          <p:nvPr/>
        </p:nvSpPr>
        <p:spPr>
          <a:xfrm>
            <a:off x="1221936" y="3303699"/>
            <a:ext cx="8709463" cy="2213385"/>
          </a:xfrm>
          <a:prstGeom prst="roundRect">
            <a:avLst/>
          </a:prstGeom>
          <a:solidFill>
            <a:srgbClr val="4EA72E"/>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PINNs are divided into two classes:</a:t>
            </a:r>
          </a:p>
          <a:p>
            <a:br>
              <a:rPr lang="en-US" dirty="0"/>
            </a:br>
            <a:r>
              <a:rPr lang="en-US" b="1" dirty="0"/>
              <a:t>1) </a:t>
            </a:r>
            <a:r>
              <a:rPr lang="en-US" b="1" i="1" dirty="0"/>
              <a:t>Forward Problems: </a:t>
            </a:r>
            <a:r>
              <a:rPr lang="en-US" dirty="0"/>
              <a:t>data-driven solution for PDEs</a:t>
            </a:r>
            <a:br>
              <a:rPr lang="en-US" dirty="0"/>
            </a:br>
            <a:r>
              <a:rPr lang="en-US" b="1" dirty="0"/>
              <a:t>2) </a:t>
            </a:r>
            <a:r>
              <a:rPr lang="en-US" b="1" i="1" dirty="0"/>
              <a:t>Inverse Problems: </a:t>
            </a:r>
            <a:r>
              <a:rPr lang="en-US" dirty="0"/>
              <a:t>data driven discovery of PDEs </a:t>
            </a:r>
            <a:r>
              <a:rPr lang="en-US" i="1" dirty="0"/>
              <a:t>(Finding missing parameters)</a:t>
            </a:r>
            <a:endParaRPr lang="en-PK" i="1" dirty="0"/>
          </a:p>
        </p:txBody>
      </p:sp>
    </p:spTree>
    <p:extLst>
      <p:ext uri="{BB962C8B-B14F-4D97-AF65-F5344CB8AC3E}">
        <p14:creationId xmlns:p14="http://schemas.microsoft.com/office/powerpoint/2010/main" val="1315769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2B5B2-BCAA-E56F-5B4E-C6E17F18F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1DDCB-11AC-D13B-76E6-A159C5869597}"/>
              </a:ext>
            </a:extLst>
          </p:cNvPr>
          <p:cNvSpPr>
            <a:spLocks noGrp="1"/>
          </p:cNvSpPr>
          <p:nvPr>
            <p:ph type="title"/>
          </p:nvPr>
        </p:nvSpPr>
        <p:spPr>
          <a:xfrm>
            <a:off x="444500" y="412137"/>
            <a:ext cx="9146972" cy="640080"/>
          </a:xfrm>
        </p:spPr>
        <p:txBody>
          <a:bodyPr>
            <a:normAutofit/>
          </a:bodyPr>
          <a:lstStyle/>
          <a:p>
            <a:r>
              <a:rPr lang="en-US" sz="4000" b="1">
                <a:solidFill>
                  <a:srgbClr val="002060"/>
                </a:solidFill>
                <a:latin typeface="Segoe UI Semibold" panose="020B0502040204020203" pitchFamily="34" charset="0"/>
                <a:cs typeface="Segoe UI Semibold" panose="020B0502040204020203" pitchFamily="34" charset="0"/>
              </a:rPr>
              <a:t>Introduction</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FA0B86A-0216-8DD4-BCD8-AA78C74D8BEC}"/>
                  </a:ext>
                </a:extLst>
              </p:cNvPr>
              <p:cNvSpPr txBox="1"/>
              <p:nvPr/>
            </p:nvSpPr>
            <p:spPr>
              <a:xfrm>
                <a:off x="444500" y="1407662"/>
                <a:ext cx="10971048" cy="4062651"/>
              </a:xfrm>
              <a:prstGeom prst="rect">
                <a:avLst/>
              </a:prstGeom>
              <a:noFill/>
            </p:spPr>
            <p:txBody>
              <a:bodyPr wrap="square" rtlCol="0">
                <a:spAutoFit/>
              </a:bodyPr>
              <a:lstStyle/>
              <a:p>
                <a:r>
                  <a:rPr lang="en-US" dirty="0">
                    <a:solidFill>
                      <a:srgbClr val="002060"/>
                    </a:solidFill>
                  </a:rPr>
                  <a:t> </a:t>
                </a:r>
                <a:r>
                  <a:rPr lang="en-US" sz="2400" b="1" dirty="0">
                    <a:solidFill>
                      <a:srgbClr val="002060"/>
                    </a:solidFill>
                  </a:rPr>
                  <a:t>1) Forward Problem </a:t>
                </a:r>
              </a:p>
              <a:p>
                <a:pPr lvl="1"/>
                <a:r>
                  <a:rPr lang="en-US" dirty="0"/>
                  <a:t>Specifically, our inputs and outputs are:</a:t>
                </a:r>
              </a:p>
              <a:p>
                <a:pPr lvl="2"/>
                <a:r>
                  <a:rPr lang="en-US" b="1" dirty="0"/>
                  <a:t>Inputs: </a:t>
                </a:r>
                <a:r>
                  <a:rPr lang="en-US" dirty="0"/>
                  <a:t>underlying differential equation and the initial conditions of the system</a:t>
                </a:r>
              </a:p>
              <a:p>
                <a:pPr lvl="2"/>
                <a:r>
                  <a:rPr lang="en-US" b="1" dirty="0"/>
                  <a:t>Outputs: </a:t>
                </a:r>
                <a:r>
                  <a:rPr lang="en-US" dirty="0"/>
                  <a:t>estimate of the solution </a:t>
                </a:r>
                <a14:m>
                  <m:oMath xmlns:m="http://schemas.openxmlformats.org/officeDocument/2006/math">
                    <m:r>
                      <a:rPr lang="en-US" i="1">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endParaRPr lang="en-US" i="1" dirty="0"/>
              </a:p>
              <a:p>
                <a:pPr lvl="1"/>
                <a:endParaRPr lang="en-US" dirty="0"/>
              </a:p>
              <a:p>
                <a:r>
                  <a:rPr lang="en-US" b="1" dirty="0"/>
                  <a:t>Approach</a:t>
                </a:r>
                <a:br>
                  <a:rPr lang="en-US" b="1" dirty="0"/>
                </a:br>
                <a:r>
                  <a:rPr lang="en-US" dirty="0"/>
                  <a:t>The PINN is trained to directly approximate the solution to the differential equation, i.e.</a:t>
                </a:r>
              </a:p>
              <a:p>
                <a:endParaRPr lang="en-US" dirty="0"/>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𝑢</m:t>
                          </m:r>
                        </m:e>
                        <m:sub>
                          <m:r>
                            <m:rPr>
                              <m:sty m:val="p"/>
                            </m:rPr>
                            <a:rPr lang="en-US" i="1">
                              <a:latin typeface="Cambria Math" panose="02040503050406030204" pitchFamily="18" charset="0"/>
                            </a:rPr>
                            <m:t>PINN</m:t>
                          </m:r>
                        </m:sub>
                      </m:sSub>
                      <m:r>
                        <a:rPr lang="en-US" i="1" smtClean="0">
                          <a:latin typeface="Cambria Math" panose="02040503050406030204" pitchFamily="18" charset="0"/>
                        </a:rPr>
                        <m:t>(</m:t>
                      </m:r>
                      <m:r>
                        <a:rPr lang="en-US" i="1" smtClean="0">
                          <a:latin typeface="Cambria Math" panose="02040503050406030204" pitchFamily="18" charset="0"/>
                        </a:rPr>
                        <m:t>𝑡</m:t>
                      </m:r>
                      <m:r>
                        <a:rPr lang="en-US" i="1" smtClean="0">
                          <a:latin typeface="Cambria Math" panose="02040503050406030204" pitchFamily="18" charset="0"/>
                        </a:rPr>
                        <m:t>;</m:t>
                      </m:r>
                      <m:r>
                        <a:rPr lang="en-US" i="1" smtClean="0">
                          <a:latin typeface="Cambria Math" panose="02040503050406030204" pitchFamily="18" charset="0"/>
                        </a:rPr>
                        <m:t>𝜃</m:t>
                      </m:r>
                      <m:r>
                        <a:rPr lang="en-US" i="1" smtClean="0">
                          <a:latin typeface="Cambria Math" panose="02040503050406030204" pitchFamily="18" charset="0"/>
                        </a:rPr>
                        <m:t>) ≈</m:t>
                      </m:r>
                      <m:r>
                        <a:rPr lang="en-US" i="1" smtClean="0">
                          <a:latin typeface="Cambria Math" panose="02040503050406030204" pitchFamily="18" charset="0"/>
                        </a:rPr>
                        <m:t>𝑢</m:t>
                      </m:r>
                      <m:r>
                        <a:rPr lang="en-US" i="1" smtClean="0">
                          <a:latin typeface="Cambria Math" panose="02040503050406030204" pitchFamily="18" charset="0"/>
                        </a:rPr>
                        <m:t>(</m:t>
                      </m:r>
                      <m:r>
                        <a:rPr lang="en-US" i="1" smtClean="0">
                          <a:latin typeface="Cambria Math" panose="02040503050406030204" pitchFamily="18" charset="0"/>
                        </a:rPr>
                        <m:t>𝑡</m:t>
                      </m:r>
                      <m:r>
                        <a:rPr lang="en-US" i="1" smtClean="0">
                          <a:latin typeface="Cambria Math" panose="02040503050406030204" pitchFamily="18" charset="0"/>
                        </a:rPr>
                        <m:t>)</m:t>
                      </m:r>
                    </m:oMath>
                  </m:oMathPara>
                </a14:m>
                <a:endParaRPr lang="en-US" dirty="0"/>
              </a:p>
              <a:p>
                <a:endParaRPr lang="en-US" dirty="0"/>
              </a:p>
              <a:p>
                <a:r>
                  <a:rPr lang="en-US" dirty="0"/>
                  <a:t>where  </a:t>
                </a:r>
                <a14:m>
                  <m:oMath xmlns:m="http://schemas.openxmlformats.org/officeDocument/2006/math">
                    <m:r>
                      <a:rPr lang="en-US" i="1">
                        <a:latin typeface="Cambria Math" panose="02040503050406030204" pitchFamily="18" charset="0"/>
                      </a:rPr>
                      <m:t>𝜃</m:t>
                    </m:r>
                    <m:r>
                      <a:rPr lang="en-US" i="1">
                        <a:latin typeface="Cambria Math" panose="02040503050406030204" pitchFamily="18" charset="0"/>
                      </a:rPr>
                      <m:t> </m:t>
                    </m:r>
                  </m:oMath>
                </a14:m>
                <a:r>
                  <a:rPr lang="en-US" dirty="0"/>
                  <a:t> are the free parameters of the PINN.</a:t>
                </a:r>
                <a:endParaRPr lang="en-US" b="1" dirty="0"/>
              </a:p>
              <a:p>
                <a:endParaRPr lang="en-US" b="1" dirty="0"/>
              </a:p>
              <a:p>
                <a:r>
                  <a:rPr lang="en-US" b="1" dirty="0"/>
                  <a:t>Combined Loss Function</a:t>
                </a:r>
              </a:p>
              <a:p>
                <a:r>
                  <a:rPr lang="en-US" dirty="0"/>
                  <a:t>Minimizes the violation of physics laws and error in data.</a:t>
                </a:r>
              </a:p>
            </p:txBody>
          </p:sp>
        </mc:Choice>
        <mc:Fallback>
          <p:sp>
            <p:nvSpPr>
              <p:cNvPr id="6" name="TextBox 5">
                <a:extLst>
                  <a:ext uri="{FF2B5EF4-FFF2-40B4-BE49-F238E27FC236}">
                    <a16:creationId xmlns:a16="http://schemas.microsoft.com/office/drawing/2014/main" id="{9FA0B86A-0216-8DD4-BCD8-AA78C74D8BEC}"/>
                  </a:ext>
                </a:extLst>
              </p:cNvPr>
              <p:cNvSpPr txBox="1">
                <a:spLocks noRot="1" noChangeAspect="1" noMove="1" noResize="1" noEditPoints="1" noAdjustHandles="1" noChangeArrowheads="1" noChangeShapeType="1" noTextEdit="1"/>
              </p:cNvSpPr>
              <p:nvPr/>
            </p:nvSpPr>
            <p:spPr>
              <a:xfrm>
                <a:off x="444500" y="1407662"/>
                <a:ext cx="10971048" cy="4062651"/>
              </a:xfrm>
              <a:prstGeom prst="rect">
                <a:avLst/>
              </a:prstGeom>
              <a:blipFill>
                <a:blip r:embed="rId2"/>
                <a:stretch>
                  <a:fillRect l="-500" t="-1201" b="-1652"/>
                </a:stretch>
              </a:blipFill>
            </p:spPr>
            <p:txBody>
              <a:bodyPr/>
              <a:lstStyle/>
              <a:p>
                <a:r>
                  <a:rPr lang="en-PK">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1DC3415A-1D85-8B13-4A77-6ECB172B94A8}"/>
                  </a:ext>
                </a:extLst>
              </p:cNvPr>
              <p:cNvSpPr txBox="1"/>
              <p:nvPr/>
            </p:nvSpPr>
            <p:spPr>
              <a:xfrm>
                <a:off x="2881196" y="5733425"/>
                <a:ext cx="6097656" cy="3948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PK" smtClean="0">
                          <a:latin typeface="Cambria Math" panose="02040503050406030204" pitchFamily="18" charset="0"/>
                        </a:rPr>
                        <m:t>Loss</m:t>
                      </m:r>
                      <m:r>
                        <a:rPr lang="en-PK" i="0">
                          <a:latin typeface="Cambria Math" panose="02040503050406030204" pitchFamily="18" charset="0"/>
                        </a:rPr>
                        <m:t>=</m:t>
                      </m:r>
                      <m:sSub>
                        <m:sSubPr>
                          <m:ctrlPr>
                            <a:rPr lang="en-PK" i="1">
                              <a:latin typeface="Cambria Math" panose="02040503050406030204" pitchFamily="18" charset="0"/>
                            </a:rPr>
                          </m:ctrlPr>
                        </m:sSubPr>
                        <m:e>
                          <m:r>
                            <m:rPr>
                              <m:sty m:val="p"/>
                            </m:rPr>
                            <a:rPr lang="en-PK" i="0">
                              <a:latin typeface="Cambria Math" panose="02040503050406030204" pitchFamily="18" charset="0"/>
                            </a:rPr>
                            <m:t>MSE</m:t>
                          </m:r>
                        </m:e>
                        <m:sub>
                          <m:r>
                            <m:rPr>
                              <m:sty m:val="p"/>
                            </m:rPr>
                            <a:rPr lang="en-PK" i="0">
                              <a:latin typeface="Cambria Math" panose="02040503050406030204" pitchFamily="18" charset="0"/>
                            </a:rPr>
                            <m:t>data</m:t>
                          </m:r>
                        </m:sub>
                      </m:sSub>
                      <m:r>
                        <a:rPr lang="en-US" b="0" i="0" smtClean="0">
                          <a:latin typeface="Cambria Math" panose="02040503050406030204" pitchFamily="18" charset="0"/>
                        </a:rPr>
                        <m:t>+</m:t>
                      </m:r>
                      <m:sSub>
                        <m:sSubPr>
                          <m:ctrlPr>
                            <a:rPr lang="en-PK" i="1">
                              <a:latin typeface="Cambria Math" panose="02040503050406030204" pitchFamily="18" charset="0"/>
                            </a:rPr>
                          </m:ctrlPr>
                        </m:sSubPr>
                        <m:e>
                          <m:r>
                            <m:rPr>
                              <m:sty m:val="p"/>
                            </m:rPr>
                            <a:rPr lang="en-PK">
                              <a:latin typeface="Cambria Math" panose="02040503050406030204" pitchFamily="18" charset="0"/>
                            </a:rPr>
                            <m:t>MSE</m:t>
                          </m:r>
                        </m:e>
                        <m:sub>
                          <m:r>
                            <m:rPr>
                              <m:sty m:val="p"/>
                            </m:rPr>
                            <a:rPr lang="en-US" b="0" i="0" smtClean="0">
                              <a:latin typeface="Cambria Math" panose="02040503050406030204" pitchFamily="18" charset="0"/>
                            </a:rPr>
                            <m:t>I</m:t>
                          </m:r>
                          <m:r>
                            <m:rPr>
                              <m:sty m:val="p"/>
                            </m:rPr>
                            <a:rPr lang="en-US" b="0" i="1" smtClean="0">
                              <a:latin typeface="Cambria Math" panose="02040503050406030204" pitchFamily="18" charset="0"/>
                            </a:rPr>
                            <m:t>nitial</m:t>
                          </m:r>
                        </m:sub>
                      </m:sSub>
                      <m:r>
                        <a:rPr lang="en-PK" i="0">
                          <a:latin typeface="Cambria Math" panose="02040503050406030204" pitchFamily="18" charset="0"/>
                        </a:rPr>
                        <m:t>+</m:t>
                      </m:r>
                      <m:sSub>
                        <m:sSubPr>
                          <m:ctrlPr>
                            <a:rPr lang="en-PK" i="1">
                              <a:latin typeface="Cambria Math" panose="02040503050406030204" pitchFamily="18" charset="0"/>
                            </a:rPr>
                          </m:ctrlPr>
                        </m:sSubPr>
                        <m:e>
                          <m:r>
                            <m:rPr>
                              <m:sty m:val="p"/>
                            </m:rPr>
                            <a:rPr lang="en-PK" i="0">
                              <a:latin typeface="Cambria Math" panose="02040503050406030204" pitchFamily="18" charset="0"/>
                            </a:rPr>
                            <m:t>MSE</m:t>
                          </m:r>
                        </m:e>
                        <m:sub>
                          <m:r>
                            <m:rPr>
                              <m:sty m:val="p"/>
                            </m:rPr>
                            <a:rPr lang="en-PK" i="0">
                              <a:latin typeface="Cambria Math" panose="02040503050406030204" pitchFamily="18" charset="0"/>
                            </a:rPr>
                            <m:t>boundary</m:t>
                          </m:r>
                        </m:sub>
                      </m:sSub>
                      <m:r>
                        <a:rPr lang="en-PK" i="0">
                          <a:latin typeface="Cambria Math" panose="02040503050406030204" pitchFamily="18" charset="0"/>
                        </a:rPr>
                        <m:t>+</m:t>
                      </m:r>
                      <m:sSub>
                        <m:sSubPr>
                          <m:ctrlPr>
                            <a:rPr lang="en-PK" i="1">
                              <a:latin typeface="Cambria Math" panose="02040503050406030204" pitchFamily="18" charset="0"/>
                            </a:rPr>
                          </m:ctrlPr>
                        </m:sSubPr>
                        <m:e>
                          <m:r>
                            <m:rPr>
                              <m:sty m:val="p"/>
                            </m:rPr>
                            <a:rPr lang="en-PK" i="0">
                              <a:latin typeface="Cambria Math" panose="02040503050406030204" pitchFamily="18" charset="0"/>
                            </a:rPr>
                            <m:t>MSE</m:t>
                          </m:r>
                        </m:e>
                        <m:sub>
                          <m:r>
                            <m:rPr>
                              <m:sty m:val="p"/>
                            </m:rPr>
                            <a:rPr lang="en-PK" i="0">
                              <a:latin typeface="Cambria Math" panose="02040503050406030204" pitchFamily="18" charset="0"/>
                            </a:rPr>
                            <m:t>PDE</m:t>
                          </m:r>
                        </m:sub>
                      </m:sSub>
                    </m:oMath>
                  </m:oMathPara>
                </a14:m>
                <a:endParaRPr lang="en-PK" dirty="0"/>
              </a:p>
            </p:txBody>
          </p:sp>
        </mc:Choice>
        <mc:Fallback>
          <p:sp>
            <p:nvSpPr>
              <p:cNvPr id="4" name="TextBox 3">
                <a:extLst>
                  <a:ext uri="{FF2B5EF4-FFF2-40B4-BE49-F238E27FC236}">
                    <a16:creationId xmlns:a16="http://schemas.microsoft.com/office/drawing/2014/main" id="{1DC3415A-1D85-8B13-4A77-6ECB172B94A8}"/>
                  </a:ext>
                </a:extLst>
              </p:cNvPr>
              <p:cNvSpPr txBox="1">
                <a:spLocks noRot="1" noChangeAspect="1" noMove="1" noResize="1" noEditPoints="1" noAdjustHandles="1" noChangeArrowheads="1" noChangeShapeType="1" noTextEdit="1"/>
              </p:cNvSpPr>
              <p:nvPr/>
            </p:nvSpPr>
            <p:spPr>
              <a:xfrm>
                <a:off x="2881196" y="5733425"/>
                <a:ext cx="6097656" cy="394852"/>
              </a:xfrm>
              <a:prstGeom prst="rect">
                <a:avLst/>
              </a:prstGeom>
              <a:blipFill>
                <a:blip r:embed="rId3"/>
                <a:stretch>
                  <a:fillRect b="-9375"/>
                </a:stretch>
              </a:blipFill>
            </p:spPr>
            <p:txBody>
              <a:bodyPr/>
              <a:lstStyle/>
              <a:p>
                <a:r>
                  <a:rPr lang="en-PK">
                    <a:noFill/>
                  </a:rPr>
                  <a:t> </a:t>
                </a:r>
              </a:p>
            </p:txBody>
          </p:sp>
        </mc:Fallback>
      </mc:AlternateContent>
    </p:spTree>
    <p:extLst>
      <p:ext uri="{BB962C8B-B14F-4D97-AF65-F5344CB8AC3E}">
        <p14:creationId xmlns:p14="http://schemas.microsoft.com/office/powerpoint/2010/main" val="229077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84354-F15F-33B9-01B7-D2FF8041A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1AE5E7-2650-6149-1AD3-C9618B311AB5}"/>
              </a:ext>
            </a:extLst>
          </p:cNvPr>
          <p:cNvSpPr>
            <a:spLocks noGrp="1"/>
          </p:cNvSpPr>
          <p:nvPr>
            <p:ph type="title"/>
          </p:nvPr>
        </p:nvSpPr>
        <p:spPr>
          <a:xfrm>
            <a:off x="444500" y="412137"/>
            <a:ext cx="9146972" cy="640080"/>
          </a:xfrm>
        </p:spPr>
        <p:txBody>
          <a:bodyPr>
            <a:normAutofit/>
          </a:bodyPr>
          <a:lstStyle/>
          <a:p>
            <a:r>
              <a:rPr lang="en-US" sz="4000" b="1" dirty="0">
                <a:solidFill>
                  <a:srgbClr val="002060"/>
                </a:solidFill>
                <a:latin typeface="Segoe UI Semibold" panose="020B0502040204020203" pitchFamily="34" charset="0"/>
                <a:cs typeface="Segoe UI Semibold" panose="020B0502040204020203" pitchFamily="34" charset="0"/>
              </a:rPr>
              <a:t>Introduction</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497471AE-6A4C-7AAB-E932-664F743D09DA}"/>
                  </a:ext>
                </a:extLst>
              </p:cNvPr>
              <p:cNvSpPr txBox="1"/>
              <p:nvPr/>
            </p:nvSpPr>
            <p:spPr>
              <a:xfrm>
                <a:off x="444500" y="1169139"/>
                <a:ext cx="11009947" cy="3323987"/>
              </a:xfrm>
              <a:prstGeom prst="rect">
                <a:avLst/>
              </a:prstGeom>
              <a:noFill/>
            </p:spPr>
            <p:txBody>
              <a:bodyPr wrap="square" rtlCol="0">
                <a:spAutoFit/>
              </a:bodyPr>
              <a:lstStyle/>
              <a:p>
                <a:pPr marL="0" lvl="1"/>
                <a:r>
                  <a:rPr lang="en-US" sz="2400" dirty="0">
                    <a:solidFill>
                      <a:srgbClr val="D24726"/>
                    </a:solidFill>
                  </a:rPr>
                  <a:t>Example: 1D-Burger’s Equation</a:t>
                </a:r>
              </a:p>
              <a:p>
                <a:pPr marL="0" lvl="1"/>
                <a:endParaRPr lang="en-US" sz="2400" dirty="0">
                  <a:solidFill>
                    <a:srgbClr val="D24726"/>
                  </a:solidFill>
                </a:endParaRPr>
              </a:p>
              <a:p>
                <a:pPr marL="0" lvl="1"/>
                <a:endParaRPr lang="en-US" sz="2400" dirty="0">
                  <a:solidFill>
                    <a:srgbClr val="D24726"/>
                  </a:solidFill>
                </a:endParaRPr>
              </a:p>
              <a:p>
                <a:pPr marL="0" lvl="1"/>
                <a:endParaRPr lang="en-US" sz="2400" dirty="0">
                  <a:solidFill>
                    <a:srgbClr val="D24726"/>
                  </a:solidFill>
                </a:endParaRPr>
              </a:p>
              <a:p>
                <a:pPr marL="0" lvl="1"/>
                <a:r>
                  <a:rPr lang="en-PK" altLang="en-PK" dirty="0">
                    <a:latin typeface="Arial" panose="020B0604020202020204" pitchFamily="34" charset="0"/>
                  </a:rPr>
                  <a:t>where</a:t>
                </a:r>
                <a14:m>
                  <m:oMath xmlns:m="http://schemas.openxmlformats.org/officeDocument/2006/math">
                    <m:r>
                      <a:rPr lang="en-US" altLang="en-PK" b="0" i="0" dirty="0" smtClean="0">
                        <a:latin typeface="Cambria Math" panose="02040503050406030204" pitchFamily="18" charset="0"/>
                      </a:rPr>
                      <m:t> </m:t>
                    </m:r>
                    <m:r>
                      <a:rPr lang="en-PK" altLang="en-PK" i="1" dirty="0" smtClean="0">
                        <a:latin typeface="Cambria Math" panose="02040503050406030204" pitchFamily="18" charset="0"/>
                      </a:rPr>
                      <m:t>𝜈</m:t>
                    </m:r>
                    <m:r>
                      <a:rPr lang="en-US" altLang="en-PK" b="0" i="1" dirty="0" smtClean="0">
                        <a:latin typeface="Cambria Math" panose="02040503050406030204" pitchFamily="18" charset="0"/>
                      </a:rPr>
                      <m:t>&gt; 0</m:t>
                    </m:r>
                    <m:r>
                      <a:rPr lang="en-PK" altLang="en-PK" i="1" dirty="0">
                        <a:latin typeface="Cambria Math" panose="02040503050406030204" pitchFamily="18" charset="0"/>
                      </a:rPr>
                      <m:t> </m:t>
                    </m:r>
                  </m:oMath>
                </a14:m>
                <a:r>
                  <a:rPr lang="en-US" altLang="en-PK" dirty="0">
                    <a:latin typeface="Google Sans Text"/>
                  </a:rPr>
                  <a:t> </a:t>
                </a:r>
                <a:r>
                  <a:rPr lang="en-PK" altLang="en-PK" dirty="0"/>
                  <a:t>is the </a:t>
                </a:r>
                <a:r>
                  <a:rPr lang="en-PK" altLang="en-PK" b="1" dirty="0">
                    <a:latin typeface="Google Sans Text"/>
                  </a:rPr>
                  <a:t>kinematic viscosity</a:t>
                </a:r>
                <a:r>
                  <a:rPr lang="en-PK" altLang="en-PK" dirty="0"/>
                  <a:t> (the coefficient of the diffusion term). This equation models the non-linear transport (advection) balanced by viscosity (diffusion).</a:t>
                </a:r>
                <a:r>
                  <a:rPr lang="en-US" altLang="en-PK" dirty="0"/>
                  <a:t> </a:t>
                </a:r>
                <a:endParaRPr lang="en-US" altLang="en-PK" dirty="0">
                  <a:latin typeface="Arial" panose="020B0604020202020204" pitchFamily="34" charset="0"/>
                </a:endParaRPr>
              </a:p>
              <a:p>
                <a:pPr marL="0" lvl="1"/>
                <a:endParaRPr lang="en-US" sz="2400" dirty="0">
                  <a:solidFill>
                    <a:srgbClr val="D24726"/>
                  </a:solidFill>
                </a:endParaRPr>
              </a:p>
              <a:p>
                <a:pPr lvl="0" eaLnBrk="0" fontAlgn="base" hangingPunct="0">
                  <a:spcBef>
                    <a:spcPct val="0"/>
                  </a:spcBef>
                  <a:spcAft>
                    <a:spcPct val="0"/>
                  </a:spcAft>
                </a:pPr>
                <a:r>
                  <a:rPr lang="en-US" dirty="0"/>
                  <a:t>PINN solution approximate the true solution:</a:t>
                </a:r>
              </a:p>
              <a:p>
                <a:pPr lvl="0" eaLnBrk="0" fontAlgn="base" hangingPunct="0">
                  <a:spcBef>
                    <a:spcPct val="0"/>
                  </a:spcBef>
                  <a:spcAft>
                    <a:spcPct val="0"/>
                  </a:spcAft>
                </a:pPr>
                <a:endParaRPr lang="en-US" b="1" dirty="0"/>
              </a:p>
              <a:p>
                <a:pPr lvl="0" eaLnBrk="0" fontAlgn="base" hangingPunct="0">
                  <a:spcBef>
                    <a:spcPct val="0"/>
                  </a:spcBef>
                  <a:spcAft>
                    <a:spcPct val="0"/>
                  </a:spcAft>
                </a:pPr>
                <a:r>
                  <a:rPr lang="en-US" b="1" dirty="0"/>
                  <a:t>Combined Loss Function</a:t>
                </a:r>
                <a:endParaRPr lang="en-US" dirty="0"/>
              </a:p>
            </p:txBody>
          </p:sp>
        </mc:Choice>
        <mc:Fallback>
          <p:sp>
            <p:nvSpPr>
              <p:cNvPr id="6" name="TextBox 5">
                <a:extLst>
                  <a:ext uri="{FF2B5EF4-FFF2-40B4-BE49-F238E27FC236}">
                    <a16:creationId xmlns:a16="http://schemas.microsoft.com/office/drawing/2014/main" id="{497471AE-6A4C-7AAB-E932-664F743D09DA}"/>
                  </a:ext>
                </a:extLst>
              </p:cNvPr>
              <p:cNvSpPr txBox="1">
                <a:spLocks noRot="1" noChangeAspect="1" noMove="1" noResize="1" noEditPoints="1" noAdjustHandles="1" noChangeArrowheads="1" noChangeShapeType="1" noTextEdit="1"/>
              </p:cNvSpPr>
              <p:nvPr/>
            </p:nvSpPr>
            <p:spPr>
              <a:xfrm>
                <a:off x="444500" y="1169139"/>
                <a:ext cx="11009947" cy="3323987"/>
              </a:xfrm>
              <a:prstGeom prst="rect">
                <a:avLst/>
              </a:prstGeom>
              <a:blipFill>
                <a:blip r:embed="rId2"/>
                <a:stretch>
                  <a:fillRect l="-886" t="-1468" b="-2202"/>
                </a:stretch>
              </a:blipFill>
            </p:spPr>
            <p:txBody>
              <a:bodyPr/>
              <a:lstStyle/>
              <a:p>
                <a:r>
                  <a:rPr lang="en-PK">
                    <a:noFill/>
                  </a:rPr>
                  <a:t> </a:t>
                </a:r>
              </a:p>
            </p:txBody>
          </p:sp>
        </mc:Fallback>
      </mc:AlternateContent>
      <p:sp>
        <p:nvSpPr>
          <p:cNvPr id="11" name="TextBox 10">
            <a:extLst>
              <a:ext uri="{FF2B5EF4-FFF2-40B4-BE49-F238E27FC236}">
                <a16:creationId xmlns:a16="http://schemas.microsoft.com/office/drawing/2014/main" id="{2CC6E7FB-17CF-2460-A866-FFD2EE3A9A79}"/>
              </a:ext>
            </a:extLst>
          </p:cNvPr>
          <p:cNvSpPr txBox="1"/>
          <p:nvPr/>
        </p:nvSpPr>
        <p:spPr>
          <a:xfrm>
            <a:off x="2890698" y="5945906"/>
            <a:ext cx="2921876" cy="369332"/>
          </a:xfrm>
          <a:prstGeom prst="rect">
            <a:avLst/>
          </a:prstGeom>
          <a:noFill/>
        </p:spPr>
        <p:txBody>
          <a:bodyPr wrap="square" rtlCol="0">
            <a:spAutoFit/>
          </a:bodyPr>
          <a:lstStyle/>
          <a:p>
            <a:r>
              <a:rPr lang="en-US" dirty="0"/>
              <a:t>Boundary Loss</a:t>
            </a:r>
            <a:endParaRPr lang="en-PK" dirty="0"/>
          </a:p>
        </p:txBody>
      </p:sp>
      <p:sp>
        <p:nvSpPr>
          <p:cNvPr id="12" name="TextBox 11">
            <a:extLst>
              <a:ext uri="{FF2B5EF4-FFF2-40B4-BE49-F238E27FC236}">
                <a16:creationId xmlns:a16="http://schemas.microsoft.com/office/drawing/2014/main" id="{5C353D2C-056E-6CFF-E3EF-EAF0CCE0919A}"/>
              </a:ext>
            </a:extLst>
          </p:cNvPr>
          <p:cNvSpPr txBox="1"/>
          <p:nvPr/>
        </p:nvSpPr>
        <p:spPr>
          <a:xfrm>
            <a:off x="8258331" y="5915941"/>
            <a:ext cx="2921876" cy="369332"/>
          </a:xfrm>
          <a:prstGeom prst="rect">
            <a:avLst/>
          </a:prstGeom>
          <a:noFill/>
        </p:spPr>
        <p:txBody>
          <a:bodyPr wrap="square" rtlCol="0">
            <a:spAutoFit/>
          </a:bodyPr>
          <a:lstStyle/>
          <a:p>
            <a:r>
              <a:rPr lang="en-US" dirty="0"/>
              <a:t>Physics Loss</a:t>
            </a:r>
            <a:endParaRPr lang="en-PK" dirty="0"/>
          </a:p>
        </p:txBody>
      </p:sp>
      <p:sp>
        <p:nvSpPr>
          <p:cNvPr id="5" name="Rectangle 3">
            <a:extLst>
              <a:ext uri="{FF2B5EF4-FFF2-40B4-BE49-F238E27FC236}">
                <a16:creationId xmlns:a16="http://schemas.microsoft.com/office/drawing/2014/main" id="{9445D388-F4D0-AF27-68D5-788EB202F345}"/>
              </a:ext>
            </a:extLst>
          </p:cNvPr>
          <p:cNvSpPr>
            <a:spLocks noChangeArrowheads="1"/>
          </p:cNvSpPr>
          <p:nvPr/>
        </p:nvSpPr>
        <p:spPr bwMode="auto">
          <a:xfrm>
            <a:off x="139148" y="119749"/>
            <a:ext cx="213520"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800" b="0" i="0" u="none" strike="noStrike" cap="none" normalizeH="0" baseline="0" dirty="0">
                <a:ln>
                  <a:noFill/>
                </a:ln>
                <a:solidFill>
                  <a:schemeClr val="tx1"/>
                </a:solidFill>
                <a:effectLst/>
              </a:rPr>
              <a:t> </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4" name="Rectangle: Rounded Corners 3">
            <a:extLst>
              <a:ext uri="{FF2B5EF4-FFF2-40B4-BE49-F238E27FC236}">
                <a16:creationId xmlns:a16="http://schemas.microsoft.com/office/drawing/2014/main" id="{DE5FFA75-33DE-B6E9-14B4-F4F918FA5557}"/>
              </a:ext>
            </a:extLst>
          </p:cNvPr>
          <p:cNvSpPr/>
          <p:nvPr/>
        </p:nvSpPr>
        <p:spPr>
          <a:xfrm>
            <a:off x="1149134" y="4903166"/>
            <a:ext cx="6187440" cy="959964"/>
          </a:xfrm>
          <a:prstGeom prst="roundRect">
            <a:avLst/>
          </a:prstGeom>
          <a:noFill/>
          <a:ln>
            <a:solidFill>
              <a:srgbClr val="D2472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7" name="Rectangle: Rounded Corners 6">
            <a:extLst>
              <a:ext uri="{FF2B5EF4-FFF2-40B4-BE49-F238E27FC236}">
                <a16:creationId xmlns:a16="http://schemas.microsoft.com/office/drawing/2014/main" id="{CB140717-0CB7-D839-02F0-C8E92335FC07}"/>
              </a:ext>
            </a:extLst>
          </p:cNvPr>
          <p:cNvSpPr/>
          <p:nvPr/>
        </p:nvSpPr>
        <p:spPr>
          <a:xfrm>
            <a:off x="7502728" y="4903165"/>
            <a:ext cx="3775926" cy="959964"/>
          </a:xfrm>
          <a:prstGeom prst="round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723C4D27-F85D-CAD1-8933-716CE1BE3EC1}"/>
                  </a:ext>
                </a:extLst>
              </p:cNvPr>
              <p:cNvSpPr txBox="1"/>
              <p:nvPr/>
            </p:nvSpPr>
            <p:spPr>
              <a:xfrm>
                <a:off x="444500" y="5020088"/>
                <a:ext cx="10753328" cy="6687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𝐿</m:t>
                      </m:r>
                      <m:d>
                        <m:dPr>
                          <m:ctrlPr>
                            <a:rPr lang="en-US" sz="1600" i="1">
                              <a:latin typeface="Cambria Math" panose="02040503050406030204" pitchFamily="18" charset="0"/>
                            </a:rPr>
                          </m:ctrlPr>
                        </m:dPr>
                        <m:e>
                          <m:r>
                            <a:rPr lang="en-US" sz="1600" i="1">
                              <a:latin typeface="Cambria Math" panose="02040503050406030204" pitchFamily="18" charset="0"/>
                            </a:rPr>
                            <m:t>𝜃</m:t>
                          </m:r>
                        </m:e>
                      </m:d>
                      <m:r>
                        <a:rPr lang="en-US" sz="1600" i="1">
                          <a:latin typeface="Cambria Math" panose="02040503050406030204" pitchFamily="18" charset="0"/>
                        </a:rPr>
                        <m:t>=</m:t>
                      </m:r>
                      <m:sSup>
                        <m:sSupPr>
                          <m:ctrlPr>
                            <a:rPr lang="en-US" sz="1600" i="1">
                              <a:latin typeface="Cambria Math" panose="02040503050406030204" pitchFamily="18" charset="0"/>
                            </a:rPr>
                          </m:ctrlPr>
                        </m:sSupPr>
                        <m:e>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𝑢</m:t>
                                  </m:r>
                                </m:e>
                                <m:sub>
                                  <m:r>
                                    <m:rPr>
                                      <m:nor/>
                                    </m:rPr>
                                    <a:rPr lang="en-US" sz="1600" baseline="-25000">
                                      <a:latin typeface="Cambria Math" panose="02040503050406030204" pitchFamily="18" charset="0"/>
                                    </a:rPr>
                                    <m:t>PINN</m:t>
                                  </m:r>
                                </m:sub>
                              </m:sSub>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𝑖</m:t>
                                      </m:r>
                                    </m:sub>
                                  </m:sSub>
                                  <m:r>
                                    <a:rPr lang="en-US" sz="1600" i="1">
                                      <a:latin typeface="Cambria Math" panose="02040503050406030204" pitchFamily="18" charset="0"/>
                                    </a:rPr>
                                    <m:t>,</m:t>
                                  </m:r>
                                  <m:r>
                                    <a:rPr lang="en-US" sz="1600" i="1">
                                      <a:latin typeface="Cambria Math" panose="02040503050406030204" pitchFamily="18" charset="0"/>
                                    </a:rPr>
                                    <m:t>𝑡</m:t>
                                  </m:r>
                                  <m:r>
                                    <a:rPr lang="en-US" sz="1600" i="1">
                                      <a:latin typeface="Cambria Math" panose="02040503050406030204" pitchFamily="18" charset="0"/>
                                    </a:rPr>
                                    <m:t>=0;</m:t>
                                  </m:r>
                                  <m:r>
                                    <a:rPr lang="en-US" sz="1600" i="1">
                                      <a:latin typeface="Cambria Math" panose="02040503050406030204" pitchFamily="18" charset="0"/>
                                    </a:rPr>
                                    <m:t>𝜃</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0</m:t>
                                  </m:r>
                                </m:sub>
                              </m:sSub>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𝑖</m:t>
                                      </m:r>
                                    </m:sub>
                                  </m:sSub>
                                </m:e>
                              </m:d>
                            </m:e>
                          </m:d>
                        </m:e>
                        <m:sup>
                          <m:r>
                            <a:rPr lang="en-US" sz="1600" i="1">
                              <a:latin typeface="Cambria Math" panose="02040503050406030204" pitchFamily="18" charset="0"/>
                            </a:rPr>
                            <m:t>2</m:t>
                          </m:r>
                        </m:sup>
                      </m:sSup>
                      <m:r>
                        <a:rPr lang="en-US" sz="1600" i="1">
                          <a:latin typeface="Cambria Math" panose="02040503050406030204" pitchFamily="18" charset="0"/>
                        </a:rPr>
                        <m:t>+</m:t>
                      </m:r>
                      <m:sSup>
                        <m:sSupPr>
                          <m:ctrlPr>
                            <a:rPr lang="en-US" sz="1600" i="1">
                              <a:latin typeface="Cambria Math" panose="02040503050406030204" pitchFamily="18" charset="0"/>
                            </a:rPr>
                          </m:ctrlPr>
                        </m:sSupPr>
                        <m:e>
                          <m:sSub>
                            <m:sSubPr>
                              <m:ctrlPr>
                                <a:rPr lang="en-US" sz="1600" i="1">
                                  <a:latin typeface="Cambria Math" panose="02040503050406030204" pitchFamily="18" charset="0"/>
                                </a:rPr>
                              </m:ctrlPr>
                            </m:sSubPr>
                            <m:e>
                              <m:r>
                                <a:rPr lang="en-US" sz="1600" i="1">
                                  <a:latin typeface="Cambria Math" panose="02040503050406030204" pitchFamily="18" charset="0"/>
                                </a:rPr>
                                <m:t>𝜆</m:t>
                              </m:r>
                            </m:e>
                            <m:sub>
                              <m:r>
                                <m:rPr>
                                  <m:nor/>
                                </m:rPr>
                                <a:rPr lang="en-US" sz="1600" i="0" smtClean="0">
                                  <a:latin typeface="Cambria Math" panose="02040503050406030204" pitchFamily="18" charset="0"/>
                                </a:rPr>
                                <m:t>1</m:t>
                              </m:r>
                            </m:sub>
                          </m:sSub>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𝑢</m:t>
                                  </m:r>
                                </m:e>
                                <m:sub>
                                  <m:r>
                                    <m:rPr>
                                      <m:nor/>
                                    </m:rPr>
                                    <a:rPr lang="en-US" sz="1600" baseline="-25000">
                                      <a:latin typeface="Cambria Math" panose="02040503050406030204" pitchFamily="18" charset="0"/>
                                    </a:rPr>
                                    <m:t>PINN</m:t>
                                  </m:r>
                                </m:sub>
                              </m:sSub>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𝑗</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𝑡</m:t>
                                      </m:r>
                                    </m:e>
                                    <m:sub>
                                      <m:r>
                                        <a:rPr lang="en-US" sz="1600" i="1">
                                          <a:latin typeface="Cambria Math" panose="02040503050406030204" pitchFamily="18" charset="0"/>
                                        </a:rPr>
                                        <m:t>𝑗</m:t>
                                      </m:r>
                                    </m:sub>
                                  </m:sSub>
                                  <m:r>
                                    <a:rPr lang="en-US" sz="1600" i="1">
                                      <a:latin typeface="Cambria Math" panose="02040503050406030204" pitchFamily="18" charset="0"/>
                                    </a:rPr>
                                    <m:t>;</m:t>
                                  </m:r>
                                  <m:r>
                                    <a:rPr lang="en-US" sz="1600" i="1">
                                      <a:latin typeface="Cambria Math" panose="02040503050406030204" pitchFamily="18" charset="0"/>
                                    </a:rPr>
                                    <m:t>𝜃</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𝑢</m:t>
                                  </m:r>
                                </m:e>
                                <m:sub>
                                  <m:r>
                                    <m:rPr>
                                      <m:nor/>
                                    </m:rPr>
                                    <a:rPr lang="en-US" sz="1600" baseline="-25000">
                                      <a:latin typeface="Cambria Math" panose="02040503050406030204" pitchFamily="18" charset="0"/>
                                    </a:rPr>
                                    <m:t>boundary</m:t>
                                  </m:r>
                                </m:sub>
                              </m:sSub>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𝑗</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𝑡</m:t>
                                      </m:r>
                                    </m:e>
                                    <m:sub>
                                      <m:r>
                                        <a:rPr lang="en-US" sz="1600" i="1">
                                          <a:latin typeface="Cambria Math" panose="02040503050406030204" pitchFamily="18" charset="0"/>
                                        </a:rPr>
                                        <m:t>𝑗</m:t>
                                      </m:r>
                                    </m:sub>
                                  </m:sSub>
                                </m:e>
                              </m:d>
                            </m:e>
                          </m:d>
                        </m:e>
                        <m:sup>
                          <m:r>
                            <a:rPr lang="en-US" sz="1600" i="1">
                              <a:latin typeface="Cambria Math" panose="02040503050406030204" pitchFamily="18" charset="0"/>
                            </a:rPr>
                            <m:t>2</m:t>
                          </m:r>
                        </m:sup>
                      </m:sSup>
                      <m:r>
                        <a:rPr lang="en-US" sz="1600" i="1">
                          <a:latin typeface="Cambria Math" panose="02040503050406030204" pitchFamily="18" charset="0"/>
                        </a:rPr>
                        <m:t>+</m:t>
                      </m:r>
                      <m:sSub>
                        <m:sSubPr>
                          <m:ctrlPr>
                            <a:rPr lang="en-US" sz="1600" i="1" smtClean="0">
                              <a:latin typeface="Cambria Math" panose="02040503050406030204" pitchFamily="18" charset="0"/>
                            </a:rPr>
                          </m:ctrlPr>
                        </m:sSubPr>
                        <m:e>
                          <m:r>
                            <a:rPr lang="en-US" sz="1600" i="1">
                              <a:latin typeface="Cambria Math" panose="02040503050406030204" pitchFamily="18" charset="0"/>
                            </a:rPr>
                            <m:t>𝜆</m:t>
                          </m:r>
                        </m:e>
                        <m:sub>
                          <m:r>
                            <m:rPr>
                              <m:nor/>
                            </m:rPr>
                            <a:rPr lang="en-US" sz="1600">
                              <a:latin typeface="Cambria Math" panose="02040503050406030204" pitchFamily="18" charset="0"/>
                            </a:rPr>
                            <m:t>2</m:t>
                          </m:r>
                        </m:sub>
                      </m:sSub>
                      <m:sSubSup>
                        <m:sSubSupPr>
                          <m:ctrlPr>
                            <a:rPr lang="en-US" sz="1600" i="1">
                              <a:latin typeface="Cambria Math" panose="02040503050406030204" pitchFamily="18" charset="0"/>
                            </a:rPr>
                          </m:ctrlPr>
                        </m:sSubSupPr>
                        <m:e>
                          <m:d>
                            <m:dPr>
                              <m:begChr m:val="["/>
                              <m:endChr m:val="]"/>
                              <m:ctrlPr>
                                <a:rPr lang="en-US" sz="1600" i="1">
                                  <a:latin typeface="Cambria Math" panose="02040503050406030204" pitchFamily="18" charset="0"/>
                                </a:rPr>
                              </m:ctrlPr>
                            </m:dPr>
                            <m:e>
                              <m:f>
                                <m:fPr>
                                  <m:ctrlPr>
                                    <a:rPr lang="en-US" sz="1600" i="1">
                                      <a:latin typeface="Cambria Math" panose="02040503050406030204" pitchFamily="18" charset="0"/>
                                    </a:rPr>
                                  </m:ctrlPr>
                                </m:fPr>
                                <m:num>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𝑢</m:t>
                                      </m:r>
                                    </m:e>
                                    <m:sub>
                                      <m:r>
                                        <m:rPr>
                                          <m:nor/>
                                        </m:rPr>
                                        <a:rPr lang="en-US" sz="1600" baseline="-25000">
                                          <a:latin typeface="Cambria Math" panose="02040503050406030204" pitchFamily="18" charset="0"/>
                                        </a:rPr>
                                        <m:t>PINN</m:t>
                                      </m:r>
                                    </m:sub>
                                  </m:sSub>
                                </m:num>
                                <m:den>
                                  <m:r>
                                    <a:rPr lang="en-US" sz="1600" i="1">
                                      <a:latin typeface="Cambria Math" panose="02040503050406030204" pitchFamily="18" charset="0"/>
                                    </a:rPr>
                                    <m:t>𝜕</m:t>
                                  </m:r>
                                  <m:r>
                                    <a:rPr lang="en-US" sz="1600" i="1">
                                      <a:latin typeface="Cambria Math" panose="02040503050406030204" pitchFamily="18" charset="0"/>
                                    </a:rPr>
                                    <m:t>𝑡</m:t>
                                  </m:r>
                                </m:den>
                              </m:f>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𝑢</m:t>
                                  </m:r>
                                </m:e>
                                <m:sub>
                                  <m:r>
                                    <m:rPr>
                                      <m:nor/>
                                    </m:rPr>
                                    <a:rPr lang="en-US" sz="1600" baseline="-25000">
                                      <a:latin typeface="Cambria Math" panose="02040503050406030204" pitchFamily="18" charset="0"/>
                                    </a:rPr>
                                    <m:t>PINN</m:t>
                                  </m:r>
                                </m:sub>
                              </m:sSub>
                              <m:f>
                                <m:fPr>
                                  <m:ctrlPr>
                                    <a:rPr lang="en-US" sz="1600" i="1">
                                      <a:latin typeface="Cambria Math" panose="02040503050406030204" pitchFamily="18" charset="0"/>
                                    </a:rPr>
                                  </m:ctrlPr>
                                </m:fPr>
                                <m:num>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𝑢</m:t>
                                      </m:r>
                                    </m:e>
                                    <m:sub>
                                      <m:r>
                                        <m:rPr>
                                          <m:nor/>
                                        </m:rPr>
                                        <a:rPr lang="en-US" sz="1600" baseline="-25000">
                                          <a:latin typeface="Cambria Math" panose="02040503050406030204" pitchFamily="18" charset="0"/>
                                        </a:rPr>
                                        <m:t>PINN</m:t>
                                      </m:r>
                                    </m:sub>
                                  </m:sSub>
                                </m:num>
                                <m:den>
                                  <m:r>
                                    <a:rPr lang="en-US" sz="1600" i="1">
                                      <a:latin typeface="Cambria Math" panose="02040503050406030204" pitchFamily="18" charset="0"/>
                                    </a:rPr>
                                    <m:t>𝜕</m:t>
                                  </m:r>
                                  <m:r>
                                    <a:rPr lang="en-US" sz="1600" i="1">
                                      <a:latin typeface="Cambria Math" panose="02040503050406030204" pitchFamily="18" charset="0"/>
                                    </a:rPr>
                                    <m:t>𝑥</m:t>
                                  </m:r>
                                </m:den>
                              </m:f>
                              <m:r>
                                <a:rPr lang="en-US" sz="1600" i="1">
                                  <a:latin typeface="Cambria Math" panose="02040503050406030204" pitchFamily="18" charset="0"/>
                                </a:rPr>
                                <m:t>−</m:t>
                              </m:r>
                              <m:r>
                                <a:rPr lang="en-US" sz="1600" i="1">
                                  <a:latin typeface="Cambria Math" panose="02040503050406030204" pitchFamily="18" charset="0"/>
                                </a:rPr>
                                <m:t>𝜈</m:t>
                              </m:r>
                              <m:f>
                                <m:fPr>
                                  <m:ctrlPr>
                                    <a:rPr lang="en-US" sz="1600" i="1">
                                      <a:latin typeface="Cambria Math" panose="02040503050406030204" pitchFamily="18" charset="0"/>
                                    </a:rPr>
                                  </m:ctrlPr>
                                </m:fPr>
                                <m:num>
                                  <m:sSup>
                                    <m:sSupPr>
                                      <m:ctrlPr>
                                        <a:rPr lang="en-US" sz="1600" i="1">
                                          <a:latin typeface="Cambria Math" panose="02040503050406030204" pitchFamily="18" charset="0"/>
                                        </a:rPr>
                                      </m:ctrlPr>
                                    </m:sSupPr>
                                    <m:e>
                                      <m:r>
                                        <a:rPr lang="en-US" sz="1600" i="1">
                                          <a:latin typeface="Cambria Math" panose="02040503050406030204" pitchFamily="18" charset="0"/>
                                        </a:rPr>
                                        <m:t>𝜕</m:t>
                                      </m:r>
                                    </m:e>
                                    <m:sup>
                                      <m:r>
                                        <a:rPr lang="en-US" sz="1600" i="1">
                                          <a:latin typeface="Cambria Math" panose="02040503050406030204" pitchFamily="18" charset="0"/>
                                        </a:rPr>
                                        <m:t>2</m:t>
                                      </m:r>
                                    </m:sup>
                                  </m:sSup>
                                  <m:sSub>
                                    <m:sSubPr>
                                      <m:ctrlPr>
                                        <a:rPr lang="en-US" sz="1600" i="1">
                                          <a:latin typeface="Cambria Math" panose="02040503050406030204" pitchFamily="18" charset="0"/>
                                        </a:rPr>
                                      </m:ctrlPr>
                                    </m:sSubPr>
                                    <m:e>
                                      <m:r>
                                        <a:rPr lang="en-US" sz="1600" i="1">
                                          <a:latin typeface="Cambria Math" panose="02040503050406030204" pitchFamily="18" charset="0"/>
                                        </a:rPr>
                                        <m:t>𝑢</m:t>
                                      </m:r>
                                    </m:e>
                                    <m:sub>
                                      <m:r>
                                        <m:rPr>
                                          <m:nor/>
                                        </m:rPr>
                                        <a:rPr lang="en-US" sz="1600" baseline="-25000">
                                          <a:latin typeface="Cambria Math" panose="02040503050406030204" pitchFamily="18" charset="0"/>
                                        </a:rPr>
                                        <m:t>PINN</m:t>
                                      </m:r>
                                    </m:sub>
                                  </m:sSub>
                                </m:num>
                                <m:den>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𝑥</m:t>
                                      </m:r>
                                    </m:e>
                                    <m:sup>
                                      <m:r>
                                        <a:rPr lang="en-US" sz="1600" i="1">
                                          <a:latin typeface="Cambria Math" panose="02040503050406030204" pitchFamily="18" charset="0"/>
                                        </a:rPr>
                                        <m:t>2</m:t>
                                      </m:r>
                                    </m:sup>
                                  </m:sSup>
                                </m:den>
                              </m:f>
                            </m:e>
                          </m:d>
                        </m:e>
                        <m:sub>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𝑘</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𝑡</m:t>
                              </m:r>
                            </m:e>
                            <m:sub>
                              <m:r>
                                <a:rPr lang="en-US" sz="1600" i="1">
                                  <a:latin typeface="Cambria Math" panose="02040503050406030204" pitchFamily="18" charset="0"/>
                                </a:rPr>
                                <m:t>𝑘</m:t>
                              </m:r>
                            </m:sub>
                          </m:sSub>
                        </m:sub>
                        <m:sup>
                          <m:r>
                            <a:rPr lang="en-US" sz="1600" i="1">
                              <a:latin typeface="Cambria Math" panose="02040503050406030204" pitchFamily="18" charset="0"/>
                            </a:rPr>
                            <m:t>2</m:t>
                          </m:r>
                        </m:sup>
                      </m:sSubSup>
                    </m:oMath>
                  </m:oMathPara>
                </a14:m>
                <a:endParaRPr lang="en-PK" sz="1600" dirty="0"/>
              </a:p>
            </p:txBody>
          </p:sp>
        </mc:Choice>
        <mc:Fallback>
          <p:sp>
            <p:nvSpPr>
              <p:cNvPr id="14" name="TextBox 13">
                <a:extLst>
                  <a:ext uri="{FF2B5EF4-FFF2-40B4-BE49-F238E27FC236}">
                    <a16:creationId xmlns:a16="http://schemas.microsoft.com/office/drawing/2014/main" id="{723C4D27-F85D-CAD1-8933-716CE1BE3EC1}"/>
                  </a:ext>
                </a:extLst>
              </p:cNvPr>
              <p:cNvSpPr txBox="1">
                <a:spLocks noRot="1" noChangeAspect="1" noMove="1" noResize="1" noEditPoints="1" noAdjustHandles="1" noChangeArrowheads="1" noChangeShapeType="1" noTextEdit="1"/>
              </p:cNvSpPr>
              <p:nvPr/>
            </p:nvSpPr>
            <p:spPr>
              <a:xfrm>
                <a:off x="444500" y="5020088"/>
                <a:ext cx="10753328" cy="668773"/>
              </a:xfrm>
              <a:prstGeom prst="rect">
                <a:avLst/>
              </a:prstGeom>
              <a:blipFill>
                <a:blip r:embed="rId3"/>
                <a:stretch>
                  <a:fillRect/>
                </a:stretch>
              </a:blipFill>
            </p:spPr>
            <p:txBody>
              <a:bodyPr/>
              <a:lstStyle/>
              <a:p>
                <a:r>
                  <a:rPr lang="en-PK">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1F6CAC33-D9CD-A74C-5AC1-A6B2B1C66C65}"/>
                  </a:ext>
                </a:extLst>
              </p:cNvPr>
              <p:cNvSpPr txBox="1"/>
              <p:nvPr/>
            </p:nvSpPr>
            <p:spPr>
              <a:xfrm>
                <a:off x="4880073" y="1868311"/>
                <a:ext cx="1882182" cy="55579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𝑢</m:t>
                          </m:r>
                        </m:num>
                        <m:den>
                          <m:r>
                            <a:rPr lang="en-US" i="1">
                              <a:latin typeface="Cambria Math" panose="02040503050406030204" pitchFamily="18" charset="0"/>
                            </a:rPr>
                            <m:t>𝜕</m:t>
                          </m:r>
                          <m:r>
                            <a:rPr lang="en-US" i="1">
                              <a:latin typeface="Cambria Math" panose="02040503050406030204" pitchFamily="18" charset="0"/>
                            </a:rPr>
                            <m:t>𝑡</m:t>
                          </m:r>
                        </m:den>
                      </m:f>
                      <m:r>
                        <a:rPr lang="en-US" i="1">
                          <a:latin typeface="Cambria Math" panose="02040503050406030204" pitchFamily="18" charset="0"/>
                        </a:rPr>
                        <m:t>+</m:t>
                      </m:r>
                      <m:r>
                        <a:rPr lang="en-US" i="1">
                          <a:latin typeface="Cambria Math" panose="02040503050406030204" pitchFamily="18" charset="0"/>
                        </a:rPr>
                        <m:t>𝑢</m:t>
                      </m:r>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𝑢</m:t>
                          </m:r>
                        </m:num>
                        <m:den>
                          <m:r>
                            <a:rPr lang="en-US" i="1">
                              <a:latin typeface="Cambria Math" panose="02040503050406030204" pitchFamily="18" charset="0"/>
                            </a:rPr>
                            <m:t>𝜕</m:t>
                          </m:r>
                          <m:r>
                            <a:rPr lang="en-US" i="1">
                              <a:latin typeface="Cambria Math" panose="02040503050406030204" pitchFamily="18" charset="0"/>
                            </a:rPr>
                            <m:t>𝑥</m:t>
                          </m:r>
                        </m:den>
                      </m:f>
                      <m:r>
                        <a:rPr lang="en-US" i="1">
                          <a:latin typeface="Cambria Math" panose="02040503050406030204" pitchFamily="18" charset="0"/>
                        </a:rPr>
                        <m:t>=</m:t>
                      </m:r>
                      <m:r>
                        <a:rPr lang="en-US" i="1">
                          <a:latin typeface="Cambria Math" panose="02040503050406030204" pitchFamily="18" charset="0"/>
                        </a:rPr>
                        <m:t>𝜈</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m:t>
                              </m:r>
                            </m:e>
                            <m:sup>
                              <m:r>
                                <a:rPr lang="en-US" i="1">
                                  <a:latin typeface="Cambria Math" panose="02040503050406030204" pitchFamily="18" charset="0"/>
                                </a:rPr>
                                <m:t>2</m:t>
                              </m:r>
                            </m:sup>
                          </m:sSup>
                          <m:r>
                            <a:rPr lang="en-US" i="1">
                              <a:latin typeface="Cambria Math" panose="02040503050406030204" pitchFamily="18" charset="0"/>
                            </a:rPr>
                            <m:t>𝑢</m:t>
                          </m:r>
                        </m:num>
                        <m:den>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den>
                      </m:f>
                    </m:oMath>
                  </m:oMathPara>
                </a14:m>
                <a:endParaRPr lang="en-PK" dirty="0"/>
              </a:p>
            </p:txBody>
          </p:sp>
        </mc:Choice>
        <mc:Fallback>
          <p:sp>
            <p:nvSpPr>
              <p:cNvPr id="3" name="TextBox 2">
                <a:extLst>
                  <a:ext uri="{FF2B5EF4-FFF2-40B4-BE49-F238E27FC236}">
                    <a16:creationId xmlns:a16="http://schemas.microsoft.com/office/drawing/2014/main" id="{1F6CAC33-D9CD-A74C-5AC1-A6B2B1C66C65}"/>
                  </a:ext>
                </a:extLst>
              </p:cNvPr>
              <p:cNvSpPr txBox="1">
                <a:spLocks noRot="1" noChangeAspect="1" noMove="1" noResize="1" noEditPoints="1" noAdjustHandles="1" noChangeArrowheads="1" noChangeShapeType="1" noTextEdit="1"/>
              </p:cNvSpPr>
              <p:nvPr/>
            </p:nvSpPr>
            <p:spPr>
              <a:xfrm>
                <a:off x="4880073" y="1868311"/>
                <a:ext cx="1882182" cy="555793"/>
              </a:xfrm>
              <a:prstGeom prst="rect">
                <a:avLst/>
              </a:prstGeom>
              <a:blipFill>
                <a:blip r:embed="rId4"/>
                <a:stretch>
                  <a:fillRect/>
                </a:stretch>
              </a:blipFill>
            </p:spPr>
            <p:txBody>
              <a:bodyPr/>
              <a:lstStyle/>
              <a:p>
                <a:r>
                  <a:rPr lang="en-PK">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71CA2201-B5CE-4E3D-BCC4-508B0428918D}"/>
                  </a:ext>
                </a:extLst>
              </p:cNvPr>
              <p:cNvSpPr txBox="1"/>
              <p:nvPr/>
            </p:nvSpPr>
            <p:spPr>
              <a:xfrm>
                <a:off x="5235366" y="3519311"/>
                <a:ext cx="2267362"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𝐮</m:t>
                          </m:r>
                        </m:e>
                        <m:sub>
                          <m:r>
                            <m:rPr>
                              <m:nor/>
                            </m:rPr>
                            <a:rPr lang="en-US" i="0" baseline="-25000" smtClean="0">
                              <a:latin typeface="Cambria Math" panose="02040503050406030204" pitchFamily="18" charset="0"/>
                            </a:rPr>
                            <m:t>𝐏𝐈𝐍𝐍</m:t>
                          </m:r>
                        </m:sub>
                      </m:sSub>
                      <m:d>
                        <m:dPr>
                          <m:ctrlPr>
                            <a:rPr lang="en-US" i="1" smtClean="0">
                              <a:latin typeface="Cambria Math" panose="02040503050406030204" pitchFamily="18" charset="0"/>
                            </a:rPr>
                          </m:ctrlPr>
                        </m:dPr>
                        <m:e>
                          <m:r>
                            <a:rPr lang="en-US" i="1" smtClean="0">
                              <a:latin typeface="Cambria Math" panose="02040503050406030204" pitchFamily="18" charset="0"/>
                            </a:rPr>
                            <m:t>𝐱</m:t>
                          </m:r>
                          <m:r>
                            <a:rPr lang="en-US" i="1" smtClean="0">
                              <a:latin typeface="Cambria Math" panose="02040503050406030204" pitchFamily="18" charset="0"/>
                            </a:rPr>
                            <m:t>,</m:t>
                          </m:r>
                          <m:r>
                            <a:rPr lang="en-US" i="1" smtClean="0">
                              <a:latin typeface="Cambria Math" panose="02040503050406030204" pitchFamily="18" charset="0"/>
                            </a:rPr>
                            <m:t>𝑡</m:t>
                          </m:r>
                        </m:e>
                      </m:d>
                      <m:r>
                        <a:rPr lang="en-US" i="1" smtClean="0">
                          <a:latin typeface="Cambria Math" panose="02040503050406030204" pitchFamily="18" charset="0"/>
                        </a:rPr>
                        <m:t>≈</m:t>
                      </m:r>
                      <m:r>
                        <a:rPr lang="en-US" i="1" smtClean="0">
                          <a:latin typeface="Cambria Math" panose="02040503050406030204" pitchFamily="18" charset="0"/>
                        </a:rPr>
                        <m:t>𝑢</m:t>
                      </m:r>
                      <m:d>
                        <m:dPr>
                          <m:ctrlPr>
                            <a:rPr lang="en-US" i="1" smtClean="0">
                              <a:latin typeface="Cambria Math" panose="02040503050406030204" pitchFamily="18" charset="0"/>
                            </a:rPr>
                          </m:ctrlPr>
                        </m:dPr>
                        <m:e>
                          <m:r>
                            <a:rPr lang="en-US" i="1" smtClean="0">
                              <a:latin typeface="Cambria Math" panose="02040503050406030204" pitchFamily="18" charset="0"/>
                            </a:rPr>
                            <m:t>𝐱</m:t>
                          </m:r>
                          <m:r>
                            <a:rPr lang="en-US" i="1" smtClean="0">
                              <a:latin typeface="Cambria Math" panose="02040503050406030204" pitchFamily="18" charset="0"/>
                            </a:rPr>
                            <m:t>,</m:t>
                          </m:r>
                          <m:r>
                            <a:rPr lang="en-US" i="1" smtClean="0">
                              <a:latin typeface="Cambria Math" panose="02040503050406030204" pitchFamily="18" charset="0"/>
                            </a:rPr>
                            <m:t>𝑡</m:t>
                          </m:r>
                        </m:e>
                      </m:d>
                    </m:oMath>
                  </m:oMathPara>
                </a14:m>
                <a:endParaRPr lang="en-PK" dirty="0"/>
              </a:p>
            </p:txBody>
          </p:sp>
        </mc:Choice>
        <mc:Fallback>
          <p:sp>
            <p:nvSpPr>
              <p:cNvPr id="13" name="TextBox 12">
                <a:extLst>
                  <a:ext uri="{FF2B5EF4-FFF2-40B4-BE49-F238E27FC236}">
                    <a16:creationId xmlns:a16="http://schemas.microsoft.com/office/drawing/2014/main" id="{71CA2201-B5CE-4E3D-BCC4-508B0428918D}"/>
                  </a:ext>
                </a:extLst>
              </p:cNvPr>
              <p:cNvSpPr txBox="1">
                <a:spLocks noRot="1" noChangeAspect="1" noMove="1" noResize="1" noEditPoints="1" noAdjustHandles="1" noChangeArrowheads="1" noChangeShapeType="1" noTextEdit="1"/>
              </p:cNvSpPr>
              <p:nvPr/>
            </p:nvSpPr>
            <p:spPr>
              <a:xfrm>
                <a:off x="5235366" y="3519311"/>
                <a:ext cx="2267362" cy="276999"/>
              </a:xfrm>
              <a:prstGeom prst="rect">
                <a:avLst/>
              </a:prstGeom>
              <a:blipFill>
                <a:blip r:embed="rId5"/>
                <a:stretch>
                  <a:fillRect b="-30435"/>
                </a:stretch>
              </a:blipFill>
            </p:spPr>
            <p:txBody>
              <a:bodyPr/>
              <a:lstStyle/>
              <a:p>
                <a:r>
                  <a:rPr lang="en-PK">
                    <a:noFill/>
                  </a:rPr>
                  <a:t> </a:t>
                </a:r>
              </a:p>
            </p:txBody>
          </p:sp>
        </mc:Fallback>
      </mc:AlternateContent>
    </p:spTree>
    <p:extLst>
      <p:ext uri="{BB962C8B-B14F-4D97-AF65-F5344CB8AC3E}">
        <p14:creationId xmlns:p14="http://schemas.microsoft.com/office/powerpoint/2010/main" val="2658331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C511B-B7C0-D388-FF30-E003E135C7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6ABAB-794E-2DB3-5685-F29B43B75C6A}"/>
              </a:ext>
            </a:extLst>
          </p:cNvPr>
          <p:cNvSpPr>
            <a:spLocks noGrp="1"/>
          </p:cNvSpPr>
          <p:nvPr>
            <p:ph type="title"/>
          </p:nvPr>
        </p:nvSpPr>
        <p:spPr>
          <a:xfrm>
            <a:off x="444500" y="412137"/>
            <a:ext cx="9146972" cy="640080"/>
          </a:xfrm>
        </p:spPr>
        <p:txBody>
          <a:bodyPr>
            <a:normAutofit/>
          </a:bodyPr>
          <a:lstStyle/>
          <a:p>
            <a:r>
              <a:rPr lang="en-US" sz="4000" b="1" dirty="0">
                <a:solidFill>
                  <a:srgbClr val="002060"/>
                </a:solidFill>
                <a:latin typeface="Segoe UI Semibold" panose="020B0502040204020203" pitchFamily="34" charset="0"/>
                <a:cs typeface="Segoe UI Semibold" panose="020B0502040204020203" pitchFamily="34" charset="0"/>
              </a:rPr>
              <a:t>Introduction</a:t>
            </a:r>
          </a:p>
        </p:txBody>
      </p:sp>
      <p:sp>
        <p:nvSpPr>
          <p:cNvPr id="6" name="TextBox 5">
            <a:extLst>
              <a:ext uri="{FF2B5EF4-FFF2-40B4-BE49-F238E27FC236}">
                <a16:creationId xmlns:a16="http://schemas.microsoft.com/office/drawing/2014/main" id="{4E9919F9-2C3B-B3D8-B50B-9A46C86BFFE1}"/>
              </a:ext>
            </a:extLst>
          </p:cNvPr>
          <p:cNvSpPr txBox="1"/>
          <p:nvPr/>
        </p:nvSpPr>
        <p:spPr>
          <a:xfrm>
            <a:off x="444500" y="1169139"/>
            <a:ext cx="11156473" cy="615553"/>
          </a:xfrm>
          <a:prstGeom prst="rect">
            <a:avLst/>
          </a:prstGeom>
          <a:noFill/>
        </p:spPr>
        <p:txBody>
          <a:bodyPr wrap="square" rtlCol="0">
            <a:spAutoFit/>
          </a:bodyPr>
          <a:lstStyle/>
          <a:p>
            <a:pPr marL="0" lvl="1"/>
            <a:r>
              <a:rPr lang="en-US" sz="2400" dirty="0">
                <a:solidFill>
                  <a:srgbClr val="D24726"/>
                </a:solidFill>
              </a:rPr>
              <a:t>1D-Burger’s Equation </a:t>
            </a:r>
            <a:r>
              <a:rPr lang="en-US" i="1" dirty="0">
                <a:solidFill>
                  <a:srgbClr val="D24726"/>
                </a:solidFill>
              </a:rPr>
              <a:t>(PINNs training Script)</a:t>
            </a:r>
            <a:br>
              <a:rPr lang="en-US" sz="1000" dirty="0"/>
            </a:br>
            <a:endParaRPr lang="en-US" sz="1000" dirty="0">
              <a:solidFill>
                <a:srgbClr val="D24726"/>
              </a:solidFill>
            </a:endParaRPr>
          </a:p>
        </p:txBody>
      </p:sp>
      <p:sp>
        <p:nvSpPr>
          <p:cNvPr id="5" name="Rectangle 3">
            <a:extLst>
              <a:ext uri="{FF2B5EF4-FFF2-40B4-BE49-F238E27FC236}">
                <a16:creationId xmlns:a16="http://schemas.microsoft.com/office/drawing/2014/main" id="{B9FE4109-AEF8-64C6-5967-9E078053E997}"/>
              </a:ext>
            </a:extLst>
          </p:cNvPr>
          <p:cNvSpPr>
            <a:spLocks noChangeArrowheads="1"/>
          </p:cNvSpPr>
          <p:nvPr/>
        </p:nvSpPr>
        <p:spPr bwMode="auto">
          <a:xfrm>
            <a:off x="139148" y="119749"/>
            <a:ext cx="213520"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800" b="0" i="0" u="none" strike="noStrike" cap="none" normalizeH="0" baseline="0" dirty="0">
                <a:ln>
                  <a:noFill/>
                </a:ln>
                <a:solidFill>
                  <a:schemeClr val="tx1"/>
                </a:solidFill>
                <a:effectLst/>
              </a:rPr>
              <a:t> </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9FD16162-63F4-5636-353D-2EC93E91D981}"/>
              </a:ext>
            </a:extLst>
          </p:cNvPr>
          <p:cNvSpPr txBox="1"/>
          <p:nvPr/>
        </p:nvSpPr>
        <p:spPr>
          <a:xfrm>
            <a:off x="444500" y="1710803"/>
            <a:ext cx="6240732" cy="3816429"/>
          </a:xfrm>
          <a:prstGeom prst="rect">
            <a:avLst/>
          </a:prstGeom>
          <a:solidFill>
            <a:schemeClr val="bg1">
              <a:lumMod val="85000"/>
            </a:schemeClr>
          </a:solidFill>
        </p:spPr>
        <p:txBody>
          <a:bodyPr wrap="square">
            <a:spAutoFit/>
          </a:bodyPr>
          <a:lstStyle/>
          <a:p>
            <a:pPr algn="l">
              <a:buNone/>
            </a:pP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import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os</a:t>
            </a:r>
          </a:p>
          <a:p>
            <a:pPr algn="l">
              <a:buNone/>
            </a:pP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import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p>
          <a:p>
            <a:pPr algn="l">
              <a:buNone/>
            </a:pP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import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torch.nn </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as</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nn</a:t>
            </a:r>
          </a:p>
          <a:p>
            <a:pPr algn="l">
              <a:buNone/>
            </a:pP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import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numpy </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as</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np</a:t>
            </a: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 --- Device (GPU if available) ---</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device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device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"cuda"</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if</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cuda</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is_available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else</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"cpu"</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print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"Using device:"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device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 --- Define the neural network ---</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class</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PINN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nn</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Module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def</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__init__</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self</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super</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PINN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self</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__init__</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self</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net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nn</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Sequential</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nn</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Linear</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2</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30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nn</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Tanh</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nn</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Linear</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30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30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nn</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Tanh</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nn</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Linear</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30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def</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forward</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self</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x</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X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cat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dim</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return</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self</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net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9" name="Rectangle: Rounded Corners 8">
            <a:extLst>
              <a:ext uri="{FF2B5EF4-FFF2-40B4-BE49-F238E27FC236}">
                <a16:creationId xmlns:a16="http://schemas.microsoft.com/office/drawing/2014/main" id="{96A75642-06CF-A533-8E5A-A8E6085B39B6}"/>
              </a:ext>
            </a:extLst>
          </p:cNvPr>
          <p:cNvSpPr/>
          <p:nvPr/>
        </p:nvSpPr>
        <p:spPr>
          <a:xfrm>
            <a:off x="7347474" y="1710803"/>
            <a:ext cx="4163208" cy="6155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1# Import necessary libraries </a:t>
            </a:r>
            <a:endParaRPr lang="en-PK" dirty="0"/>
          </a:p>
        </p:txBody>
      </p:sp>
      <p:sp>
        <p:nvSpPr>
          <p:cNvPr id="13" name="Rectangle: Rounded Corners 12">
            <a:extLst>
              <a:ext uri="{FF2B5EF4-FFF2-40B4-BE49-F238E27FC236}">
                <a16:creationId xmlns:a16="http://schemas.microsoft.com/office/drawing/2014/main" id="{85C06A80-5A74-70F0-5568-0B2C5A271185}"/>
              </a:ext>
            </a:extLst>
          </p:cNvPr>
          <p:cNvSpPr/>
          <p:nvPr/>
        </p:nvSpPr>
        <p:spPr>
          <a:xfrm>
            <a:off x="7347474" y="3311240"/>
            <a:ext cx="4163208" cy="615553"/>
          </a:xfrm>
          <a:prstGeom prst="roundRect">
            <a:avLst/>
          </a:prstGeom>
          <a:solidFill>
            <a:schemeClr val="accent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2# Define Your Neural Network</a:t>
            </a:r>
            <a:endParaRPr lang="en-PK" dirty="0"/>
          </a:p>
        </p:txBody>
      </p:sp>
    </p:spTree>
    <p:extLst>
      <p:ext uri="{BB962C8B-B14F-4D97-AF65-F5344CB8AC3E}">
        <p14:creationId xmlns:p14="http://schemas.microsoft.com/office/powerpoint/2010/main" val="10355821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A93CD-65EA-CE7F-63E6-F51F3F1599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81E53A-D358-4EA8-2A73-4147BC414C75}"/>
              </a:ext>
            </a:extLst>
          </p:cNvPr>
          <p:cNvSpPr>
            <a:spLocks noGrp="1"/>
          </p:cNvSpPr>
          <p:nvPr>
            <p:ph type="title"/>
          </p:nvPr>
        </p:nvSpPr>
        <p:spPr>
          <a:xfrm>
            <a:off x="444500" y="412137"/>
            <a:ext cx="9146972" cy="640080"/>
          </a:xfrm>
        </p:spPr>
        <p:txBody>
          <a:bodyPr>
            <a:normAutofit/>
          </a:bodyPr>
          <a:lstStyle/>
          <a:p>
            <a:r>
              <a:rPr lang="en-US" sz="4000" b="1" dirty="0">
                <a:solidFill>
                  <a:srgbClr val="002060"/>
                </a:solidFill>
                <a:latin typeface="Segoe UI Semibold" panose="020B0502040204020203" pitchFamily="34" charset="0"/>
                <a:cs typeface="Segoe UI Semibold" panose="020B0502040204020203" pitchFamily="34" charset="0"/>
              </a:rPr>
              <a:t>Introduction</a:t>
            </a:r>
          </a:p>
        </p:txBody>
      </p:sp>
      <p:sp>
        <p:nvSpPr>
          <p:cNvPr id="6" name="TextBox 5">
            <a:extLst>
              <a:ext uri="{FF2B5EF4-FFF2-40B4-BE49-F238E27FC236}">
                <a16:creationId xmlns:a16="http://schemas.microsoft.com/office/drawing/2014/main" id="{CD8BEBA5-DCA5-4413-E3E8-DDB59AB0B9A7}"/>
              </a:ext>
            </a:extLst>
          </p:cNvPr>
          <p:cNvSpPr txBox="1"/>
          <p:nvPr/>
        </p:nvSpPr>
        <p:spPr>
          <a:xfrm>
            <a:off x="444500" y="1169139"/>
            <a:ext cx="11156473" cy="615553"/>
          </a:xfrm>
          <a:prstGeom prst="rect">
            <a:avLst/>
          </a:prstGeom>
          <a:noFill/>
        </p:spPr>
        <p:txBody>
          <a:bodyPr wrap="square" rtlCol="0">
            <a:spAutoFit/>
          </a:bodyPr>
          <a:lstStyle/>
          <a:p>
            <a:pPr marL="0" lvl="1"/>
            <a:r>
              <a:rPr lang="en-US" sz="2400" dirty="0">
                <a:solidFill>
                  <a:srgbClr val="D24726"/>
                </a:solidFill>
              </a:rPr>
              <a:t>1D-Burger’s Equation </a:t>
            </a:r>
            <a:r>
              <a:rPr lang="en-US" i="1" dirty="0">
                <a:solidFill>
                  <a:srgbClr val="D24726"/>
                </a:solidFill>
              </a:rPr>
              <a:t>(PINNs training Script)</a:t>
            </a:r>
            <a:br>
              <a:rPr lang="en-US" sz="1000" dirty="0"/>
            </a:br>
            <a:endParaRPr lang="en-US" sz="1000" dirty="0">
              <a:solidFill>
                <a:srgbClr val="D24726"/>
              </a:solidFill>
            </a:endParaRPr>
          </a:p>
        </p:txBody>
      </p:sp>
      <p:sp>
        <p:nvSpPr>
          <p:cNvPr id="5" name="Rectangle 3">
            <a:extLst>
              <a:ext uri="{FF2B5EF4-FFF2-40B4-BE49-F238E27FC236}">
                <a16:creationId xmlns:a16="http://schemas.microsoft.com/office/drawing/2014/main" id="{394B773F-9315-9C8B-778C-97847670E91C}"/>
              </a:ext>
            </a:extLst>
          </p:cNvPr>
          <p:cNvSpPr>
            <a:spLocks noChangeArrowheads="1"/>
          </p:cNvSpPr>
          <p:nvPr/>
        </p:nvSpPr>
        <p:spPr bwMode="auto">
          <a:xfrm>
            <a:off x="139148" y="119749"/>
            <a:ext cx="213520"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800" b="0" i="0" u="none" strike="noStrike" cap="none" normalizeH="0" baseline="0" dirty="0">
                <a:ln>
                  <a:noFill/>
                </a:ln>
                <a:solidFill>
                  <a:schemeClr val="tx1"/>
                </a:solidFill>
                <a:effectLst/>
              </a:rPr>
              <a:t> </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9F3FAA19-78C0-056F-DAE3-DFA8EAEA1B70}"/>
              </a:ext>
            </a:extLst>
          </p:cNvPr>
          <p:cNvSpPr txBox="1"/>
          <p:nvPr/>
        </p:nvSpPr>
        <p:spPr>
          <a:xfrm>
            <a:off x="444500" y="1710803"/>
            <a:ext cx="6240732" cy="3477875"/>
          </a:xfrm>
          <a:prstGeom prst="rect">
            <a:avLst/>
          </a:prstGeom>
          <a:solidFill>
            <a:schemeClr val="bg1">
              <a:lumMod val="85000"/>
            </a:schemeClr>
          </a:solidFill>
        </p:spPr>
        <p:txBody>
          <a:bodyPr wrap="square">
            <a:spAutoFit/>
          </a:bodyPr>
          <a:lstStyle/>
          <a:p>
            <a:pPr algn="l">
              <a:buNone/>
            </a:pPr>
            <a:br>
              <a:rPr lang="en-US" sz="1100" b="0" i="1" dirty="0">
                <a:solidFill>
                  <a:srgbClr val="408080"/>
                </a:solidFill>
                <a:effectLst/>
                <a:latin typeface="inherit"/>
              </a:rPr>
            </a:b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 --- Initialize model and constants ---</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model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PINN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to</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device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l-GR"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ν </a:t>
            </a:r>
            <a:r>
              <a:rPr lang="el-GR"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l-GR"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l-GR"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0.01</a:t>
            </a:r>
            <a:r>
              <a:rPr lang="el-GR"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l-GR"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l-GR"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np</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pi  </a:t>
            </a: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 viscosity constant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 --- Physics Loss ---</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def</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physics_loss</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model</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autograd</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grad</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ones_like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create_graph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True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retain_graph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True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u_x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autograd</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grad</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x</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ones_like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create_graph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True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retain_graph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True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u_xx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autograd</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grad</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u_x</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x</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ones_like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u_x</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create_graph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True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retain_graph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True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f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u_x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l-GR"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ν </a:t>
            </a:r>
            <a:r>
              <a:rPr lang="el-GR"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l-GR"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u_xx</a:t>
            </a: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return</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mean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f</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2</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buNone/>
            </a:pPr>
            <a:br>
              <a:rPr lang="en-US" sz="1100" dirty="0"/>
            </a:b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9" name="Rectangle: Rounded Corners 8">
            <a:extLst>
              <a:ext uri="{FF2B5EF4-FFF2-40B4-BE49-F238E27FC236}">
                <a16:creationId xmlns:a16="http://schemas.microsoft.com/office/drawing/2014/main" id="{B33C7542-8253-C788-A8B5-6811DE2AD63C}"/>
              </a:ext>
            </a:extLst>
          </p:cNvPr>
          <p:cNvSpPr/>
          <p:nvPr/>
        </p:nvSpPr>
        <p:spPr>
          <a:xfrm>
            <a:off x="6951133" y="1710803"/>
            <a:ext cx="5020734" cy="6155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3# Initialize model and define constants </a:t>
            </a:r>
            <a:endParaRPr lang="en-PK" dirty="0"/>
          </a:p>
        </p:txBody>
      </p:sp>
      <p:sp>
        <p:nvSpPr>
          <p:cNvPr id="13" name="Rectangle: Rounded Corners 12">
            <a:extLst>
              <a:ext uri="{FF2B5EF4-FFF2-40B4-BE49-F238E27FC236}">
                <a16:creationId xmlns:a16="http://schemas.microsoft.com/office/drawing/2014/main" id="{53E00C1F-945B-35F6-D171-0C23997480D1}"/>
              </a:ext>
            </a:extLst>
          </p:cNvPr>
          <p:cNvSpPr/>
          <p:nvPr/>
        </p:nvSpPr>
        <p:spPr>
          <a:xfrm>
            <a:off x="6951133" y="3429000"/>
            <a:ext cx="5020734" cy="615553"/>
          </a:xfrm>
          <a:prstGeom prst="roundRect">
            <a:avLst/>
          </a:prstGeom>
          <a:solidFill>
            <a:schemeClr val="accent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4# Define Physics loss (Residual of PDE) </a:t>
            </a:r>
            <a:endParaRPr lang="en-PK" dirty="0"/>
          </a:p>
        </p:txBody>
      </p:sp>
    </p:spTree>
    <p:extLst>
      <p:ext uri="{BB962C8B-B14F-4D97-AF65-F5344CB8AC3E}">
        <p14:creationId xmlns:p14="http://schemas.microsoft.com/office/powerpoint/2010/main" val="19483448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A0CC5-E743-D916-C5F0-EB59B2597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0ACF06-3350-98F9-AF67-8F5121F6EAF7}"/>
              </a:ext>
            </a:extLst>
          </p:cNvPr>
          <p:cNvSpPr>
            <a:spLocks noGrp="1"/>
          </p:cNvSpPr>
          <p:nvPr>
            <p:ph type="title"/>
          </p:nvPr>
        </p:nvSpPr>
        <p:spPr>
          <a:xfrm>
            <a:off x="444500" y="412137"/>
            <a:ext cx="9146972" cy="640080"/>
          </a:xfrm>
        </p:spPr>
        <p:txBody>
          <a:bodyPr>
            <a:normAutofit/>
          </a:bodyPr>
          <a:lstStyle/>
          <a:p>
            <a:r>
              <a:rPr lang="en-US" sz="4000" b="1" dirty="0">
                <a:solidFill>
                  <a:srgbClr val="002060"/>
                </a:solidFill>
                <a:latin typeface="Segoe UI Semibold" panose="020B0502040204020203" pitchFamily="34" charset="0"/>
                <a:cs typeface="Segoe UI Semibold" panose="020B0502040204020203" pitchFamily="34" charset="0"/>
              </a:rPr>
              <a:t>Introduction</a:t>
            </a:r>
          </a:p>
        </p:txBody>
      </p:sp>
      <p:sp>
        <p:nvSpPr>
          <p:cNvPr id="6" name="TextBox 5">
            <a:extLst>
              <a:ext uri="{FF2B5EF4-FFF2-40B4-BE49-F238E27FC236}">
                <a16:creationId xmlns:a16="http://schemas.microsoft.com/office/drawing/2014/main" id="{C7FC6936-4089-58E2-89AA-7E6A519CD0DE}"/>
              </a:ext>
            </a:extLst>
          </p:cNvPr>
          <p:cNvSpPr txBox="1"/>
          <p:nvPr/>
        </p:nvSpPr>
        <p:spPr>
          <a:xfrm>
            <a:off x="444500" y="1169139"/>
            <a:ext cx="11156473" cy="615553"/>
          </a:xfrm>
          <a:prstGeom prst="rect">
            <a:avLst/>
          </a:prstGeom>
          <a:noFill/>
        </p:spPr>
        <p:txBody>
          <a:bodyPr wrap="square" rtlCol="0">
            <a:spAutoFit/>
          </a:bodyPr>
          <a:lstStyle/>
          <a:p>
            <a:pPr marL="0" lvl="1"/>
            <a:r>
              <a:rPr lang="en-US" sz="2400" dirty="0">
                <a:solidFill>
                  <a:srgbClr val="D24726"/>
                </a:solidFill>
              </a:rPr>
              <a:t>1D-Burger’s Equation </a:t>
            </a:r>
            <a:r>
              <a:rPr lang="en-US" i="1" dirty="0">
                <a:solidFill>
                  <a:srgbClr val="D24726"/>
                </a:solidFill>
              </a:rPr>
              <a:t>(PINNs training Script)</a:t>
            </a:r>
            <a:br>
              <a:rPr lang="en-US" sz="1000" dirty="0"/>
            </a:br>
            <a:endParaRPr lang="en-US" sz="1000" dirty="0">
              <a:solidFill>
                <a:srgbClr val="D24726"/>
              </a:solidFill>
            </a:endParaRPr>
          </a:p>
        </p:txBody>
      </p:sp>
      <p:sp>
        <p:nvSpPr>
          <p:cNvPr id="5" name="Rectangle 3">
            <a:extLst>
              <a:ext uri="{FF2B5EF4-FFF2-40B4-BE49-F238E27FC236}">
                <a16:creationId xmlns:a16="http://schemas.microsoft.com/office/drawing/2014/main" id="{C8BC6CA4-02D8-77CF-9EDD-6B9F635C3E7F}"/>
              </a:ext>
            </a:extLst>
          </p:cNvPr>
          <p:cNvSpPr>
            <a:spLocks noChangeArrowheads="1"/>
          </p:cNvSpPr>
          <p:nvPr/>
        </p:nvSpPr>
        <p:spPr bwMode="auto">
          <a:xfrm>
            <a:off x="139148" y="119749"/>
            <a:ext cx="213520"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800" b="0" i="0" u="none" strike="noStrike" cap="none" normalizeH="0" baseline="0" dirty="0">
                <a:ln>
                  <a:noFill/>
                </a:ln>
                <a:solidFill>
                  <a:schemeClr val="tx1"/>
                </a:solidFill>
                <a:effectLst/>
              </a:rPr>
              <a:t> </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B308C924-4DD2-DC22-C822-FFED3151F7DF}"/>
              </a:ext>
            </a:extLst>
          </p:cNvPr>
          <p:cNvSpPr txBox="1"/>
          <p:nvPr/>
        </p:nvSpPr>
        <p:spPr>
          <a:xfrm>
            <a:off x="444500" y="1710803"/>
            <a:ext cx="6240732" cy="4324261"/>
          </a:xfrm>
          <a:prstGeom prst="rect">
            <a:avLst/>
          </a:prstGeom>
          <a:solidFill>
            <a:schemeClr val="bg1">
              <a:lumMod val="85000"/>
            </a:schemeClr>
          </a:solidFill>
        </p:spPr>
        <p:txBody>
          <a:bodyPr wrap="square">
            <a:spAutoFit/>
          </a:bodyPr>
          <a:lstStyle/>
          <a:p>
            <a:br>
              <a:rPr lang="en-US" sz="1100" b="0" i="1" dirty="0">
                <a:solidFill>
                  <a:srgbClr val="408080"/>
                </a:solidFill>
                <a:effectLst/>
                <a:latin typeface="inherit"/>
              </a:rPr>
            </a:b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i="1" dirty="0">
                <a:solidFill>
                  <a:srgbClr val="408080"/>
                </a:solidFill>
                <a:latin typeface="Cascadia Code" panose="020B0609020000020004" pitchFamily="49" charset="0"/>
                <a:ea typeface="Cascadia Code" panose="020B0609020000020004" pitchFamily="49" charset="0"/>
                <a:cs typeface="Cascadia Code" panose="020B0609020000020004" pitchFamily="49" charset="0"/>
              </a:rPr>
              <a:t> --- Initial and Boundary Conditions ---</a:t>
            </a:r>
          </a:p>
          <a:p>
            <a:endParaRPr lang="en-US" sz="1100" i="1" dirty="0">
              <a:solidFill>
                <a:srgbClr val="408080"/>
              </a:solidFill>
              <a:latin typeface="Cascadia Code" panose="020B0609020000020004" pitchFamily="49" charset="0"/>
              <a:ea typeface="Cascadia Code" panose="020B0609020000020004" pitchFamily="49" charset="0"/>
              <a:cs typeface="Cascadia Code" panose="020B0609020000020004" pitchFamily="49" charset="0"/>
            </a:endParaRPr>
          </a:p>
          <a:p>
            <a:r>
              <a:rPr lang="en-US" sz="1100" b="1" dirty="0">
                <a:solidFill>
                  <a:srgbClr val="008000"/>
                </a:solidFill>
                <a:latin typeface="Cascadia Code" panose="020B0609020000020004" pitchFamily="49" charset="0"/>
                <a:ea typeface="Cascadia Code" panose="020B0609020000020004" pitchFamily="49" charset="0"/>
                <a:cs typeface="Cascadia Code" panose="020B0609020000020004" pitchFamily="49" charset="0"/>
              </a:rPr>
              <a:t>def</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initial_condition</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x</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b="1" dirty="0">
                <a:solidFill>
                  <a:srgbClr val="008000"/>
                </a:solidFill>
                <a:latin typeface="Cascadia Code" panose="020B0609020000020004" pitchFamily="49" charset="0"/>
                <a:ea typeface="Cascadia Code" panose="020B0609020000020004" pitchFamily="49" charset="0"/>
                <a:cs typeface="Cascadia Code" panose="020B0609020000020004" pitchFamily="49" charset="0"/>
              </a:rPr>
              <a:t>return</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torch</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sin</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np</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pi </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x</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endParaRPr lang="en-US" sz="1100" i="1" dirty="0">
              <a:solidFill>
                <a:srgbClr val="408080"/>
              </a:solidFill>
              <a:latin typeface="Cascadia Code" panose="020B0609020000020004" pitchFamily="49" charset="0"/>
              <a:ea typeface="Cascadia Code" panose="020B0609020000020004" pitchFamily="49" charset="0"/>
              <a:cs typeface="Cascadia Code" panose="020B0609020000020004" pitchFamily="49" charset="0"/>
            </a:endParaRPr>
          </a:p>
          <a:p>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def</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loss_fn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x_ic</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t_ic</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x_bc</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t_bc</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x_f</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t_f</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 Initial condition</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u_ic_pred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model</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x_ic</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t_ic</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u_ic_true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initial_condition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x_ic</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loss_ic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mean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u_ic_pred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u_ic_true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2</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 Boundary condition (u=0)</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u_bc_pred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model</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x_bc</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t_bc</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loss_bc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mean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u_bc_pred</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2</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 PDE residual</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loss_pde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physics_loss</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x_f</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t_f</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return</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loss_ic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loss_bc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loss_pde</a:t>
            </a: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 --- Optimizer ---</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optimizer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optim</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Adam</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model</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parameters</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lr</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1e-3</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buNone/>
            </a:pPr>
            <a:br>
              <a:rPr lang="en-US" sz="1100" dirty="0">
                <a:latin typeface="Cascadia Code" panose="020B0609020000020004" pitchFamily="49" charset="0"/>
                <a:ea typeface="Cascadia Code" panose="020B0609020000020004" pitchFamily="49" charset="0"/>
                <a:cs typeface="Cascadia Code" panose="020B0609020000020004" pitchFamily="49" charset="0"/>
              </a:rPr>
            </a:b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9" name="Rectangle: Rounded Corners 8">
            <a:extLst>
              <a:ext uri="{FF2B5EF4-FFF2-40B4-BE49-F238E27FC236}">
                <a16:creationId xmlns:a16="http://schemas.microsoft.com/office/drawing/2014/main" id="{A7285798-2FAB-1FC1-5E85-FA2147280732}"/>
              </a:ext>
            </a:extLst>
          </p:cNvPr>
          <p:cNvSpPr/>
          <p:nvPr/>
        </p:nvSpPr>
        <p:spPr>
          <a:xfrm>
            <a:off x="6951133" y="1710803"/>
            <a:ext cx="5020734" cy="6155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5# Define Initial and boundary conditions </a:t>
            </a:r>
            <a:endParaRPr lang="en-PK" dirty="0"/>
          </a:p>
        </p:txBody>
      </p:sp>
      <p:sp>
        <p:nvSpPr>
          <p:cNvPr id="13" name="Rectangle: Rounded Corners 12">
            <a:extLst>
              <a:ext uri="{FF2B5EF4-FFF2-40B4-BE49-F238E27FC236}">
                <a16:creationId xmlns:a16="http://schemas.microsoft.com/office/drawing/2014/main" id="{45810AD5-6D84-A793-D46B-93DA7011B5CD}"/>
              </a:ext>
            </a:extLst>
          </p:cNvPr>
          <p:cNvSpPr/>
          <p:nvPr/>
        </p:nvSpPr>
        <p:spPr>
          <a:xfrm>
            <a:off x="6951133" y="3429000"/>
            <a:ext cx="5020734" cy="615553"/>
          </a:xfrm>
          <a:prstGeom prst="roundRect">
            <a:avLst/>
          </a:prstGeom>
          <a:solidFill>
            <a:schemeClr val="accent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6# Define Combined Loss function (loss_fn) </a:t>
            </a:r>
            <a:endParaRPr lang="en-PK" dirty="0"/>
          </a:p>
        </p:txBody>
      </p:sp>
      <p:sp>
        <p:nvSpPr>
          <p:cNvPr id="3" name="Rectangle: Rounded Corners 2">
            <a:extLst>
              <a:ext uri="{FF2B5EF4-FFF2-40B4-BE49-F238E27FC236}">
                <a16:creationId xmlns:a16="http://schemas.microsoft.com/office/drawing/2014/main" id="{F14EA0A5-8128-3D34-B6EE-4E8E987E4D0A}"/>
              </a:ext>
            </a:extLst>
          </p:cNvPr>
          <p:cNvSpPr/>
          <p:nvPr/>
        </p:nvSpPr>
        <p:spPr>
          <a:xfrm>
            <a:off x="6951133" y="4987403"/>
            <a:ext cx="5020734" cy="6155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7# Define Initial Conditions </a:t>
            </a:r>
            <a:endParaRPr lang="en-PK" dirty="0"/>
          </a:p>
        </p:txBody>
      </p:sp>
    </p:spTree>
    <p:extLst>
      <p:ext uri="{BB962C8B-B14F-4D97-AF65-F5344CB8AC3E}">
        <p14:creationId xmlns:p14="http://schemas.microsoft.com/office/powerpoint/2010/main" val="5596153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8AE1D-E20F-FEAB-E0C8-63FBF0ECE8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4F80CC-56BC-3F23-4159-B7F4D1963E4F}"/>
              </a:ext>
            </a:extLst>
          </p:cNvPr>
          <p:cNvSpPr>
            <a:spLocks noGrp="1"/>
          </p:cNvSpPr>
          <p:nvPr>
            <p:ph type="title"/>
          </p:nvPr>
        </p:nvSpPr>
        <p:spPr>
          <a:xfrm>
            <a:off x="444500" y="412137"/>
            <a:ext cx="9146972" cy="640080"/>
          </a:xfrm>
        </p:spPr>
        <p:txBody>
          <a:bodyPr>
            <a:normAutofit/>
          </a:bodyPr>
          <a:lstStyle/>
          <a:p>
            <a:r>
              <a:rPr lang="en-US" sz="4000" b="1" dirty="0">
                <a:solidFill>
                  <a:srgbClr val="002060"/>
                </a:solidFill>
                <a:latin typeface="Segoe UI Semibold" panose="020B0502040204020203" pitchFamily="34" charset="0"/>
                <a:cs typeface="Segoe UI Semibold" panose="020B0502040204020203" pitchFamily="34" charset="0"/>
              </a:rPr>
              <a:t>Introduction</a:t>
            </a:r>
          </a:p>
        </p:txBody>
      </p:sp>
      <p:sp>
        <p:nvSpPr>
          <p:cNvPr id="6" name="TextBox 5">
            <a:extLst>
              <a:ext uri="{FF2B5EF4-FFF2-40B4-BE49-F238E27FC236}">
                <a16:creationId xmlns:a16="http://schemas.microsoft.com/office/drawing/2014/main" id="{3A8998ED-516C-969B-D317-9A4F1432B35D}"/>
              </a:ext>
            </a:extLst>
          </p:cNvPr>
          <p:cNvSpPr txBox="1"/>
          <p:nvPr/>
        </p:nvSpPr>
        <p:spPr>
          <a:xfrm>
            <a:off x="444500" y="1169139"/>
            <a:ext cx="11156473" cy="615553"/>
          </a:xfrm>
          <a:prstGeom prst="rect">
            <a:avLst/>
          </a:prstGeom>
          <a:noFill/>
        </p:spPr>
        <p:txBody>
          <a:bodyPr wrap="square" rtlCol="0">
            <a:spAutoFit/>
          </a:bodyPr>
          <a:lstStyle/>
          <a:p>
            <a:pPr marL="0" lvl="1"/>
            <a:r>
              <a:rPr lang="en-US" sz="2400" dirty="0">
                <a:solidFill>
                  <a:srgbClr val="D24726"/>
                </a:solidFill>
              </a:rPr>
              <a:t>1D-Burger’s Equation</a:t>
            </a:r>
            <a:r>
              <a:rPr lang="en-US" sz="1000" i="1" dirty="0">
                <a:solidFill>
                  <a:srgbClr val="D24726"/>
                </a:solidFill>
              </a:rPr>
              <a:t> </a:t>
            </a:r>
            <a:r>
              <a:rPr lang="en-US" i="1" dirty="0">
                <a:solidFill>
                  <a:srgbClr val="D24726"/>
                </a:solidFill>
              </a:rPr>
              <a:t>(PINNs training Script)</a:t>
            </a:r>
            <a:br>
              <a:rPr lang="en-US" sz="1000" dirty="0"/>
            </a:br>
            <a:endParaRPr lang="en-US" sz="1000" dirty="0">
              <a:solidFill>
                <a:srgbClr val="D24726"/>
              </a:solidFill>
            </a:endParaRPr>
          </a:p>
        </p:txBody>
      </p:sp>
      <p:sp>
        <p:nvSpPr>
          <p:cNvPr id="5" name="Rectangle 3">
            <a:extLst>
              <a:ext uri="{FF2B5EF4-FFF2-40B4-BE49-F238E27FC236}">
                <a16:creationId xmlns:a16="http://schemas.microsoft.com/office/drawing/2014/main" id="{EA3C06FE-C335-7808-FE99-2A0D8E60BCBF}"/>
              </a:ext>
            </a:extLst>
          </p:cNvPr>
          <p:cNvSpPr>
            <a:spLocks noChangeArrowheads="1"/>
          </p:cNvSpPr>
          <p:nvPr/>
        </p:nvSpPr>
        <p:spPr bwMode="auto">
          <a:xfrm>
            <a:off x="139148" y="119749"/>
            <a:ext cx="213520"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800" b="0" i="0" u="none" strike="noStrike" cap="none" normalizeH="0" baseline="0" dirty="0">
                <a:ln>
                  <a:noFill/>
                </a:ln>
                <a:solidFill>
                  <a:schemeClr val="tx1"/>
                </a:solidFill>
                <a:effectLst/>
              </a:rPr>
              <a:t> </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428ADDDE-4114-F59C-D20E-9F57F1B47CC2}"/>
              </a:ext>
            </a:extLst>
          </p:cNvPr>
          <p:cNvSpPr txBox="1"/>
          <p:nvPr/>
        </p:nvSpPr>
        <p:spPr>
          <a:xfrm>
            <a:off x="444500" y="1710803"/>
            <a:ext cx="6240732" cy="4324261"/>
          </a:xfrm>
          <a:prstGeom prst="rect">
            <a:avLst/>
          </a:prstGeom>
          <a:solidFill>
            <a:schemeClr val="bg1">
              <a:lumMod val="85000"/>
            </a:schemeClr>
          </a:solidFill>
        </p:spPr>
        <p:txBody>
          <a:bodyPr wrap="square">
            <a:spAutoFit/>
          </a:bodyPr>
          <a:lstStyle/>
          <a:p>
            <a:pPr algn="l">
              <a:buNone/>
            </a:pP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 --- Checkpoint settings ---</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checkpoint_path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"pinn_checkpoint.pth"</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 change to a Google Drive path if you want persistence across Colab sessions</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def</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save_checkpoint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epoch</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save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"epoch"</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epoch</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"model_state_dict"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model</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state_dict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"optimizer_state_dict"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optimizer</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state_dict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checkpoint_path</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print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f"Checkpoint saved at epoch {</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epoch</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 -&gt; {</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checkpoint_path</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def</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load_checkpoint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if</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os</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path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exists</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checkpoint_path</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ckpt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load</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checkpoint_path</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map_location</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device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model</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load_state_dict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ckpt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"model_state_dict"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optimizer</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load_state_dict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ckpt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"optimizer_state_dict"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start_epoch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ckpt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get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"epoch"</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print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f"Loaded checkpoint from epoch {</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ckpt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get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'epoch'</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return</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start_epoch</a:t>
            </a: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else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print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"No checkpoint found, starting from scratch."</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return</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buNone/>
            </a:pPr>
            <a:br>
              <a:rPr lang="en-US" sz="1100" dirty="0"/>
            </a:b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9" name="Rectangle: Rounded Corners 8">
            <a:extLst>
              <a:ext uri="{FF2B5EF4-FFF2-40B4-BE49-F238E27FC236}">
                <a16:creationId xmlns:a16="http://schemas.microsoft.com/office/drawing/2014/main" id="{8CC9F146-AA42-8A19-E409-D187BE7B7740}"/>
              </a:ext>
            </a:extLst>
          </p:cNvPr>
          <p:cNvSpPr/>
          <p:nvPr/>
        </p:nvSpPr>
        <p:spPr>
          <a:xfrm>
            <a:off x="6807200" y="2168003"/>
            <a:ext cx="5020734" cy="6155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8#Define save_ and </a:t>
            </a:r>
            <a:r>
              <a:rPr lang="en-US" dirty="0" err="1"/>
              <a:t>load_checkpoint</a:t>
            </a:r>
            <a:r>
              <a:rPr lang="en-US" dirty="0"/>
              <a:t> functions  </a:t>
            </a:r>
            <a:endParaRPr lang="en-PK" dirty="0"/>
          </a:p>
        </p:txBody>
      </p:sp>
    </p:spTree>
    <p:extLst>
      <p:ext uri="{BB962C8B-B14F-4D97-AF65-F5344CB8AC3E}">
        <p14:creationId xmlns:p14="http://schemas.microsoft.com/office/powerpoint/2010/main" val="21414404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1B941-345B-3411-C346-8DFD202A22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992487-0883-6A02-4B54-C00D87B13D3A}"/>
              </a:ext>
            </a:extLst>
          </p:cNvPr>
          <p:cNvSpPr>
            <a:spLocks noGrp="1"/>
          </p:cNvSpPr>
          <p:nvPr>
            <p:ph type="title"/>
          </p:nvPr>
        </p:nvSpPr>
        <p:spPr>
          <a:xfrm>
            <a:off x="444500" y="412137"/>
            <a:ext cx="9146972" cy="640080"/>
          </a:xfrm>
        </p:spPr>
        <p:txBody>
          <a:bodyPr>
            <a:normAutofit/>
          </a:bodyPr>
          <a:lstStyle/>
          <a:p>
            <a:r>
              <a:rPr lang="en-US" sz="4000" b="1" dirty="0">
                <a:solidFill>
                  <a:srgbClr val="002060"/>
                </a:solidFill>
                <a:latin typeface="Segoe UI Semibold" panose="020B0502040204020203" pitchFamily="34" charset="0"/>
                <a:cs typeface="Segoe UI Semibold" panose="020B0502040204020203" pitchFamily="34" charset="0"/>
              </a:rPr>
              <a:t>Introduction</a:t>
            </a:r>
          </a:p>
        </p:txBody>
      </p:sp>
      <p:sp>
        <p:nvSpPr>
          <p:cNvPr id="6" name="TextBox 5">
            <a:extLst>
              <a:ext uri="{FF2B5EF4-FFF2-40B4-BE49-F238E27FC236}">
                <a16:creationId xmlns:a16="http://schemas.microsoft.com/office/drawing/2014/main" id="{05767DBB-6C04-EE6D-CD75-488BD86FF76A}"/>
              </a:ext>
            </a:extLst>
          </p:cNvPr>
          <p:cNvSpPr txBox="1"/>
          <p:nvPr/>
        </p:nvSpPr>
        <p:spPr>
          <a:xfrm>
            <a:off x="444500" y="1169139"/>
            <a:ext cx="11156473" cy="615553"/>
          </a:xfrm>
          <a:prstGeom prst="rect">
            <a:avLst/>
          </a:prstGeom>
          <a:noFill/>
        </p:spPr>
        <p:txBody>
          <a:bodyPr wrap="square" rtlCol="0">
            <a:spAutoFit/>
          </a:bodyPr>
          <a:lstStyle/>
          <a:p>
            <a:pPr marL="0" lvl="1"/>
            <a:r>
              <a:rPr lang="en-US" sz="2400" dirty="0">
                <a:solidFill>
                  <a:srgbClr val="D24726"/>
                </a:solidFill>
              </a:rPr>
              <a:t>1D-Burger’s Equation </a:t>
            </a:r>
            <a:r>
              <a:rPr lang="en-US" i="1" dirty="0">
                <a:solidFill>
                  <a:srgbClr val="D24726"/>
                </a:solidFill>
              </a:rPr>
              <a:t>(PINNs training Script)</a:t>
            </a:r>
            <a:br>
              <a:rPr lang="en-US" sz="1000" dirty="0"/>
            </a:br>
            <a:endParaRPr lang="en-US" sz="1000" dirty="0">
              <a:solidFill>
                <a:srgbClr val="D24726"/>
              </a:solidFill>
            </a:endParaRPr>
          </a:p>
        </p:txBody>
      </p:sp>
      <p:sp>
        <p:nvSpPr>
          <p:cNvPr id="5" name="Rectangle 3">
            <a:extLst>
              <a:ext uri="{FF2B5EF4-FFF2-40B4-BE49-F238E27FC236}">
                <a16:creationId xmlns:a16="http://schemas.microsoft.com/office/drawing/2014/main" id="{85CB9EA6-80DD-94A8-0261-C841D5779AEE}"/>
              </a:ext>
            </a:extLst>
          </p:cNvPr>
          <p:cNvSpPr>
            <a:spLocks noChangeArrowheads="1"/>
          </p:cNvSpPr>
          <p:nvPr/>
        </p:nvSpPr>
        <p:spPr bwMode="auto">
          <a:xfrm>
            <a:off x="139148" y="119749"/>
            <a:ext cx="213520"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800" b="0" i="0" u="none" strike="noStrike" cap="none" normalizeH="0" baseline="0" dirty="0">
                <a:ln>
                  <a:noFill/>
                </a:ln>
                <a:solidFill>
                  <a:schemeClr val="tx1"/>
                </a:solidFill>
                <a:effectLst/>
              </a:rPr>
              <a:t> </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CE23B273-A690-2F17-7EEA-0BAF6E426C0E}"/>
              </a:ext>
            </a:extLst>
          </p:cNvPr>
          <p:cNvSpPr txBox="1"/>
          <p:nvPr/>
        </p:nvSpPr>
        <p:spPr>
          <a:xfrm>
            <a:off x="444500" y="1710803"/>
            <a:ext cx="4804833" cy="2123658"/>
          </a:xfrm>
          <a:prstGeom prst="rect">
            <a:avLst/>
          </a:prstGeom>
          <a:solidFill>
            <a:schemeClr val="bg1">
              <a:lumMod val="85000"/>
            </a:schemeClr>
          </a:solidFill>
        </p:spPr>
        <p:txBody>
          <a:bodyPr wrap="square">
            <a:spAutoFit/>
          </a:bodyPr>
          <a:lstStyle/>
          <a:p>
            <a:pPr algn="l">
              <a:buNone/>
            </a:pP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 --- Generate training data (IC &amp; BC) ---</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err="1">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N_ic</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100</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x_ic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2</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err="1">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torch</a:t>
            </a:r>
            <a:r>
              <a:rPr lang="en-US" sz="1100" b="1" i="0" dirty="0" err="1">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err="1">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rand</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err="1">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N_ic</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device</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device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t_ic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err="1">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torch</a:t>
            </a:r>
            <a:r>
              <a:rPr lang="en-US" sz="1100" b="1" i="0" dirty="0" err="1">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err="1">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zeros_like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x_ic</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device</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device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err="1">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N_bc</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100</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err="1">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x_bc</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cat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err="1">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torch</a:t>
            </a:r>
            <a:r>
              <a:rPr lang="en-US" sz="1100" b="1" i="0" dirty="0" err="1">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err="1">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ones</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err="1">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N_bc</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2</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device</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device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err="1">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torch</a:t>
            </a:r>
            <a:r>
              <a:rPr lang="en-US" sz="1100" b="1" i="0" dirty="0" err="1">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err="1">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ones</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err="1">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N_bc</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2</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device</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device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dim</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t_bc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err="1">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torch</a:t>
            </a:r>
            <a:r>
              <a:rPr lang="en-US" sz="1100" b="1" i="0" dirty="0" err="1">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err="1">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rand_like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err="1">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x_bc</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device</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device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9" name="Rectangle: Rounded Corners 8">
            <a:extLst>
              <a:ext uri="{FF2B5EF4-FFF2-40B4-BE49-F238E27FC236}">
                <a16:creationId xmlns:a16="http://schemas.microsoft.com/office/drawing/2014/main" id="{FC8B27FA-9637-4C52-C5BD-62437297CF2C}"/>
              </a:ext>
            </a:extLst>
          </p:cNvPr>
          <p:cNvSpPr/>
          <p:nvPr/>
        </p:nvSpPr>
        <p:spPr>
          <a:xfrm>
            <a:off x="6096000" y="1699971"/>
            <a:ext cx="5020734" cy="6155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9# Generate training data </a:t>
            </a:r>
            <a:br>
              <a:rPr lang="en-US" dirty="0"/>
            </a:br>
            <a:r>
              <a:rPr lang="en-US" dirty="0"/>
              <a:t>(Initial conditions and boundary conditions)</a:t>
            </a:r>
            <a:endParaRPr lang="en-PK" dirty="0"/>
          </a:p>
        </p:txBody>
      </p:sp>
      <p:pic>
        <p:nvPicPr>
          <p:cNvPr id="3" name="Picture 2">
            <a:extLst>
              <a:ext uri="{FF2B5EF4-FFF2-40B4-BE49-F238E27FC236}">
                <a16:creationId xmlns:a16="http://schemas.microsoft.com/office/drawing/2014/main" id="{D9CF7082-C6E8-089C-C307-C133C84AA0A2}"/>
              </a:ext>
            </a:extLst>
          </p:cNvPr>
          <p:cNvPicPr>
            <a:picLocks noChangeAspect="1"/>
          </p:cNvPicPr>
          <p:nvPr/>
        </p:nvPicPr>
        <p:blipFill>
          <a:blip r:embed="rId2"/>
          <a:stretch>
            <a:fillRect/>
          </a:stretch>
        </p:blipFill>
        <p:spPr>
          <a:xfrm>
            <a:off x="5773638" y="2725360"/>
            <a:ext cx="5343096" cy="3634233"/>
          </a:xfrm>
          <a:prstGeom prst="rect">
            <a:avLst/>
          </a:prstGeom>
        </p:spPr>
      </p:pic>
    </p:spTree>
    <p:extLst>
      <p:ext uri="{BB962C8B-B14F-4D97-AF65-F5344CB8AC3E}">
        <p14:creationId xmlns:p14="http://schemas.microsoft.com/office/powerpoint/2010/main" val="29989658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1EBE-0A58-96A2-80CF-56F787BE2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087C56-9816-629E-41BE-6955B1463819}"/>
              </a:ext>
            </a:extLst>
          </p:cNvPr>
          <p:cNvSpPr>
            <a:spLocks noGrp="1"/>
          </p:cNvSpPr>
          <p:nvPr>
            <p:ph type="title"/>
          </p:nvPr>
        </p:nvSpPr>
        <p:spPr>
          <a:xfrm>
            <a:off x="444500" y="412137"/>
            <a:ext cx="9146972" cy="640080"/>
          </a:xfrm>
        </p:spPr>
        <p:txBody>
          <a:bodyPr>
            <a:normAutofit/>
          </a:bodyPr>
          <a:lstStyle/>
          <a:p>
            <a:r>
              <a:rPr lang="en-US" sz="4000" b="1" dirty="0">
                <a:solidFill>
                  <a:srgbClr val="002060"/>
                </a:solidFill>
                <a:latin typeface="Segoe UI Semibold" panose="020B0502040204020203" pitchFamily="34" charset="0"/>
                <a:cs typeface="Segoe UI Semibold" panose="020B0502040204020203" pitchFamily="34" charset="0"/>
              </a:rPr>
              <a:t>Introduction</a:t>
            </a:r>
          </a:p>
        </p:txBody>
      </p:sp>
      <p:sp>
        <p:nvSpPr>
          <p:cNvPr id="6" name="TextBox 5">
            <a:extLst>
              <a:ext uri="{FF2B5EF4-FFF2-40B4-BE49-F238E27FC236}">
                <a16:creationId xmlns:a16="http://schemas.microsoft.com/office/drawing/2014/main" id="{E5ED72E3-1D66-42F7-878F-3639EE66D9F7}"/>
              </a:ext>
            </a:extLst>
          </p:cNvPr>
          <p:cNvSpPr txBox="1"/>
          <p:nvPr/>
        </p:nvSpPr>
        <p:spPr>
          <a:xfrm>
            <a:off x="444500" y="1169139"/>
            <a:ext cx="11156473" cy="615553"/>
          </a:xfrm>
          <a:prstGeom prst="rect">
            <a:avLst/>
          </a:prstGeom>
          <a:noFill/>
        </p:spPr>
        <p:txBody>
          <a:bodyPr wrap="square" rtlCol="0">
            <a:spAutoFit/>
          </a:bodyPr>
          <a:lstStyle/>
          <a:p>
            <a:pPr marL="0" lvl="1"/>
            <a:r>
              <a:rPr lang="en-US" sz="2400" dirty="0">
                <a:solidFill>
                  <a:srgbClr val="D24726"/>
                </a:solidFill>
              </a:rPr>
              <a:t>1D-Burger’s Equation </a:t>
            </a:r>
            <a:r>
              <a:rPr lang="en-US" i="1" dirty="0">
                <a:solidFill>
                  <a:srgbClr val="D24726"/>
                </a:solidFill>
              </a:rPr>
              <a:t>(PINNs training Script)</a:t>
            </a:r>
            <a:br>
              <a:rPr lang="en-US" sz="1000" dirty="0"/>
            </a:br>
            <a:endParaRPr lang="en-US" sz="1000" dirty="0">
              <a:solidFill>
                <a:srgbClr val="D24726"/>
              </a:solidFill>
            </a:endParaRPr>
          </a:p>
        </p:txBody>
      </p:sp>
      <p:sp>
        <p:nvSpPr>
          <p:cNvPr id="5" name="Rectangle 3">
            <a:extLst>
              <a:ext uri="{FF2B5EF4-FFF2-40B4-BE49-F238E27FC236}">
                <a16:creationId xmlns:a16="http://schemas.microsoft.com/office/drawing/2014/main" id="{B597E212-709A-2A11-7EC0-84E721ADBA23}"/>
              </a:ext>
            </a:extLst>
          </p:cNvPr>
          <p:cNvSpPr>
            <a:spLocks noChangeArrowheads="1"/>
          </p:cNvSpPr>
          <p:nvPr/>
        </p:nvSpPr>
        <p:spPr bwMode="auto">
          <a:xfrm>
            <a:off x="139148" y="119749"/>
            <a:ext cx="213520"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800" b="0" i="0" u="none" strike="noStrike" cap="none" normalizeH="0" baseline="0" dirty="0">
                <a:ln>
                  <a:noFill/>
                </a:ln>
                <a:solidFill>
                  <a:schemeClr val="tx1"/>
                </a:solidFill>
                <a:effectLst/>
              </a:rPr>
              <a:t> </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AC5E5576-A223-6DF3-B968-F4BDFD040D80}"/>
              </a:ext>
            </a:extLst>
          </p:cNvPr>
          <p:cNvSpPr txBox="1"/>
          <p:nvPr/>
        </p:nvSpPr>
        <p:spPr>
          <a:xfrm>
            <a:off x="444500" y="1710803"/>
            <a:ext cx="6240732" cy="3985706"/>
          </a:xfrm>
          <a:prstGeom prst="rect">
            <a:avLst/>
          </a:prstGeom>
          <a:solidFill>
            <a:schemeClr val="bg1">
              <a:lumMod val="85000"/>
            </a:schemeClr>
          </a:solidFill>
        </p:spPr>
        <p:txBody>
          <a:bodyPr wrap="square">
            <a:spAutoFit/>
          </a:bodyPr>
          <a:lstStyle/>
          <a:p>
            <a:r>
              <a:rPr lang="en-US" sz="1100" i="1" dirty="0">
                <a:solidFill>
                  <a:srgbClr val="408080"/>
                </a:solidFill>
                <a:latin typeface="Cascadia Code" panose="020B0609020000020004" pitchFamily="49" charset="0"/>
                <a:ea typeface="Cascadia Code" panose="020B0609020000020004" pitchFamily="49" charset="0"/>
                <a:cs typeface="Cascadia Code" panose="020B0609020000020004" pitchFamily="49" charset="0"/>
              </a:rPr>
              <a:t># --- Training loop with resume support ---</a:t>
            </a:r>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num_epochs </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dirty="0">
                <a:solidFill>
                  <a:srgbClr val="008800"/>
                </a:solidFill>
                <a:latin typeface="Cascadia Code" panose="020B0609020000020004" pitchFamily="49" charset="0"/>
                <a:ea typeface="Cascadia Code" panose="020B0609020000020004" pitchFamily="49" charset="0"/>
                <a:cs typeface="Cascadia Code" panose="020B0609020000020004" pitchFamily="49" charset="0"/>
              </a:rPr>
              <a:t>200000</a:t>
            </a:r>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start_epoch </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load_checkpoint</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i="1" dirty="0">
                <a:solidFill>
                  <a:srgbClr val="408080"/>
                </a:solidFill>
                <a:latin typeface="Cascadia Code" panose="020B0609020000020004" pitchFamily="49" charset="0"/>
                <a:ea typeface="Cascadia Code" panose="020B0609020000020004" pitchFamily="49" charset="0"/>
                <a:cs typeface="Cascadia Code" panose="020B0609020000020004" pitchFamily="49" charset="0"/>
              </a:rPr>
              <a:t># will resume if file exists, else start_epoch = 0</a:t>
            </a:r>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r>
              <a:rPr lang="en-US" sz="1100" b="1" dirty="0">
                <a:solidFill>
                  <a:srgbClr val="008000"/>
                </a:solidFill>
                <a:latin typeface="Cascadia Code" panose="020B0609020000020004" pitchFamily="49" charset="0"/>
                <a:ea typeface="Cascadia Code" panose="020B0609020000020004" pitchFamily="49" charset="0"/>
                <a:cs typeface="Cascadia Code" panose="020B0609020000020004" pitchFamily="49" charset="0"/>
              </a:rPr>
              <a:t>for</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epoch </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in</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range</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start_epoch</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num_epochs</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optimizer</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zero_grad</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i="1" dirty="0">
                <a:solidFill>
                  <a:srgbClr val="408080"/>
                </a:solidFill>
                <a:latin typeface="Cascadia Code" panose="020B0609020000020004" pitchFamily="49" charset="0"/>
                <a:ea typeface="Cascadia Code" panose="020B0609020000020004" pitchFamily="49" charset="0"/>
                <a:cs typeface="Cascadia Code" panose="020B0609020000020004" pitchFamily="49" charset="0"/>
              </a:rPr>
              <a:t># Collocation points</a:t>
            </a:r>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N_f </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dirty="0">
                <a:solidFill>
                  <a:srgbClr val="008800"/>
                </a:solidFill>
                <a:latin typeface="Cascadia Code" panose="020B0609020000020004" pitchFamily="49" charset="0"/>
                <a:ea typeface="Cascadia Code" panose="020B0609020000020004" pitchFamily="49" charset="0"/>
                <a:cs typeface="Cascadia Code" panose="020B0609020000020004" pitchFamily="49" charset="0"/>
              </a:rPr>
              <a:t>5000</a:t>
            </a:r>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x_f </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008800"/>
                </a:solidFill>
                <a:latin typeface="Cascadia Code" panose="020B0609020000020004" pitchFamily="49" charset="0"/>
                <a:ea typeface="Cascadia Code" panose="020B0609020000020004" pitchFamily="49" charset="0"/>
                <a:cs typeface="Cascadia Code" panose="020B0609020000020004" pitchFamily="49" charset="0"/>
              </a:rPr>
              <a:t>1</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dirty="0">
                <a:solidFill>
                  <a:srgbClr val="008800"/>
                </a:solidFill>
                <a:latin typeface="Cascadia Code" panose="020B0609020000020004" pitchFamily="49" charset="0"/>
                <a:ea typeface="Cascadia Code" panose="020B0609020000020004" pitchFamily="49" charset="0"/>
                <a:cs typeface="Cascadia Code" panose="020B0609020000020004" pitchFamily="49" charset="0"/>
              </a:rPr>
              <a:t>2</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torch</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rand</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N_f</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dirty="0">
                <a:solidFill>
                  <a:srgbClr val="008800"/>
                </a:solidFill>
                <a:latin typeface="Cascadia Code" panose="020B0609020000020004" pitchFamily="49" charset="0"/>
                <a:ea typeface="Cascadia Code" panose="020B0609020000020004" pitchFamily="49" charset="0"/>
                <a:cs typeface="Cascadia Code" panose="020B0609020000020004" pitchFamily="49" charset="0"/>
              </a:rPr>
              <a:t>1</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device</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device</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t_f </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torch</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rand</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N_f</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dirty="0">
                <a:solidFill>
                  <a:srgbClr val="008800"/>
                </a:solidFill>
                <a:latin typeface="Cascadia Code" panose="020B0609020000020004" pitchFamily="49" charset="0"/>
                <a:ea typeface="Cascadia Code" panose="020B0609020000020004" pitchFamily="49" charset="0"/>
                <a:cs typeface="Cascadia Code" panose="020B0609020000020004" pitchFamily="49" charset="0"/>
              </a:rPr>
              <a:t>1</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device</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device</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dirty="0" err="1">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x_f</a:t>
            </a:r>
            <a:r>
              <a:rPr lang="en-US" sz="1100" b="1" dirty="0" err="1">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err="1">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requires_grad</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_</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b="1" dirty="0">
                <a:solidFill>
                  <a:srgbClr val="008000"/>
                </a:solidFill>
                <a:latin typeface="Cascadia Code" panose="020B0609020000020004" pitchFamily="49" charset="0"/>
                <a:ea typeface="Cascadia Code" panose="020B0609020000020004" pitchFamily="49" charset="0"/>
                <a:cs typeface="Cascadia Code" panose="020B0609020000020004" pitchFamily="49" charset="0"/>
              </a:rPr>
              <a:t>True</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t_f</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requires_grad_</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b="1" dirty="0">
                <a:solidFill>
                  <a:srgbClr val="008000"/>
                </a:solidFill>
                <a:latin typeface="Cascadia Code" panose="020B0609020000020004" pitchFamily="49" charset="0"/>
                <a:ea typeface="Cascadia Code" panose="020B0609020000020004" pitchFamily="49" charset="0"/>
                <a:cs typeface="Cascadia Code" panose="020B0609020000020004" pitchFamily="49" charset="0"/>
              </a:rPr>
              <a:t>True</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loss </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loss_fn</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x_ic</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t_ic</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x_bc</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t_bc</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x_f</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t_f</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dirty="0" err="1">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loss</a:t>
            </a:r>
            <a:r>
              <a:rPr lang="en-US" sz="1100" b="1" dirty="0" err="1">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err="1">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backward</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dirty="0" err="1">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optimizer</a:t>
            </a:r>
            <a:r>
              <a:rPr lang="en-US" sz="1100" b="1" dirty="0" err="1">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err="1">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step</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b="1" dirty="0">
                <a:solidFill>
                  <a:srgbClr val="008000"/>
                </a:solidFill>
                <a:latin typeface="Cascadia Code" panose="020B0609020000020004" pitchFamily="49" charset="0"/>
                <a:ea typeface="Cascadia Code" panose="020B0609020000020004" pitchFamily="49" charset="0"/>
                <a:cs typeface="Cascadia Code" panose="020B0609020000020004" pitchFamily="49" charset="0"/>
              </a:rPr>
              <a:t>if</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epoch </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dirty="0">
                <a:solidFill>
                  <a:srgbClr val="008800"/>
                </a:solidFill>
                <a:latin typeface="Cascadia Code" panose="020B0609020000020004" pitchFamily="49" charset="0"/>
                <a:ea typeface="Cascadia Code" panose="020B0609020000020004" pitchFamily="49" charset="0"/>
                <a:cs typeface="Cascadia Code" panose="020B0609020000020004" pitchFamily="49" charset="0"/>
              </a:rPr>
              <a:t>5000</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b="1" dirty="0">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dirty="0">
                <a:solidFill>
                  <a:srgbClr val="008800"/>
                </a:solidFill>
                <a:latin typeface="Cascadia Code" panose="020B0609020000020004" pitchFamily="49" charset="0"/>
                <a:ea typeface="Cascadia Code" panose="020B0609020000020004" pitchFamily="49" charset="0"/>
                <a:cs typeface="Cascadia Code" panose="020B0609020000020004" pitchFamily="49" charset="0"/>
              </a:rPr>
              <a:t>0</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print</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BA2121"/>
                </a:solidFill>
                <a:latin typeface="Cascadia Code" panose="020B0609020000020004" pitchFamily="49" charset="0"/>
                <a:ea typeface="Cascadia Code" panose="020B0609020000020004" pitchFamily="49" charset="0"/>
                <a:cs typeface="Cascadia Code" panose="020B0609020000020004" pitchFamily="49" charset="0"/>
              </a:rPr>
              <a:t>f"Epoch {</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epoch</a:t>
            </a:r>
            <a:r>
              <a:rPr lang="en-US" sz="1100" dirty="0">
                <a:solidFill>
                  <a:srgbClr val="BA2121"/>
                </a:solidFill>
                <a:latin typeface="Cascadia Code" panose="020B0609020000020004" pitchFamily="49" charset="0"/>
                <a:ea typeface="Cascadia Code" panose="020B0609020000020004" pitchFamily="49" charset="0"/>
                <a:cs typeface="Cascadia Code" panose="020B0609020000020004" pitchFamily="49" charset="0"/>
              </a:rPr>
              <a:t>}: Loss = {</a:t>
            </a:r>
            <a:r>
              <a:rPr lang="en-US" sz="1100" dirty="0" err="1">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loss</a:t>
            </a:r>
            <a:r>
              <a:rPr lang="en-US" sz="1100" b="1" dirty="0" err="1">
                <a:solidFill>
                  <a:srgbClr val="AA22FF"/>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err="1">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item</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BA2121"/>
                </a:solidFill>
                <a:latin typeface="Cascadia Code" panose="020B0609020000020004" pitchFamily="49" charset="0"/>
                <a:ea typeface="Cascadia Code" panose="020B0609020000020004" pitchFamily="49" charset="0"/>
                <a:cs typeface="Cascadia Code" panose="020B0609020000020004" pitchFamily="49" charset="0"/>
              </a:rPr>
              <a:t>:.6f}"</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i="1" dirty="0">
                <a:solidFill>
                  <a:srgbClr val="408080"/>
                </a:solidFill>
                <a:latin typeface="Cascadia Code" panose="020B0609020000020004" pitchFamily="49" charset="0"/>
                <a:ea typeface="Cascadia Code" panose="020B0609020000020004" pitchFamily="49" charset="0"/>
                <a:cs typeface="Cascadia Code" panose="020B0609020000020004" pitchFamily="49" charset="0"/>
              </a:rPr>
              <a:t># save a checkpoint periodically</a:t>
            </a:r>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        save_checkpoint</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rPr>
              <a:t>epoch</a:t>
            </a:r>
            <a:r>
              <a:rPr lang="en-US" sz="1100" dirty="0">
                <a:solidFill>
                  <a:srgbClr val="0055AA"/>
                </a:solidFill>
                <a:latin typeface="Cascadia Code" panose="020B0609020000020004" pitchFamily="49" charset="0"/>
                <a:ea typeface="Cascadia Code" panose="020B0609020000020004" pitchFamily="49" charset="0"/>
                <a:cs typeface="Cascadia Code" panose="020B0609020000020004" pitchFamily="49" charset="0"/>
              </a:rPr>
              <a:t>)</a:t>
            </a:r>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9" name="Rectangle: Rounded Corners 8">
            <a:extLst>
              <a:ext uri="{FF2B5EF4-FFF2-40B4-BE49-F238E27FC236}">
                <a16:creationId xmlns:a16="http://schemas.microsoft.com/office/drawing/2014/main" id="{F68C7840-3BCB-0E2E-5927-43F23DC1CC5F}"/>
              </a:ext>
            </a:extLst>
          </p:cNvPr>
          <p:cNvSpPr/>
          <p:nvPr/>
        </p:nvSpPr>
        <p:spPr>
          <a:xfrm>
            <a:off x="6807200" y="2168003"/>
            <a:ext cx="5020734" cy="6155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10# Training Loop </a:t>
            </a:r>
            <a:endParaRPr lang="en-PK" dirty="0"/>
          </a:p>
        </p:txBody>
      </p:sp>
      <p:pic>
        <p:nvPicPr>
          <p:cNvPr id="3" name="Picture 2">
            <a:extLst>
              <a:ext uri="{FF2B5EF4-FFF2-40B4-BE49-F238E27FC236}">
                <a16:creationId xmlns:a16="http://schemas.microsoft.com/office/drawing/2014/main" id="{46AC09B0-0BB2-C133-8A40-D4DC24E5AE9D}"/>
              </a:ext>
            </a:extLst>
          </p:cNvPr>
          <p:cNvPicPr>
            <a:picLocks noChangeAspect="1"/>
          </p:cNvPicPr>
          <p:nvPr/>
        </p:nvPicPr>
        <p:blipFill>
          <a:blip r:embed="rId2"/>
          <a:stretch>
            <a:fillRect/>
          </a:stretch>
        </p:blipFill>
        <p:spPr>
          <a:xfrm>
            <a:off x="6948134" y="3166867"/>
            <a:ext cx="5020734" cy="2995180"/>
          </a:xfrm>
          <a:prstGeom prst="rect">
            <a:avLst/>
          </a:prstGeom>
        </p:spPr>
      </p:pic>
    </p:spTree>
    <p:extLst>
      <p:ext uri="{BB962C8B-B14F-4D97-AF65-F5344CB8AC3E}">
        <p14:creationId xmlns:p14="http://schemas.microsoft.com/office/powerpoint/2010/main" val="17510308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F6C9A-2012-41DB-43CA-77DDEE4AC4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D73A67-A636-B7F5-7F61-EE28E1E4DD43}"/>
              </a:ext>
            </a:extLst>
          </p:cNvPr>
          <p:cNvSpPr>
            <a:spLocks noGrp="1"/>
          </p:cNvSpPr>
          <p:nvPr>
            <p:ph type="title"/>
          </p:nvPr>
        </p:nvSpPr>
        <p:spPr>
          <a:xfrm>
            <a:off x="444500" y="412137"/>
            <a:ext cx="9146972" cy="640080"/>
          </a:xfrm>
        </p:spPr>
        <p:txBody>
          <a:bodyPr>
            <a:normAutofit/>
          </a:bodyPr>
          <a:lstStyle/>
          <a:p>
            <a:r>
              <a:rPr lang="en-US" sz="4000" b="1" dirty="0">
                <a:solidFill>
                  <a:srgbClr val="002060"/>
                </a:solidFill>
                <a:latin typeface="Segoe UI Semibold" panose="020B0502040204020203" pitchFamily="34" charset="0"/>
                <a:cs typeface="Segoe UI Semibold" panose="020B0502040204020203" pitchFamily="34" charset="0"/>
              </a:rPr>
              <a:t>Introduction</a:t>
            </a:r>
          </a:p>
        </p:txBody>
      </p:sp>
      <p:sp>
        <p:nvSpPr>
          <p:cNvPr id="6" name="TextBox 5">
            <a:extLst>
              <a:ext uri="{FF2B5EF4-FFF2-40B4-BE49-F238E27FC236}">
                <a16:creationId xmlns:a16="http://schemas.microsoft.com/office/drawing/2014/main" id="{77B86A2D-0C99-32DA-E2D2-E5E1496332AF}"/>
              </a:ext>
            </a:extLst>
          </p:cNvPr>
          <p:cNvSpPr txBox="1"/>
          <p:nvPr/>
        </p:nvSpPr>
        <p:spPr>
          <a:xfrm>
            <a:off x="444500" y="1169139"/>
            <a:ext cx="11156473" cy="615553"/>
          </a:xfrm>
          <a:prstGeom prst="rect">
            <a:avLst/>
          </a:prstGeom>
          <a:noFill/>
        </p:spPr>
        <p:txBody>
          <a:bodyPr wrap="square" rtlCol="0">
            <a:spAutoFit/>
          </a:bodyPr>
          <a:lstStyle/>
          <a:p>
            <a:pPr marL="0" lvl="1"/>
            <a:r>
              <a:rPr lang="en-US" sz="2400" dirty="0">
                <a:solidFill>
                  <a:srgbClr val="D24726"/>
                </a:solidFill>
              </a:rPr>
              <a:t>1D-Burger’s Equation (</a:t>
            </a:r>
            <a:r>
              <a:rPr lang="en-US" i="1" dirty="0">
                <a:solidFill>
                  <a:srgbClr val="D24726"/>
                </a:solidFill>
              </a:rPr>
              <a:t>Visualization)</a:t>
            </a:r>
            <a:br>
              <a:rPr lang="en-US" sz="1000" dirty="0"/>
            </a:br>
            <a:endParaRPr lang="en-US" sz="1000" dirty="0">
              <a:solidFill>
                <a:srgbClr val="D24726"/>
              </a:solidFill>
            </a:endParaRPr>
          </a:p>
        </p:txBody>
      </p:sp>
      <p:sp>
        <p:nvSpPr>
          <p:cNvPr id="5" name="Rectangle 3">
            <a:extLst>
              <a:ext uri="{FF2B5EF4-FFF2-40B4-BE49-F238E27FC236}">
                <a16:creationId xmlns:a16="http://schemas.microsoft.com/office/drawing/2014/main" id="{022545AF-CC0C-08F6-6E18-8BB7A59B5940}"/>
              </a:ext>
            </a:extLst>
          </p:cNvPr>
          <p:cNvSpPr>
            <a:spLocks noChangeArrowheads="1"/>
          </p:cNvSpPr>
          <p:nvPr/>
        </p:nvSpPr>
        <p:spPr bwMode="auto">
          <a:xfrm>
            <a:off x="139148" y="119749"/>
            <a:ext cx="213520"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800" b="0" i="0" u="none" strike="noStrike" cap="none" normalizeH="0" baseline="0" dirty="0">
                <a:ln>
                  <a:noFill/>
                </a:ln>
                <a:solidFill>
                  <a:schemeClr val="tx1"/>
                </a:solidFill>
                <a:effectLst/>
              </a:rPr>
              <a:t> </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9" name="Rectangle: Rounded Corners 8">
            <a:extLst>
              <a:ext uri="{FF2B5EF4-FFF2-40B4-BE49-F238E27FC236}">
                <a16:creationId xmlns:a16="http://schemas.microsoft.com/office/drawing/2014/main" id="{9DB19E08-6250-44F9-6C2A-A18CAF8D5A85}"/>
              </a:ext>
            </a:extLst>
          </p:cNvPr>
          <p:cNvSpPr/>
          <p:nvPr/>
        </p:nvSpPr>
        <p:spPr>
          <a:xfrm>
            <a:off x="444500" y="2382726"/>
            <a:ext cx="5020734" cy="6155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10# Define Finite Difference Solver </a:t>
            </a:r>
            <a:endParaRPr lang="en-PK" dirty="0"/>
          </a:p>
        </p:txBody>
      </p:sp>
      <p:sp>
        <p:nvSpPr>
          <p:cNvPr id="3" name="TextBox 2">
            <a:extLst>
              <a:ext uri="{FF2B5EF4-FFF2-40B4-BE49-F238E27FC236}">
                <a16:creationId xmlns:a16="http://schemas.microsoft.com/office/drawing/2014/main" id="{A8451870-E1CD-531A-0835-9D45C9BA09B9}"/>
              </a:ext>
            </a:extLst>
          </p:cNvPr>
          <p:cNvSpPr txBox="1"/>
          <p:nvPr/>
        </p:nvSpPr>
        <p:spPr>
          <a:xfrm>
            <a:off x="6096000" y="58846"/>
            <a:ext cx="5758022" cy="7371249"/>
          </a:xfrm>
          <a:prstGeom prst="rect">
            <a:avLst/>
          </a:prstGeom>
          <a:solidFill>
            <a:schemeClr val="bg1">
              <a:lumMod val="85000"/>
            </a:schemeClr>
          </a:solidFill>
        </p:spPr>
        <p:txBody>
          <a:bodyPr wrap="square">
            <a:spAutoFit/>
          </a:bodyPr>
          <a:lstStyle/>
          <a:p>
            <a:pPr algn="l">
              <a:buNone/>
            </a:pP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def</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burgers_fd_rk4_upwind</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t_final</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nu</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Nx</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201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5e-5</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x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np</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linspace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Nx</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dx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x</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x</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np</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sin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np</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pi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x</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n_steps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int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t_final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dirty="0">
              <a:solidFill>
                <a:srgbClr val="212121"/>
              </a:solidFill>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def</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F</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u_in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np</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zeros_like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u_in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 viscous term (central)</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u_xx_cd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u_in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2</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2</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u_in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u_in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2</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dx</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2</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 advection term (upwind)</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u_x_upwind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np</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zeros_like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u_in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for</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i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in</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range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Nx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if</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u_in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i</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&gt;=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u_x_upwind</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i</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u_in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i</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u_in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i</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dx</a:t>
            </a: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else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u_x_upwind</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i</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u_in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i</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u_in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i</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dx</a:t>
            </a: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u_in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u_x_upwind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nu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u_xx_cd</a:t>
            </a: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return</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u_t</a:t>
            </a: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for</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n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in</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range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n_steps</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k1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F</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u_k2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k1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2.0</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u_k2</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u_k2</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0.0</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k2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F</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u_k2</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u_k3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k2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2.0</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u_k3</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u_k3</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0.0</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k3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F</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u_k3</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u_k4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k3</a:t>
            </a: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u_k4</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u_k4</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0.0</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k4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F</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u_k4</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u_new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k1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2</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k2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2</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k3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k4</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6.0</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u_new</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u_new</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0.0</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u_new</a:t>
            </a: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return</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x</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a:t>
            </a:r>
          </a:p>
        </p:txBody>
      </p:sp>
      <p:sp>
        <p:nvSpPr>
          <p:cNvPr id="4" name="TextBox 3">
            <a:extLst>
              <a:ext uri="{FF2B5EF4-FFF2-40B4-BE49-F238E27FC236}">
                <a16:creationId xmlns:a16="http://schemas.microsoft.com/office/drawing/2014/main" id="{75BF0932-DEE8-991C-3F65-0AA55B78EA8F}"/>
              </a:ext>
            </a:extLst>
          </p:cNvPr>
          <p:cNvSpPr txBox="1"/>
          <p:nvPr/>
        </p:nvSpPr>
        <p:spPr>
          <a:xfrm>
            <a:off x="444500" y="3318933"/>
            <a:ext cx="5651499" cy="1754326"/>
          </a:xfrm>
          <a:prstGeom prst="rect">
            <a:avLst/>
          </a:prstGeom>
          <a:noFill/>
        </p:spPr>
        <p:txBody>
          <a:bodyPr wrap="square" rtlCol="0">
            <a:spAutoFit/>
          </a:bodyPr>
          <a:lstStyle/>
          <a:p>
            <a:pPr marL="342900" indent="-342900">
              <a:buAutoNum type="arabicParenR"/>
            </a:pPr>
            <a:r>
              <a:rPr lang="en-US" dirty="0"/>
              <a:t>First Order Upwind Scheme (Spatial Discretization)</a:t>
            </a:r>
          </a:p>
          <a:p>
            <a:pPr marL="800100" lvl="1" indent="-342900">
              <a:buAutoNum type="arabicParenR"/>
            </a:pPr>
            <a:endParaRPr lang="en-US" dirty="0"/>
          </a:p>
          <a:p>
            <a:pPr marL="342900" indent="-342900">
              <a:buAutoNum type="arabicParenR"/>
            </a:pPr>
            <a:endParaRPr lang="en-US" dirty="0"/>
          </a:p>
          <a:p>
            <a:pPr marL="342900" indent="-342900">
              <a:buAutoNum type="arabicParenR"/>
            </a:pPr>
            <a:endParaRPr lang="en-US" dirty="0"/>
          </a:p>
          <a:p>
            <a:pPr marL="342900" indent="-342900">
              <a:buAutoNum type="arabicParenR"/>
            </a:pPr>
            <a:endParaRPr lang="en-US" dirty="0"/>
          </a:p>
          <a:p>
            <a:r>
              <a:rPr lang="en-US" dirty="0"/>
              <a:t>2) Fourth-Order Runge-Kutta (RK4) (Time integration)</a:t>
            </a:r>
            <a:endParaRPr lang="en-PK" dirty="0"/>
          </a:p>
        </p:txBody>
      </p:sp>
    </p:spTree>
    <p:extLst>
      <p:ext uri="{BB962C8B-B14F-4D97-AF65-F5344CB8AC3E}">
        <p14:creationId xmlns:p14="http://schemas.microsoft.com/office/powerpoint/2010/main" val="12051116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541F7-D26E-46DF-C3AC-AA3E331559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91FCBA-4BD8-FD34-CF1D-8CC8237C4BAC}"/>
              </a:ext>
            </a:extLst>
          </p:cNvPr>
          <p:cNvSpPr>
            <a:spLocks noGrp="1"/>
          </p:cNvSpPr>
          <p:nvPr>
            <p:ph type="title"/>
          </p:nvPr>
        </p:nvSpPr>
        <p:spPr>
          <a:xfrm>
            <a:off x="444500" y="412137"/>
            <a:ext cx="9146972" cy="640080"/>
          </a:xfrm>
        </p:spPr>
        <p:txBody>
          <a:bodyPr>
            <a:normAutofit/>
          </a:bodyPr>
          <a:lstStyle/>
          <a:p>
            <a:r>
              <a:rPr lang="en-US" sz="4000" b="1" dirty="0">
                <a:solidFill>
                  <a:srgbClr val="002060"/>
                </a:solidFill>
                <a:latin typeface="Segoe UI Semibold" panose="020B0502040204020203" pitchFamily="34" charset="0"/>
                <a:cs typeface="Segoe UI Semibold" panose="020B0502040204020203" pitchFamily="34" charset="0"/>
              </a:rPr>
              <a:t>Introduction</a:t>
            </a:r>
          </a:p>
        </p:txBody>
      </p:sp>
      <p:sp>
        <p:nvSpPr>
          <p:cNvPr id="6" name="TextBox 5">
            <a:extLst>
              <a:ext uri="{FF2B5EF4-FFF2-40B4-BE49-F238E27FC236}">
                <a16:creationId xmlns:a16="http://schemas.microsoft.com/office/drawing/2014/main" id="{07E99417-3610-14E8-AADC-E871BADE751A}"/>
              </a:ext>
            </a:extLst>
          </p:cNvPr>
          <p:cNvSpPr txBox="1"/>
          <p:nvPr/>
        </p:nvSpPr>
        <p:spPr>
          <a:xfrm>
            <a:off x="444500" y="1169139"/>
            <a:ext cx="11156473" cy="615553"/>
          </a:xfrm>
          <a:prstGeom prst="rect">
            <a:avLst/>
          </a:prstGeom>
          <a:noFill/>
        </p:spPr>
        <p:txBody>
          <a:bodyPr wrap="square" rtlCol="0">
            <a:spAutoFit/>
          </a:bodyPr>
          <a:lstStyle/>
          <a:p>
            <a:pPr marL="0" lvl="1"/>
            <a:r>
              <a:rPr lang="en-US" sz="2400" dirty="0">
                <a:solidFill>
                  <a:srgbClr val="D24726"/>
                </a:solidFill>
              </a:rPr>
              <a:t>1D-Burger’s Equation </a:t>
            </a:r>
            <a:r>
              <a:rPr lang="en-US" i="1" dirty="0">
                <a:solidFill>
                  <a:srgbClr val="D24726"/>
                </a:solidFill>
              </a:rPr>
              <a:t>(Compare Results)</a:t>
            </a:r>
            <a:br>
              <a:rPr lang="en-US" sz="1000" dirty="0"/>
            </a:br>
            <a:endParaRPr lang="en-US" sz="1000" dirty="0">
              <a:solidFill>
                <a:srgbClr val="D24726"/>
              </a:solidFill>
            </a:endParaRPr>
          </a:p>
        </p:txBody>
      </p:sp>
      <p:sp>
        <p:nvSpPr>
          <p:cNvPr id="5" name="Rectangle 3">
            <a:extLst>
              <a:ext uri="{FF2B5EF4-FFF2-40B4-BE49-F238E27FC236}">
                <a16:creationId xmlns:a16="http://schemas.microsoft.com/office/drawing/2014/main" id="{4B01A3D9-32CC-2775-B1A6-92719995864C}"/>
              </a:ext>
            </a:extLst>
          </p:cNvPr>
          <p:cNvSpPr>
            <a:spLocks noChangeArrowheads="1"/>
          </p:cNvSpPr>
          <p:nvPr/>
        </p:nvSpPr>
        <p:spPr bwMode="auto">
          <a:xfrm>
            <a:off x="139148" y="119749"/>
            <a:ext cx="213520"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800" b="0" i="0" u="none" strike="noStrike" cap="none" normalizeH="0" baseline="0" dirty="0">
                <a:ln>
                  <a:noFill/>
                </a:ln>
                <a:solidFill>
                  <a:schemeClr val="tx1"/>
                </a:solidFill>
                <a:effectLst/>
              </a:rPr>
              <a:t> </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9" name="Rectangle: Rounded Corners 8">
            <a:extLst>
              <a:ext uri="{FF2B5EF4-FFF2-40B4-BE49-F238E27FC236}">
                <a16:creationId xmlns:a16="http://schemas.microsoft.com/office/drawing/2014/main" id="{25CC924A-FA4E-AFD7-BFCA-CFB8BFB6EDF7}"/>
              </a:ext>
            </a:extLst>
          </p:cNvPr>
          <p:cNvSpPr/>
          <p:nvPr/>
        </p:nvSpPr>
        <p:spPr>
          <a:xfrm>
            <a:off x="6580239" y="1963139"/>
            <a:ext cx="5020734" cy="6155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11# Visualize Prediction </a:t>
            </a:r>
            <a:endParaRPr lang="en-PK" dirty="0"/>
          </a:p>
        </p:txBody>
      </p:sp>
      <p:sp>
        <p:nvSpPr>
          <p:cNvPr id="3" name="TextBox 2">
            <a:extLst>
              <a:ext uri="{FF2B5EF4-FFF2-40B4-BE49-F238E27FC236}">
                <a16:creationId xmlns:a16="http://schemas.microsoft.com/office/drawing/2014/main" id="{699AA364-175A-4D18-3107-FB02C0B84C44}"/>
              </a:ext>
            </a:extLst>
          </p:cNvPr>
          <p:cNvSpPr txBox="1"/>
          <p:nvPr/>
        </p:nvSpPr>
        <p:spPr>
          <a:xfrm>
            <a:off x="444500" y="1784692"/>
            <a:ext cx="5758022" cy="4832092"/>
          </a:xfrm>
          <a:prstGeom prst="rect">
            <a:avLst/>
          </a:prstGeom>
          <a:solidFill>
            <a:schemeClr val="bg1">
              <a:lumMod val="85000"/>
            </a:schemeClr>
          </a:solidFill>
        </p:spPr>
        <p:txBody>
          <a:bodyPr wrap="square">
            <a:spAutoFit/>
          </a:bodyPr>
          <a:lstStyle/>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model</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to</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device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model</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eval</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 3. Create tensors</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x_vals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linspace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100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device</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device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reshape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t_vals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linspace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100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device</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device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reshape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meshgrid</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x_vals</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squeeze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t_vals</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squeeze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indexing</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err="1">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ij</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x_flat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X</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reshape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t_flat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reshape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with</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no_grad</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u_pred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model</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x_flat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t_flat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reshape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100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100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 4. Move to CPU for plotting</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X_np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X</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detach</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cpu</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numpy</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T_np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detach</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cpu</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numpy</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u_pred_np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u_pred</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detach</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cpu</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numpy</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plt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figure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figsize</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8</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3</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plt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contourf</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T_np</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X_np</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u_pred_np</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50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cmap</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err="1">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coolwarm</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plt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colorbar</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label</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'u(x,t)'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plt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xlabel</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plt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ylabel</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'x'</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plt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title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'PINN Solution for 1D Burgers Equation'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plt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show</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7" name="Picture 6">
            <a:extLst>
              <a:ext uri="{FF2B5EF4-FFF2-40B4-BE49-F238E27FC236}">
                <a16:creationId xmlns:a16="http://schemas.microsoft.com/office/drawing/2014/main" id="{ADEE68F6-4A61-EFEF-4AC7-B5D88E7CFAA6}"/>
              </a:ext>
            </a:extLst>
          </p:cNvPr>
          <p:cNvPicPr>
            <a:picLocks noChangeAspect="1"/>
          </p:cNvPicPr>
          <p:nvPr/>
        </p:nvPicPr>
        <p:blipFill>
          <a:blip r:embed="rId2"/>
          <a:stretch>
            <a:fillRect/>
          </a:stretch>
        </p:blipFill>
        <p:spPr>
          <a:xfrm>
            <a:off x="6319391" y="3555490"/>
            <a:ext cx="5533942" cy="2494616"/>
          </a:xfrm>
          <a:prstGeom prst="rect">
            <a:avLst/>
          </a:prstGeom>
        </p:spPr>
      </p:pic>
    </p:spTree>
    <p:extLst>
      <p:ext uri="{BB962C8B-B14F-4D97-AF65-F5344CB8AC3E}">
        <p14:creationId xmlns:p14="http://schemas.microsoft.com/office/powerpoint/2010/main" val="37006446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0A377-54C5-1177-8E02-76F3433A6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8BF0DD-DBEC-2C9F-FFB2-50CE4D8A8691}"/>
              </a:ext>
            </a:extLst>
          </p:cNvPr>
          <p:cNvSpPr>
            <a:spLocks noGrp="1"/>
          </p:cNvSpPr>
          <p:nvPr>
            <p:ph type="title"/>
          </p:nvPr>
        </p:nvSpPr>
        <p:spPr>
          <a:xfrm>
            <a:off x="444500" y="412137"/>
            <a:ext cx="9146972" cy="640080"/>
          </a:xfrm>
        </p:spPr>
        <p:txBody>
          <a:bodyPr>
            <a:normAutofit/>
          </a:bodyPr>
          <a:lstStyle/>
          <a:p>
            <a:r>
              <a:rPr lang="en-US" sz="4000" b="1" dirty="0">
                <a:solidFill>
                  <a:srgbClr val="002060"/>
                </a:solidFill>
                <a:latin typeface="Segoe UI Semibold" panose="020B0502040204020203" pitchFamily="34" charset="0"/>
                <a:cs typeface="Segoe UI Semibold" panose="020B0502040204020203" pitchFamily="34" charset="0"/>
              </a:rPr>
              <a:t>Introduction</a:t>
            </a:r>
          </a:p>
        </p:txBody>
      </p:sp>
      <p:sp>
        <p:nvSpPr>
          <p:cNvPr id="6" name="TextBox 5">
            <a:extLst>
              <a:ext uri="{FF2B5EF4-FFF2-40B4-BE49-F238E27FC236}">
                <a16:creationId xmlns:a16="http://schemas.microsoft.com/office/drawing/2014/main" id="{0F0775AC-9666-1A3B-71FD-12CA7412A1EE}"/>
              </a:ext>
            </a:extLst>
          </p:cNvPr>
          <p:cNvSpPr txBox="1"/>
          <p:nvPr/>
        </p:nvSpPr>
        <p:spPr>
          <a:xfrm>
            <a:off x="444500" y="1169139"/>
            <a:ext cx="11156473" cy="615553"/>
          </a:xfrm>
          <a:prstGeom prst="rect">
            <a:avLst/>
          </a:prstGeom>
          <a:noFill/>
        </p:spPr>
        <p:txBody>
          <a:bodyPr wrap="square" rtlCol="0">
            <a:spAutoFit/>
          </a:bodyPr>
          <a:lstStyle/>
          <a:p>
            <a:pPr marL="0" lvl="1"/>
            <a:r>
              <a:rPr lang="en-US" sz="2400" dirty="0">
                <a:solidFill>
                  <a:srgbClr val="D24726"/>
                </a:solidFill>
              </a:rPr>
              <a:t>1D-Burger’s Equation (</a:t>
            </a:r>
            <a:r>
              <a:rPr lang="en-US" i="1" dirty="0">
                <a:solidFill>
                  <a:srgbClr val="D24726"/>
                </a:solidFill>
              </a:rPr>
              <a:t>Visualization)</a:t>
            </a:r>
            <a:br>
              <a:rPr lang="en-US" sz="1000" dirty="0"/>
            </a:br>
            <a:endParaRPr lang="en-US" sz="1000" dirty="0">
              <a:solidFill>
                <a:srgbClr val="D24726"/>
              </a:solidFill>
            </a:endParaRPr>
          </a:p>
        </p:txBody>
      </p:sp>
      <p:sp>
        <p:nvSpPr>
          <p:cNvPr id="5" name="Rectangle 3">
            <a:extLst>
              <a:ext uri="{FF2B5EF4-FFF2-40B4-BE49-F238E27FC236}">
                <a16:creationId xmlns:a16="http://schemas.microsoft.com/office/drawing/2014/main" id="{7BC55C20-5AAA-4D74-EC84-6D56005AEACA}"/>
              </a:ext>
            </a:extLst>
          </p:cNvPr>
          <p:cNvSpPr>
            <a:spLocks noChangeArrowheads="1"/>
          </p:cNvSpPr>
          <p:nvPr/>
        </p:nvSpPr>
        <p:spPr bwMode="auto">
          <a:xfrm>
            <a:off x="139148" y="119749"/>
            <a:ext cx="213520"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800" b="0" i="0" u="none" strike="noStrike" cap="none" normalizeH="0" baseline="0" dirty="0">
                <a:ln>
                  <a:noFill/>
                </a:ln>
                <a:solidFill>
                  <a:schemeClr val="tx1"/>
                </a:solidFill>
                <a:effectLst/>
              </a:rPr>
              <a:t> </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9" name="Rectangle: Rounded Corners 8">
            <a:extLst>
              <a:ext uri="{FF2B5EF4-FFF2-40B4-BE49-F238E27FC236}">
                <a16:creationId xmlns:a16="http://schemas.microsoft.com/office/drawing/2014/main" id="{88BD6308-3FA2-949D-024B-2C7215931E18}"/>
              </a:ext>
            </a:extLst>
          </p:cNvPr>
          <p:cNvSpPr/>
          <p:nvPr/>
        </p:nvSpPr>
        <p:spPr>
          <a:xfrm>
            <a:off x="444500" y="1902384"/>
            <a:ext cx="5020734" cy="6155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12# Compare Finite Difference with PINNs Prediction  </a:t>
            </a:r>
            <a:endParaRPr lang="en-PK" dirty="0"/>
          </a:p>
        </p:txBody>
      </p:sp>
      <p:sp>
        <p:nvSpPr>
          <p:cNvPr id="3" name="TextBox 2">
            <a:extLst>
              <a:ext uri="{FF2B5EF4-FFF2-40B4-BE49-F238E27FC236}">
                <a16:creationId xmlns:a16="http://schemas.microsoft.com/office/drawing/2014/main" id="{95EEAE42-DDEE-2DB6-3B1E-357B7E275E8E}"/>
              </a:ext>
            </a:extLst>
          </p:cNvPr>
          <p:cNvSpPr txBox="1"/>
          <p:nvPr/>
        </p:nvSpPr>
        <p:spPr>
          <a:xfrm>
            <a:off x="5842951" y="1221155"/>
            <a:ext cx="5758022" cy="5170646"/>
          </a:xfrm>
          <a:prstGeom prst="rect">
            <a:avLst/>
          </a:prstGeom>
          <a:solidFill>
            <a:schemeClr val="bg1">
              <a:lumMod val="85000"/>
            </a:schemeClr>
          </a:solidFill>
        </p:spPr>
        <p:txBody>
          <a:bodyPr wrap="square">
            <a:spAutoFit/>
          </a:bodyPr>
          <a:lstStyle/>
          <a:p>
            <a:pPr algn="l">
              <a:buNone/>
            </a:pPr>
            <a:b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b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 --- Generate grid ---</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t_vals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0.25</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0.5</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0.75</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1.0</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plt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figure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figsize</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8</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8</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for</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in</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t_vals</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 FD reference (Burgers)</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x_ref</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u_ref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burgers_fd_rk4_upwind</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nu</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Nx</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201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5e-5</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 PINN prediction on same x grid  -&gt; put tensors on *device*</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x_torch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tensor</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x_ref</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dtype</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float32</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device</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device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reshape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008800"/>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t_torch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full_like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x_torch</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float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 same device &amp; shape</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with</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torch</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no_grad</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u_pinn </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model</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x_torch</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t_torch</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detach</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cpu</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numpy</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flatten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1" dirty="0">
                <a:solidFill>
                  <a:srgbClr val="408080"/>
                </a:solidFill>
                <a:effectLst/>
                <a:latin typeface="Cascadia Code" panose="020B0609020000020004" pitchFamily="49" charset="0"/>
                <a:ea typeface="Cascadia Code" panose="020B0609020000020004" pitchFamily="49" charset="0"/>
                <a:cs typeface="Cascadia Code" panose="020B0609020000020004" pitchFamily="49" charset="0"/>
              </a:rPr>
              <a:t># Plot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plt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plot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x_ref</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u_ref</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'k--'</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label</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f'FD (Burgers) 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:.2f}'</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plt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plot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x_ref</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u_pinn</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 label</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f'PINN 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:.2f}'</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plt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xlabel</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'x'</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plt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ylabel</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'u(x,t)'</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plt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title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BA2121"/>
                </a:solidFill>
                <a:effectLst/>
                <a:latin typeface="Cascadia Code" panose="020B0609020000020004" pitchFamily="49" charset="0"/>
                <a:ea typeface="Cascadia Code" panose="020B0609020000020004" pitchFamily="49" charset="0"/>
                <a:cs typeface="Cascadia Code" panose="020B0609020000020004" pitchFamily="49" charset="0"/>
              </a:rPr>
              <a:t>"Viscous Burgers – PINN vs FD reference"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plt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legend</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plt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grid</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1" i="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True</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a:p>
            <a:pPr algn="l">
              <a:buNone/>
            </a:pP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plt</a:t>
            </a:r>
            <a:r>
              <a:rPr lang="en-US" sz="1100" b="1" i="0" dirty="0">
                <a:solidFill>
                  <a:srgbClr val="AA22FF"/>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rPr>
              <a:t>show</a:t>
            </a:r>
            <a:r>
              <a:rPr lang="en-US" sz="1100" b="0" i="0" dirty="0">
                <a:solidFill>
                  <a:srgbClr val="0055AA"/>
                </a:solidFill>
                <a:effectLst/>
                <a:latin typeface="Cascadia Code" panose="020B0609020000020004" pitchFamily="49" charset="0"/>
                <a:ea typeface="Cascadia Code" panose="020B0609020000020004" pitchFamily="49" charset="0"/>
                <a:cs typeface="Cascadia Code" panose="020B0609020000020004" pitchFamily="49" charset="0"/>
              </a:rPr>
              <a:t>()</a:t>
            </a:r>
            <a:endParaRPr lang="en-US" sz="1100" b="0" i="0" dirty="0">
              <a:solidFill>
                <a:srgbClr val="212121"/>
              </a:solidFill>
              <a:effectLst/>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7" name="Picture 6">
            <a:extLst>
              <a:ext uri="{FF2B5EF4-FFF2-40B4-BE49-F238E27FC236}">
                <a16:creationId xmlns:a16="http://schemas.microsoft.com/office/drawing/2014/main" id="{2874872E-C9BC-4AA1-8FD8-4AD349BE6F96}"/>
              </a:ext>
            </a:extLst>
          </p:cNvPr>
          <p:cNvPicPr>
            <a:picLocks noChangeAspect="1"/>
          </p:cNvPicPr>
          <p:nvPr/>
        </p:nvPicPr>
        <p:blipFill>
          <a:blip r:embed="rId3"/>
          <a:stretch>
            <a:fillRect/>
          </a:stretch>
        </p:blipFill>
        <p:spPr>
          <a:xfrm>
            <a:off x="903111" y="2728927"/>
            <a:ext cx="3769959" cy="3716936"/>
          </a:xfrm>
          <a:prstGeom prst="rect">
            <a:avLst/>
          </a:prstGeom>
        </p:spPr>
      </p:pic>
    </p:spTree>
    <p:extLst>
      <p:ext uri="{BB962C8B-B14F-4D97-AF65-F5344CB8AC3E}">
        <p14:creationId xmlns:p14="http://schemas.microsoft.com/office/powerpoint/2010/main" val="36792414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2C1CD-905C-74B9-EEA7-D2507BE333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C4544E-9BE4-8828-C1B2-27A92B2FA208}"/>
              </a:ext>
            </a:extLst>
          </p:cNvPr>
          <p:cNvSpPr>
            <a:spLocks noGrp="1"/>
          </p:cNvSpPr>
          <p:nvPr>
            <p:ph type="title"/>
          </p:nvPr>
        </p:nvSpPr>
        <p:spPr>
          <a:xfrm>
            <a:off x="444500" y="412137"/>
            <a:ext cx="9146972" cy="640080"/>
          </a:xfrm>
        </p:spPr>
        <p:txBody>
          <a:bodyPr>
            <a:normAutofit/>
          </a:bodyPr>
          <a:lstStyle/>
          <a:p>
            <a:r>
              <a:rPr lang="en-US" sz="4000" b="1" dirty="0">
                <a:solidFill>
                  <a:srgbClr val="002060"/>
                </a:solidFill>
                <a:latin typeface="Segoe UI Semibold" panose="020B0502040204020203" pitchFamily="34" charset="0"/>
                <a:cs typeface="Segoe UI Semibold" panose="020B0502040204020203" pitchFamily="34" charset="0"/>
              </a:rPr>
              <a:t>Introduction</a:t>
            </a:r>
          </a:p>
        </p:txBody>
      </p:sp>
      <p:sp>
        <p:nvSpPr>
          <p:cNvPr id="6" name="TextBox 5">
            <a:extLst>
              <a:ext uri="{FF2B5EF4-FFF2-40B4-BE49-F238E27FC236}">
                <a16:creationId xmlns:a16="http://schemas.microsoft.com/office/drawing/2014/main" id="{F124C6CF-7FEB-FCE1-141E-76D927E06E13}"/>
              </a:ext>
            </a:extLst>
          </p:cNvPr>
          <p:cNvSpPr txBox="1"/>
          <p:nvPr/>
        </p:nvSpPr>
        <p:spPr>
          <a:xfrm>
            <a:off x="444500" y="1169139"/>
            <a:ext cx="11156473" cy="615553"/>
          </a:xfrm>
          <a:prstGeom prst="rect">
            <a:avLst/>
          </a:prstGeom>
          <a:noFill/>
        </p:spPr>
        <p:txBody>
          <a:bodyPr wrap="square" rtlCol="0">
            <a:spAutoFit/>
          </a:bodyPr>
          <a:lstStyle/>
          <a:p>
            <a:pPr marL="0" lvl="1"/>
            <a:r>
              <a:rPr lang="en-US" sz="2400" dirty="0">
                <a:solidFill>
                  <a:srgbClr val="D24726"/>
                </a:solidFill>
              </a:rPr>
              <a:t>1D-Burger’s Equation (</a:t>
            </a:r>
            <a:r>
              <a:rPr lang="en-US" i="1" dirty="0">
                <a:solidFill>
                  <a:srgbClr val="D24726"/>
                </a:solidFill>
              </a:rPr>
              <a:t>Visualization)</a:t>
            </a:r>
            <a:br>
              <a:rPr lang="en-US" sz="1000" dirty="0"/>
            </a:br>
            <a:endParaRPr lang="en-US" sz="1000" dirty="0">
              <a:solidFill>
                <a:srgbClr val="D24726"/>
              </a:solidFill>
            </a:endParaRPr>
          </a:p>
        </p:txBody>
      </p:sp>
      <p:sp>
        <p:nvSpPr>
          <p:cNvPr id="5" name="Rectangle 3">
            <a:extLst>
              <a:ext uri="{FF2B5EF4-FFF2-40B4-BE49-F238E27FC236}">
                <a16:creationId xmlns:a16="http://schemas.microsoft.com/office/drawing/2014/main" id="{BE50DBC1-0E0C-B6A8-46F6-89EB9B24ED68}"/>
              </a:ext>
            </a:extLst>
          </p:cNvPr>
          <p:cNvSpPr>
            <a:spLocks noChangeArrowheads="1"/>
          </p:cNvSpPr>
          <p:nvPr/>
        </p:nvSpPr>
        <p:spPr bwMode="auto">
          <a:xfrm>
            <a:off x="139148" y="119749"/>
            <a:ext cx="213520"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800" b="0" i="0" u="none" strike="noStrike" cap="none" normalizeH="0" baseline="0" dirty="0">
                <a:ln>
                  <a:noFill/>
                </a:ln>
                <a:solidFill>
                  <a:schemeClr val="tx1"/>
                </a:solidFill>
                <a:effectLst/>
              </a:rPr>
              <a:t> </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9" name="Rectangle: Rounded Corners 8">
            <a:extLst>
              <a:ext uri="{FF2B5EF4-FFF2-40B4-BE49-F238E27FC236}">
                <a16:creationId xmlns:a16="http://schemas.microsoft.com/office/drawing/2014/main" id="{3793FE59-377D-1560-11B1-58CD4F092BAA}"/>
              </a:ext>
            </a:extLst>
          </p:cNvPr>
          <p:cNvSpPr/>
          <p:nvPr/>
        </p:nvSpPr>
        <p:spPr>
          <a:xfrm>
            <a:off x="561996" y="1901614"/>
            <a:ext cx="5020734" cy="6155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11# Compare Finite Difference with PINNs Prediction  </a:t>
            </a:r>
            <a:endParaRPr lang="en-PK" dirty="0"/>
          </a:p>
        </p:txBody>
      </p:sp>
      <p:sp>
        <p:nvSpPr>
          <p:cNvPr id="3" name="TextBox 2">
            <a:extLst>
              <a:ext uri="{FF2B5EF4-FFF2-40B4-BE49-F238E27FC236}">
                <a16:creationId xmlns:a16="http://schemas.microsoft.com/office/drawing/2014/main" id="{7B88346D-F15C-BF42-FFEB-A12E34D5624F}"/>
              </a:ext>
            </a:extLst>
          </p:cNvPr>
          <p:cNvSpPr txBox="1"/>
          <p:nvPr/>
        </p:nvSpPr>
        <p:spPr>
          <a:xfrm>
            <a:off x="6188070" y="439603"/>
            <a:ext cx="5758022" cy="6006260"/>
          </a:xfrm>
          <a:prstGeom prst="rect">
            <a:avLst/>
          </a:prstGeom>
          <a:solidFill>
            <a:schemeClr val="bg1">
              <a:lumMod val="85000"/>
            </a:schemeClr>
          </a:solidFill>
        </p:spPr>
        <p:txBody>
          <a:bodyPr wrap="square">
            <a:spAutoFit/>
          </a:bodyPr>
          <a:lstStyle/>
          <a:p>
            <a:pPr>
              <a:lnSpc>
                <a:spcPts val="1425"/>
              </a:lnSpc>
              <a:buNone/>
            </a:pPr>
            <a:r>
              <a:rPr lang="en-US" sz="1100" b="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 ===== Error =====</a:t>
            </a:r>
            <a:endPar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endParaRP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error = np.</a:t>
            </a:r>
            <a:r>
              <a:rPr lang="en-US" sz="1100" b="0" dirty="0">
                <a:solidFill>
                  <a:srgbClr val="6A5221"/>
                </a:solidFill>
                <a:effectLst/>
                <a:latin typeface="Cascadia Code" panose="020B0609020000020004" pitchFamily="49" charset="0"/>
                <a:ea typeface="Cascadia Code" panose="020B0609020000020004" pitchFamily="49" charset="0"/>
                <a:cs typeface="Cascadia Code" panose="020B0609020000020004" pitchFamily="49" charset="0"/>
              </a:rPr>
              <a:t>abs</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(u_pred - U_true)</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l2_error = np.sqrt(</a:t>
            </a:r>
            <a:r>
              <a:rPr lang="en-US" sz="1100" b="0" dirty="0" err="1">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np.mean</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((u_pred - U_true)**</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2</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max_error = np.</a:t>
            </a:r>
            <a:r>
              <a:rPr lang="en-US" sz="1100" b="0" dirty="0">
                <a:solidFill>
                  <a:srgbClr val="6A5221"/>
                </a:solidFill>
                <a:effectLst/>
                <a:latin typeface="Cascadia Code" panose="020B0609020000020004" pitchFamily="49" charset="0"/>
                <a:ea typeface="Cascadia Code" panose="020B0609020000020004" pitchFamily="49" charset="0"/>
                <a:cs typeface="Cascadia Code" panose="020B0609020000020004" pitchFamily="49" charset="0"/>
              </a:rPr>
              <a:t>max</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(error)</a:t>
            </a:r>
          </a:p>
          <a:p>
            <a:pPr>
              <a:lnSpc>
                <a:spcPts val="1425"/>
              </a:lnSpc>
              <a:buNone/>
            </a:pPr>
            <a:r>
              <a:rPr lang="en-US" sz="1100" b="0" dirty="0">
                <a:solidFill>
                  <a:srgbClr val="6A5221"/>
                </a:solidFill>
                <a:effectLst/>
                <a:latin typeface="Cascadia Code" panose="020B0609020000020004" pitchFamily="49" charset="0"/>
                <a:ea typeface="Cascadia Code" panose="020B0609020000020004" pitchFamily="49" charset="0"/>
                <a:cs typeface="Cascadia Code" panose="020B0609020000020004" pitchFamily="49" charset="0"/>
              </a:rPr>
              <a:t>print</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dirty="0">
                <a:solidFill>
                  <a:srgbClr val="0000FF"/>
                </a:solidFill>
                <a:effectLst/>
                <a:latin typeface="Cascadia Code" panose="020B0609020000020004" pitchFamily="49" charset="0"/>
                <a:ea typeface="Cascadia Code" panose="020B0609020000020004" pitchFamily="49" charset="0"/>
                <a:cs typeface="Cascadia Code" panose="020B0609020000020004" pitchFamily="49" charset="0"/>
              </a:rPr>
              <a:t>f</a:t>
            </a:r>
            <a:r>
              <a:rPr lang="en-US" sz="1100" b="0" dirty="0">
                <a:solidFill>
                  <a:srgbClr val="A31515"/>
                </a:solidFill>
                <a:effectLst/>
                <a:latin typeface="Cascadia Code" panose="020B0609020000020004" pitchFamily="49" charset="0"/>
                <a:ea typeface="Cascadia Code" panose="020B0609020000020004" pitchFamily="49" charset="0"/>
                <a:cs typeface="Cascadia Code" panose="020B0609020000020004" pitchFamily="49" charset="0"/>
              </a:rPr>
              <a:t>"L2 error over space-time grid: </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{l2_error</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:.3e</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dirty="0">
                <a:solidFill>
                  <a:srgbClr val="A31515"/>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b="0" dirty="0">
                <a:solidFill>
                  <a:srgbClr val="6A5221"/>
                </a:solidFill>
                <a:effectLst/>
                <a:latin typeface="Cascadia Code" panose="020B0609020000020004" pitchFamily="49" charset="0"/>
                <a:ea typeface="Cascadia Code" panose="020B0609020000020004" pitchFamily="49" charset="0"/>
                <a:cs typeface="Cascadia Code" panose="020B0609020000020004" pitchFamily="49" charset="0"/>
              </a:rPr>
              <a:t>print</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dirty="0" err="1">
                <a:solidFill>
                  <a:srgbClr val="0000FF"/>
                </a:solidFill>
                <a:effectLst/>
                <a:latin typeface="Cascadia Code" panose="020B0609020000020004" pitchFamily="49" charset="0"/>
                <a:ea typeface="Cascadia Code" panose="020B0609020000020004" pitchFamily="49" charset="0"/>
                <a:cs typeface="Cascadia Code" panose="020B0609020000020004" pitchFamily="49" charset="0"/>
              </a:rPr>
              <a:t>f</a:t>
            </a:r>
            <a:r>
              <a:rPr lang="en-US" sz="1100" b="0" dirty="0" err="1">
                <a:solidFill>
                  <a:srgbClr val="A31515"/>
                </a:solidFill>
                <a:effectLst/>
                <a:latin typeface="Cascadia Code" panose="020B0609020000020004" pitchFamily="49" charset="0"/>
                <a:ea typeface="Cascadia Code" panose="020B0609020000020004" pitchFamily="49" charset="0"/>
                <a:cs typeface="Cascadia Code" panose="020B0609020000020004" pitchFamily="49" charset="0"/>
              </a:rPr>
              <a:t>"Max</a:t>
            </a:r>
            <a:r>
              <a:rPr lang="en-US" sz="1100" b="0" dirty="0">
                <a:solidFill>
                  <a:srgbClr val="A31515"/>
                </a:solidFill>
                <a:effectLst/>
                <a:latin typeface="Cascadia Code" panose="020B0609020000020004" pitchFamily="49" charset="0"/>
                <a:ea typeface="Cascadia Code" panose="020B0609020000020004" pitchFamily="49" charset="0"/>
                <a:cs typeface="Cascadia Code" panose="020B0609020000020004" pitchFamily="49" charset="0"/>
              </a:rPr>
              <a:t> abs error over space-time grid: </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{max_error</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:.3e</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dirty="0">
                <a:solidFill>
                  <a:srgbClr val="A31515"/>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endPar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endParaRPr>
          </a:p>
          <a:p>
            <a:pPr>
              <a:lnSpc>
                <a:spcPts val="1425"/>
              </a:lnSpc>
              <a:buNone/>
            </a:pPr>
            <a:r>
              <a:rPr lang="en-US" sz="1100" b="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 ===== Plots: prediction, ground truth, error =====</a:t>
            </a:r>
            <a:endPar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endParaRP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fig, axs = plt.subplots(</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3</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figsize=(</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24</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3</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constrained_layout=</a:t>
            </a:r>
            <a:r>
              <a:rPr lang="en-US" sz="1100" b="0" dirty="0">
                <a:solidFill>
                  <a:srgbClr val="0000FF"/>
                </a:solidFill>
                <a:effectLst/>
                <a:latin typeface="Cascadia Code" panose="020B0609020000020004" pitchFamily="49" charset="0"/>
                <a:ea typeface="Cascadia Code" panose="020B0609020000020004" pitchFamily="49" charset="0"/>
                <a:cs typeface="Cascadia Code" panose="020B0609020000020004" pitchFamily="49" charset="0"/>
              </a:rPr>
              <a:t>True</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endPar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endParaRP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vmin = </a:t>
            </a:r>
            <a:r>
              <a:rPr lang="en-US" sz="1100" b="0" dirty="0">
                <a:solidFill>
                  <a:srgbClr val="6A5221"/>
                </a:solidFill>
                <a:effectLst/>
                <a:latin typeface="Cascadia Code" panose="020B0609020000020004" pitchFamily="49" charset="0"/>
                <a:ea typeface="Cascadia Code" panose="020B0609020000020004" pitchFamily="49" charset="0"/>
                <a:cs typeface="Cascadia Code" panose="020B0609020000020004" pitchFamily="49" charset="0"/>
              </a:rPr>
              <a:t>min</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(u_pred.</a:t>
            </a:r>
            <a:r>
              <a:rPr lang="en-US" sz="1100" b="0" dirty="0">
                <a:solidFill>
                  <a:srgbClr val="6A5221"/>
                </a:solidFill>
                <a:effectLst/>
                <a:latin typeface="Cascadia Code" panose="020B0609020000020004" pitchFamily="49" charset="0"/>
                <a:ea typeface="Cascadia Code" panose="020B0609020000020004" pitchFamily="49" charset="0"/>
                <a:cs typeface="Cascadia Code" panose="020B0609020000020004" pitchFamily="49" charset="0"/>
              </a:rPr>
              <a:t>min</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U_true.</a:t>
            </a:r>
            <a:r>
              <a:rPr lang="en-US" sz="1100" b="0" dirty="0">
                <a:solidFill>
                  <a:srgbClr val="6A5221"/>
                </a:solidFill>
                <a:effectLst/>
                <a:latin typeface="Cascadia Code" panose="020B0609020000020004" pitchFamily="49" charset="0"/>
                <a:ea typeface="Cascadia Code" panose="020B0609020000020004" pitchFamily="49" charset="0"/>
                <a:cs typeface="Cascadia Code" panose="020B0609020000020004" pitchFamily="49" charset="0"/>
              </a:rPr>
              <a:t>min</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vmax = </a:t>
            </a:r>
            <a:r>
              <a:rPr lang="en-US" sz="1100" b="0" dirty="0">
                <a:solidFill>
                  <a:srgbClr val="6A5221"/>
                </a:solidFill>
                <a:effectLst/>
                <a:latin typeface="Cascadia Code" panose="020B0609020000020004" pitchFamily="49" charset="0"/>
                <a:ea typeface="Cascadia Code" panose="020B0609020000020004" pitchFamily="49" charset="0"/>
                <a:cs typeface="Cascadia Code" panose="020B0609020000020004" pitchFamily="49" charset="0"/>
              </a:rPr>
              <a:t>max</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(u_pred.</a:t>
            </a:r>
            <a:r>
              <a:rPr lang="en-US" sz="1100" b="0" dirty="0">
                <a:solidFill>
                  <a:srgbClr val="6A5221"/>
                </a:solidFill>
                <a:effectLst/>
                <a:latin typeface="Cascadia Code" panose="020B0609020000020004" pitchFamily="49" charset="0"/>
                <a:ea typeface="Cascadia Code" panose="020B0609020000020004" pitchFamily="49" charset="0"/>
                <a:cs typeface="Cascadia Code" panose="020B0609020000020004" pitchFamily="49" charset="0"/>
              </a:rPr>
              <a:t>max</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U_true.</a:t>
            </a:r>
            <a:r>
              <a:rPr lang="en-US" sz="1100" b="0" dirty="0">
                <a:solidFill>
                  <a:srgbClr val="6A5221"/>
                </a:solidFill>
                <a:effectLst/>
                <a:latin typeface="Cascadia Code" panose="020B0609020000020004" pitchFamily="49" charset="0"/>
                <a:ea typeface="Cascadia Code" panose="020B0609020000020004" pitchFamily="49" charset="0"/>
                <a:cs typeface="Cascadia Code" panose="020B0609020000020004" pitchFamily="49" charset="0"/>
              </a:rPr>
              <a:t>max</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endPar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endParaRP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c1 = axs[</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0</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].contourf(T_np, X_np, u_pred, </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50</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cmap=</a:t>
            </a:r>
            <a:r>
              <a:rPr lang="en-US" sz="1100" b="0" dirty="0">
                <a:solidFill>
                  <a:srgbClr val="A31515"/>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dirty="0" err="1">
                <a:solidFill>
                  <a:srgbClr val="A31515"/>
                </a:solidFill>
                <a:effectLst/>
                <a:latin typeface="Cascadia Code" panose="020B0609020000020004" pitchFamily="49" charset="0"/>
                <a:ea typeface="Cascadia Code" panose="020B0609020000020004" pitchFamily="49" charset="0"/>
                <a:cs typeface="Cascadia Code" panose="020B0609020000020004" pitchFamily="49" charset="0"/>
              </a:rPr>
              <a:t>coolwarm</a:t>
            </a:r>
            <a:r>
              <a:rPr lang="en-US" sz="1100" b="0" dirty="0">
                <a:solidFill>
                  <a:srgbClr val="A31515"/>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vmin=vmin, vmax=vmax)</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axs[</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0</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].set_title(</a:t>
            </a:r>
            <a:r>
              <a:rPr lang="en-US" sz="1100" b="0" dirty="0">
                <a:solidFill>
                  <a:srgbClr val="A31515"/>
                </a:solidFill>
                <a:effectLst/>
                <a:latin typeface="Cascadia Code" panose="020B0609020000020004" pitchFamily="49" charset="0"/>
                <a:ea typeface="Cascadia Code" panose="020B0609020000020004" pitchFamily="49" charset="0"/>
                <a:cs typeface="Cascadia Code" panose="020B0609020000020004" pitchFamily="49" charset="0"/>
              </a:rPr>
              <a:t>"PINN Prediction"</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fig.colorbar(c1, ax=axs[</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0</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endPar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endParaRP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c2 = axs[</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].contourf(T_np, X_np, U_true, </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50</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cmap=</a:t>
            </a:r>
            <a:r>
              <a:rPr lang="en-US" sz="1100" b="0" dirty="0">
                <a:solidFill>
                  <a:srgbClr val="A31515"/>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dirty="0" err="1">
                <a:solidFill>
                  <a:srgbClr val="A31515"/>
                </a:solidFill>
                <a:effectLst/>
                <a:latin typeface="Cascadia Code" panose="020B0609020000020004" pitchFamily="49" charset="0"/>
                <a:ea typeface="Cascadia Code" panose="020B0609020000020004" pitchFamily="49" charset="0"/>
                <a:cs typeface="Cascadia Code" panose="020B0609020000020004" pitchFamily="49" charset="0"/>
              </a:rPr>
              <a:t>coolwarm</a:t>
            </a:r>
            <a:r>
              <a:rPr lang="en-US" sz="1100" b="0" dirty="0">
                <a:solidFill>
                  <a:srgbClr val="A31515"/>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vmin=vmin, vmax=vmax)</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axs[</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].set_title(</a:t>
            </a:r>
            <a:r>
              <a:rPr lang="en-US" sz="1100" b="0" dirty="0">
                <a:solidFill>
                  <a:srgbClr val="A31515"/>
                </a:solidFill>
                <a:effectLst/>
                <a:latin typeface="Cascadia Code" panose="020B0609020000020004" pitchFamily="49" charset="0"/>
                <a:ea typeface="Cascadia Code" panose="020B0609020000020004" pitchFamily="49" charset="0"/>
                <a:cs typeface="Cascadia Code" panose="020B0609020000020004" pitchFamily="49" charset="0"/>
              </a:rPr>
              <a:t>"FD Ground Truth"</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fig.colorbar(c2, ax=axs[</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endPar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endParaRP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c3 = axs[</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2</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].contourf(T_np, X_np, error, </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50</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cmap=</a:t>
            </a:r>
            <a:r>
              <a:rPr lang="en-US" sz="1100" b="0" dirty="0">
                <a:solidFill>
                  <a:srgbClr val="A31515"/>
                </a:solidFill>
                <a:effectLst/>
                <a:latin typeface="Cascadia Code" panose="020B0609020000020004" pitchFamily="49" charset="0"/>
                <a:ea typeface="Cascadia Code" panose="020B0609020000020004" pitchFamily="49" charset="0"/>
                <a:cs typeface="Cascadia Code" panose="020B0609020000020004" pitchFamily="49" charset="0"/>
              </a:rPr>
              <a:t>'inferno'</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axs[</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2</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].set_title(</a:t>
            </a:r>
            <a:r>
              <a:rPr lang="en-US" sz="1100" b="0" dirty="0">
                <a:solidFill>
                  <a:srgbClr val="A31515"/>
                </a:solidFill>
                <a:effectLst/>
                <a:latin typeface="Cascadia Code" panose="020B0609020000020004" pitchFamily="49" charset="0"/>
                <a:ea typeface="Cascadia Code" panose="020B0609020000020004" pitchFamily="49" charset="0"/>
                <a:cs typeface="Cascadia Code" panose="020B0609020000020004" pitchFamily="49" charset="0"/>
              </a:rPr>
              <a:t>"|u_pred - u_true|"</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fig.colorbar(c3, ax=axs[</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2</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endPar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endParaRPr>
          </a:p>
          <a:p>
            <a:pPr>
              <a:lnSpc>
                <a:spcPts val="1425"/>
              </a:lnSpc>
              <a:buNone/>
            </a:pPr>
            <a:r>
              <a:rPr lang="en-US" sz="1100" b="0" dirty="0">
                <a:solidFill>
                  <a:srgbClr val="9723B4"/>
                </a:solidFill>
                <a:effectLst/>
                <a:latin typeface="Cascadia Code" panose="020B0609020000020004" pitchFamily="49" charset="0"/>
                <a:ea typeface="Cascadia Code" panose="020B0609020000020004" pitchFamily="49" charset="0"/>
                <a:cs typeface="Cascadia Code" panose="020B0609020000020004" pitchFamily="49" charset="0"/>
              </a:rPr>
              <a:t>for</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ax </a:t>
            </a:r>
            <a:r>
              <a:rPr lang="en-US" sz="1100" b="0" dirty="0">
                <a:solidFill>
                  <a:srgbClr val="0000FF"/>
                </a:solidFill>
                <a:effectLst/>
                <a:latin typeface="Cascadia Code" panose="020B0609020000020004" pitchFamily="49" charset="0"/>
                <a:ea typeface="Cascadia Code" panose="020B0609020000020004" pitchFamily="49" charset="0"/>
                <a:cs typeface="Cascadia Code" panose="020B0609020000020004" pitchFamily="49" charset="0"/>
              </a:rPr>
              <a:t>in</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axs:</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ax.set_xlabel(</a:t>
            </a:r>
            <a:r>
              <a:rPr lang="en-US" sz="1100" b="0" dirty="0">
                <a:solidFill>
                  <a:srgbClr val="A31515"/>
                </a:solidFill>
                <a:effectLst/>
                <a:latin typeface="Cascadia Code" panose="020B0609020000020004" pitchFamily="49" charset="0"/>
                <a:ea typeface="Cascadia Code" panose="020B0609020000020004" pitchFamily="49" charset="0"/>
                <a:cs typeface="Cascadia Code" panose="020B0609020000020004" pitchFamily="49" charset="0"/>
              </a:rPr>
              <a:t>'t'</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ax.set_ylabel(</a:t>
            </a:r>
            <a:r>
              <a:rPr lang="en-US" sz="1100" b="0" dirty="0">
                <a:solidFill>
                  <a:srgbClr val="A31515"/>
                </a:solidFill>
                <a:effectLst/>
                <a:latin typeface="Cascadia Code" panose="020B0609020000020004" pitchFamily="49" charset="0"/>
                <a:ea typeface="Cascadia Code" panose="020B0609020000020004" pitchFamily="49" charset="0"/>
                <a:cs typeface="Cascadia Code" panose="020B0609020000020004" pitchFamily="49" charset="0"/>
              </a:rPr>
              <a:t>'x'</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endPar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endParaRP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plt.show()</a:t>
            </a:r>
          </a:p>
        </p:txBody>
      </p:sp>
      <p:sp>
        <p:nvSpPr>
          <p:cNvPr id="8" name="TextBox 7">
            <a:extLst>
              <a:ext uri="{FF2B5EF4-FFF2-40B4-BE49-F238E27FC236}">
                <a16:creationId xmlns:a16="http://schemas.microsoft.com/office/drawing/2014/main" id="{4D52164D-FAB7-815A-4C3A-0CD9917FDA9A}"/>
              </a:ext>
            </a:extLst>
          </p:cNvPr>
          <p:cNvSpPr txBox="1"/>
          <p:nvPr/>
        </p:nvSpPr>
        <p:spPr>
          <a:xfrm>
            <a:off x="561996" y="2663812"/>
            <a:ext cx="6096000" cy="646331"/>
          </a:xfrm>
          <a:prstGeom prst="rect">
            <a:avLst/>
          </a:prstGeom>
          <a:noFill/>
        </p:spPr>
        <p:txBody>
          <a:bodyPr wrap="square">
            <a:spAutoFit/>
          </a:bodyPr>
          <a:lstStyle/>
          <a:p>
            <a:r>
              <a:rPr lang="en-US" dirty="0"/>
              <a:t>L2 error over space-time grid: 4.329e-02</a:t>
            </a:r>
          </a:p>
          <a:p>
            <a:r>
              <a:rPr lang="en-US" dirty="0"/>
              <a:t>Max abs error over space-time grid: 6.961e-01</a:t>
            </a:r>
            <a:endParaRPr lang="en-PK" dirty="0"/>
          </a:p>
        </p:txBody>
      </p:sp>
      <p:pic>
        <p:nvPicPr>
          <p:cNvPr id="10" name="Picture 9">
            <a:extLst>
              <a:ext uri="{FF2B5EF4-FFF2-40B4-BE49-F238E27FC236}">
                <a16:creationId xmlns:a16="http://schemas.microsoft.com/office/drawing/2014/main" id="{36327313-DE67-DA75-AB15-34DAE6436073}"/>
              </a:ext>
            </a:extLst>
          </p:cNvPr>
          <p:cNvPicPr>
            <a:picLocks noChangeAspect="1"/>
          </p:cNvPicPr>
          <p:nvPr/>
        </p:nvPicPr>
        <p:blipFill>
          <a:blip r:embed="rId3"/>
          <a:srcRect r="33457"/>
          <a:stretch>
            <a:fillRect/>
          </a:stretch>
        </p:blipFill>
        <p:spPr>
          <a:xfrm>
            <a:off x="1" y="3547858"/>
            <a:ext cx="6096000" cy="1182186"/>
          </a:xfrm>
          <a:prstGeom prst="rect">
            <a:avLst/>
          </a:prstGeom>
        </p:spPr>
      </p:pic>
      <p:pic>
        <p:nvPicPr>
          <p:cNvPr id="11" name="Picture 10">
            <a:extLst>
              <a:ext uri="{FF2B5EF4-FFF2-40B4-BE49-F238E27FC236}">
                <a16:creationId xmlns:a16="http://schemas.microsoft.com/office/drawing/2014/main" id="{5D6BAF2F-4CBB-A0D3-C128-76EAFC78F169}"/>
              </a:ext>
            </a:extLst>
          </p:cNvPr>
          <p:cNvPicPr>
            <a:picLocks noChangeAspect="1"/>
          </p:cNvPicPr>
          <p:nvPr/>
        </p:nvPicPr>
        <p:blipFill>
          <a:blip r:embed="rId3"/>
          <a:srcRect l="66851"/>
          <a:stretch>
            <a:fillRect/>
          </a:stretch>
        </p:blipFill>
        <p:spPr>
          <a:xfrm>
            <a:off x="1575651" y="4943823"/>
            <a:ext cx="3036769" cy="1182186"/>
          </a:xfrm>
          <a:prstGeom prst="rect">
            <a:avLst/>
          </a:prstGeom>
        </p:spPr>
      </p:pic>
    </p:spTree>
    <p:extLst>
      <p:ext uri="{BB962C8B-B14F-4D97-AF65-F5344CB8AC3E}">
        <p14:creationId xmlns:p14="http://schemas.microsoft.com/office/powerpoint/2010/main" val="11539179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15501-E50D-CE15-2BB1-6C5C20B79D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829F58-F612-B54D-6E32-81B8840D4980}"/>
              </a:ext>
            </a:extLst>
          </p:cNvPr>
          <p:cNvSpPr>
            <a:spLocks noGrp="1"/>
          </p:cNvSpPr>
          <p:nvPr>
            <p:ph type="title"/>
          </p:nvPr>
        </p:nvSpPr>
        <p:spPr>
          <a:xfrm>
            <a:off x="444500" y="412137"/>
            <a:ext cx="9146972" cy="640080"/>
          </a:xfrm>
        </p:spPr>
        <p:txBody>
          <a:bodyPr>
            <a:normAutofit/>
          </a:bodyPr>
          <a:lstStyle/>
          <a:p>
            <a:r>
              <a:rPr lang="en-US" sz="4000" b="1" dirty="0">
                <a:solidFill>
                  <a:srgbClr val="002060"/>
                </a:solidFill>
                <a:latin typeface="Segoe UI Semibold" panose="020B0502040204020203" pitchFamily="34" charset="0"/>
                <a:cs typeface="Segoe UI Semibold" panose="020B0502040204020203" pitchFamily="34" charset="0"/>
              </a:rPr>
              <a:t>Introduction</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D68730BB-12E3-58E0-C58B-C9B56EA54AED}"/>
                  </a:ext>
                </a:extLst>
              </p:cNvPr>
              <p:cNvSpPr txBox="1"/>
              <p:nvPr/>
            </p:nvSpPr>
            <p:spPr>
              <a:xfrm>
                <a:off x="583648" y="1436581"/>
                <a:ext cx="10971048" cy="5201424"/>
              </a:xfrm>
              <a:prstGeom prst="rect">
                <a:avLst/>
              </a:prstGeom>
              <a:noFill/>
            </p:spPr>
            <p:txBody>
              <a:bodyPr wrap="square" rtlCol="0">
                <a:spAutoFit/>
              </a:bodyPr>
              <a:lstStyle/>
              <a:p>
                <a:r>
                  <a:rPr lang="en-US" sz="2400" b="1" dirty="0"/>
                  <a:t>2) Inverse Problem </a:t>
                </a:r>
              </a:p>
              <a:p>
                <a:pPr lvl="1"/>
                <a:r>
                  <a:rPr lang="en-US" dirty="0"/>
                  <a:t>Specifically, our inputs and outputs are:</a:t>
                </a:r>
              </a:p>
              <a:p>
                <a:pPr lvl="2"/>
                <a:r>
                  <a:rPr lang="en-US" b="1" dirty="0"/>
                  <a:t>Inputs: </a:t>
                </a:r>
                <a:r>
                  <a:rPr lang="en-PK" altLang="en-PK" dirty="0">
                    <a:solidFill>
                      <a:srgbClr val="1F1F1F"/>
                    </a:solidFill>
                    <a:latin typeface="Google Sans Text"/>
                  </a:rPr>
                  <a:t>noisy </a:t>
                </a:r>
                <a:r>
                  <a:rPr lang="en-US" altLang="en-PK" dirty="0">
                    <a:solidFill>
                      <a:srgbClr val="1F1F1F"/>
                    </a:solidFill>
                    <a:latin typeface="Google Sans Text"/>
                  </a:rPr>
                  <a:t>data</a:t>
                </a:r>
                <a:r>
                  <a:rPr lang="en-PK" altLang="en-PK" dirty="0">
                    <a:solidFill>
                      <a:srgbClr val="1F1F1F"/>
                    </a:solidFill>
                    <a:latin typeface="Google Sans Text"/>
                  </a:rPr>
                  <a:t> of the </a:t>
                </a:r>
                <a:r>
                  <a:rPr lang="en-US" altLang="en-PK" dirty="0">
                    <a:solidFill>
                      <a:srgbClr val="1F1F1F"/>
                    </a:solidFill>
                    <a:latin typeface="Google Sans Text"/>
                  </a:rPr>
                  <a:t>solution</a:t>
                </a:r>
                <a:r>
                  <a:rPr lang="en-PK" altLang="en-PK" dirty="0">
                    <a:solidFill>
                      <a:srgbClr val="1F1F1F"/>
                    </a:solidFill>
                    <a:latin typeface="Google Sans Text"/>
                  </a:rPr>
                  <a:t>, </a:t>
                </a:r>
                <a14:m>
                  <m:oMath xmlns:m="http://schemas.openxmlformats.org/officeDocument/2006/math">
                    <m:r>
                      <a:rPr lang="en-PK" altLang="en-PK" b="1" i="1" dirty="0" smtClean="0">
                        <a:solidFill>
                          <a:srgbClr val="1F1F1F"/>
                        </a:solidFill>
                        <a:latin typeface="Cambria Math" panose="02040503050406030204" pitchFamily="18" charset="0"/>
                      </a:rPr>
                      <m:t>𝒖</m:t>
                    </m:r>
                    <m:r>
                      <a:rPr lang="en-US" altLang="en-PK" b="1" i="1" dirty="0" smtClean="0">
                        <a:solidFill>
                          <a:srgbClr val="1F1F1F"/>
                        </a:solidFill>
                        <a:latin typeface="Cambria Math" panose="02040503050406030204" pitchFamily="18" charset="0"/>
                      </a:rPr>
                      <m:t>(</m:t>
                    </m:r>
                    <m:r>
                      <a:rPr lang="en-US" altLang="en-PK" b="1" i="1" dirty="0" smtClean="0">
                        <a:solidFill>
                          <a:srgbClr val="1F1F1F"/>
                        </a:solidFill>
                        <a:latin typeface="Cambria Math" panose="02040503050406030204" pitchFamily="18" charset="0"/>
                      </a:rPr>
                      <m:t>𝒙</m:t>
                    </m:r>
                    <m:r>
                      <a:rPr lang="en-US" altLang="en-PK" b="1" i="1" dirty="0" smtClean="0">
                        <a:solidFill>
                          <a:srgbClr val="1F1F1F"/>
                        </a:solidFill>
                        <a:latin typeface="Cambria Math" panose="02040503050406030204" pitchFamily="18" charset="0"/>
                      </a:rPr>
                      <m:t>, </m:t>
                    </m:r>
                    <m:r>
                      <a:rPr lang="en-US" altLang="en-PK" b="1" i="1" dirty="0" smtClean="0">
                        <a:solidFill>
                          <a:srgbClr val="1F1F1F"/>
                        </a:solidFill>
                        <a:latin typeface="Cambria Math" panose="02040503050406030204" pitchFamily="18" charset="0"/>
                      </a:rPr>
                      <m:t>𝒕</m:t>
                    </m:r>
                    <m:r>
                      <a:rPr lang="en-US" altLang="en-PK" b="1" i="1" dirty="0" smtClean="0">
                        <a:solidFill>
                          <a:srgbClr val="1F1F1F"/>
                        </a:solidFill>
                        <a:latin typeface="Cambria Math" panose="02040503050406030204" pitchFamily="18" charset="0"/>
                      </a:rPr>
                      <m:t>)</m:t>
                    </m:r>
                  </m:oMath>
                </a14:m>
                <a:r>
                  <a:rPr lang="en-PK" altLang="en-PK" b="1" dirty="0">
                    <a:solidFill>
                      <a:srgbClr val="1F1F1F"/>
                    </a:solidFill>
                    <a:latin typeface="MathJax_Main"/>
                  </a:rPr>
                  <a:t> </a:t>
                </a:r>
                <a:endParaRPr lang="en-US" altLang="en-PK" b="1" dirty="0">
                  <a:solidFill>
                    <a:srgbClr val="1F1F1F"/>
                  </a:solidFill>
                  <a:latin typeface="MathJax_Main"/>
                </a:endParaRPr>
              </a:p>
              <a:p>
                <a:pPr lvl="2"/>
                <a:r>
                  <a:rPr lang="en-US" b="1" dirty="0"/>
                  <a:t>Outputs: </a:t>
                </a:r>
                <a:r>
                  <a:rPr lang="en-PK" altLang="en-PK" dirty="0">
                    <a:solidFill>
                      <a:srgbClr val="1F1F1F"/>
                    </a:solidFill>
                    <a:latin typeface="Google Sans Text"/>
                  </a:rPr>
                  <a:t>estimate </a:t>
                </a:r>
                <a14:m>
                  <m:oMath xmlns:m="http://schemas.openxmlformats.org/officeDocument/2006/math">
                    <m:r>
                      <a:rPr lang="en-PK" altLang="en-PK" b="1" i="1" dirty="0" smtClean="0">
                        <a:solidFill>
                          <a:srgbClr val="1F1F1F"/>
                        </a:solidFill>
                        <a:latin typeface="Cambria Math" panose="02040503050406030204" pitchFamily="18" charset="0"/>
                        <a:ea typeface="Cambria Math" panose="02040503050406030204" pitchFamily="18" charset="0"/>
                      </a:rPr>
                      <m:t>𝝂</m:t>
                    </m:r>
                  </m:oMath>
                </a14:m>
                <a:r>
                  <a:rPr lang="en-PK" altLang="en-PK" dirty="0">
                    <a:solidFill>
                      <a:srgbClr val="1F1F1F"/>
                    </a:solidFill>
                    <a:latin typeface="Google Sans Text"/>
                  </a:rPr>
                  <a:t>,  </a:t>
                </a:r>
                <a:r>
                  <a:rPr lang="en-US" altLang="en-PK" dirty="0">
                    <a:solidFill>
                      <a:srgbClr val="1F1F1F"/>
                    </a:solidFill>
                    <a:latin typeface="Google Sans Text"/>
                  </a:rPr>
                  <a:t>(viscosity) in Burger’s Equation</a:t>
                </a:r>
              </a:p>
              <a:p>
                <a:pPr lvl="0" eaLnBrk="0" fontAlgn="base" hangingPunct="0">
                  <a:spcBef>
                    <a:spcPct val="0"/>
                  </a:spcBef>
                  <a:spcAft>
                    <a:spcPct val="0"/>
                  </a:spcAft>
                  <a:buFontTx/>
                  <a:buChar char="•"/>
                </a:pPr>
                <a:endParaRPr lang="en-US" dirty="0"/>
              </a:p>
              <a:p>
                <a:r>
                  <a:rPr lang="en-US" b="1" dirty="0"/>
                  <a:t>Approach</a:t>
                </a:r>
                <a:br>
                  <a:rPr lang="en-US" b="1" dirty="0"/>
                </a:br>
                <a:r>
                  <a:rPr lang="en-US" dirty="0"/>
                  <a:t>Similar</a:t>
                </a:r>
                <a:r>
                  <a:rPr lang="en-US" b="1" dirty="0"/>
                  <a:t>,</a:t>
                </a:r>
                <a:r>
                  <a:rPr lang="en-US" dirty="0"/>
                  <a:t> PINN is trained to directly approximate the solution to the differential equation, i.e.</a:t>
                </a:r>
              </a:p>
              <a:p>
                <a:endParaRPr lang="en-US" dirty="0"/>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𝑢</m:t>
                          </m:r>
                        </m:e>
                        <m:sub>
                          <m:r>
                            <m:rPr>
                              <m:sty m:val="p"/>
                            </m:rPr>
                            <a:rPr lang="en-US" i="1">
                              <a:latin typeface="Cambria Math" panose="02040503050406030204" pitchFamily="18" charset="0"/>
                            </a:rPr>
                            <m:t>PINN</m:t>
                          </m:r>
                        </m:sub>
                      </m:sSub>
                      <m:r>
                        <a:rPr lang="en-US" i="1" smtClean="0">
                          <a:latin typeface="Cambria Math" panose="02040503050406030204" pitchFamily="18" charset="0"/>
                        </a:rPr>
                        <m:t>(</m:t>
                      </m:r>
                      <m:r>
                        <a:rPr lang="en-US" i="1" smtClean="0">
                          <a:latin typeface="Cambria Math" panose="02040503050406030204" pitchFamily="18" charset="0"/>
                        </a:rPr>
                        <m:t>𝑡</m:t>
                      </m:r>
                      <m:r>
                        <a:rPr lang="en-US" i="1" smtClean="0">
                          <a:latin typeface="Cambria Math" panose="02040503050406030204" pitchFamily="18" charset="0"/>
                        </a:rPr>
                        <m:t>;</m:t>
                      </m:r>
                      <m:r>
                        <a:rPr lang="en-US" i="1" smtClean="0">
                          <a:latin typeface="Cambria Math" panose="02040503050406030204" pitchFamily="18" charset="0"/>
                        </a:rPr>
                        <m:t>𝜃</m:t>
                      </m:r>
                      <m:r>
                        <a:rPr lang="en-US" i="1" smtClean="0">
                          <a:latin typeface="Cambria Math" panose="02040503050406030204" pitchFamily="18" charset="0"/>
                        </a:rPr>
                        <m:t>) ≈</m:t>
                      </m:r>
                      <m:r>
                        <a:rPr lang="en-US" i="1" smtClean="0">
                          <a:latin typeface="Cambria Math" panose="02040503050406030204" pitchFamily="18" charset="0"/>
                        </a:rPr>
                        <m:t>𝑢</m:t>
                      </m:r>
                      <m:r>
                        <a:rPr lang="en-US" i="1" smtClean="0">
                          <a:latin typeface="Cambria Math" panose="02040503050406030204" pitchFamily="18" charset="0"/>
                        </a:rPr>
                        <m:t>(</m:t>
                      </m:r>
                      <m:r>
                        <a:rPr lang="en-US" i="1" smtClean="0">
                          <a:latin typeface="Cambria Math" panose="02040503050406030204" pitchFamily="18" charset="0"/>
                        </a:rPr>
                        <m:t>𝑡</m:t>
                      </m:r>
                      <m:r>
                        <a:rPr lang="en-US" i="1" smtClean="0">
                          <a:latin typeface="Cambria Math" panose="02040503050406030204" pitchFamily="18" charset="0"/>
                        </a:rPr>
                        <m:t>)</m:t>
                      </m:r>
                    </m:oMath>
                  </m:oMathPara>
                </a14:m>
                <a:endParaRPr lang="en-US" dirty="0"/>
              </a:p>
              <a:p>
                <a:endParaRPr lang="en-US" dirty="0"/>
              </a:p>
              <a:p>
                <a:r>
                  <a:rPr lang="en-PK" altLang="en-PK" dirty="0">
                    <a:solidFill>
                      <a:srgbClr val="1F1F1F"/>
                    </a:solidFill>
                    <a:latin typeface="Google Sans Text"/>
                  </a:rPr>
                  <a:t>here we assume </a:t>
                </a:r>
                <a:r>
                  <a:rPr lang="en-PK" altLang="en-PK" sz="2000" b="1" dirty="0">
                    <a:solidFill>
                      <a:srgbClr val="1F1F1F"/>
                    </a:solidFill>
                    <a:latin typeface="MathJax_Math-italic"/>
                  </a:rPr>
                  <a:t>μ</a:t>
                </a:r>
                <a:r>
                  <a:rPr lang="en-PK" altLang="en-PK" dirty="0">
                    <a:solidFill>
                      <a:srgbClr val="1F1F1F"/>
                    </a:solidFill>
                    <a:latin typeface="Google Sans Text"/>
                  </a:rPr>
                  <a:t> is not known and we treat it as an additional </a:t>
                </a:r>
                <a:r>
                  <a:rPr lang="en-PK" altLang="en-PK" b="1" dirty="0">
                    <a:solidFill>
                      <a:srgbClr val="1F1F1F"/>
                    </a:solidFill>
                    <a:latin typeface="Google Sans Text"/>
                  </a:rPr>
                  <a:t>learnable parameter</a:t>
                </a:r>
                <a:r>
                  <a:rPr lang="en-PK" altLang="en-PK" dirty="0">
                    <a:solidFill>
                      <a:srgbClr val="1F1F1F"/>
                    </a:solidFill>
                    <a:latin typeface="Google Sans Text"/>
                  </a:rPr>
                  <a:t> when training the PINN.</a:t>
                </a:r>
                <a:endParaRPr lang="en-US" altLang="en-PK" dirty="0">
                  <a:solidFill>
                    <a:srgbClr val="1F1F1F"/>
                  </a:solidFill>
                  <a:latin typeface="Google Sans Text"/>
                </a:endParaRPr>
              </a:p>
              <a:p>
                <a:endParaRPr lang="en-US" dirty="0">
                  <a:solidFill>
                    <a:srgbClr val="1F1F1F"/>
                  </a:solidFill>
                  <a:latin typeface="Google Sans Text"/>
                </a:endParaRPr>
              </a:p>
              <a:p>
                <a:r>
                  <a:rPr lang="en-US" b="1" dirty="0">
                    <a:solidFill>
                      <a:srgbClr val="1F1F1F"/>
                    </a:solidFill>
                    <a:latin typeface="Google Sans Text"/>
                  </a:rPr>
                  <a:t>Combined Loss:</a:t>
                </a:r>
              </a:p>
              <a:p>
                <a:endParaRPr lang="en-US" b="1" dirty="0">
                  <a:solidFill>
                    <a:srgbClr val="1F1F1F"/>
                  </a:solidFill>
                  <a:latin typeface="Google Sans Text"/>
                </a:endParaRPr>
              </a:p>
              <a:p>
                <a:r>
                  <a:rPr lang="en-US" b="1" dirty="0">
                    <a:solidFill>
                      <a:srgbClr val="002060"/>
                    </a:solidFill>
                    <a:latin typeface="Google Sans Text"/>
                  </a:rPr>
                  <a:t>Data Loss: 	</a:t>
                </a:r>
                <a:r>
                  <a:rPr lang="en-US" dirty="0">
                    <a:solidFill>
                      <a:srgbClr val="D24726"/>
                    </a:solidFill>
                  </a:rPr>
                  <a:t>Matches observations </a:t>
                </a:r>
                <a:r>
                  <a:rPr lang="en-US" i="1" dirty="0">
                    <a:solidFill>
                      <a:srgbClr val="D24726"/>
                    </a:solidFill>
                  </a:rPr>
                  <a:t>(if any exist)</a:t>
                </a:r>
                <a:endParaRPr lang="en-US" b="1" i="1" dirty="0">
                  <a:solidFill>
                    <a:srgbClr val="D24726"/>
                  </a:solidFill>
                  <a:latin typeface="Google Sans Text"/>
                </a:endParaRPr>
              </a:p>
              <a:p>
                <a:r>
                  <a:rPr lang="en-US" b="1" dirty="0">
                    <a:solidFill>
                      <a:srgbClr val="002060"/>
                    </a:solidFill>
                    <a:latin typeface="Google Sans Text"/>
                  </a:rPr>
                  <a:t>Boundary Loss:       </a:t>
                </a:r>
                <a:r>
                  <a:rPr lang="en-US" dirty="0">
                    <a:solidFill>
                      <a:srgbClr val="D24726"/>
                    </a:solidFill>
                  </a:rPr>
                  <a:t>Enforces Initial &amp; Boundary Conditions</a:t>
                </a:r>
                <a:endParaRPr lang="en-US" b="1" dirty="0">
                  <a:solidFill>
                    <a:srgbClr val="D24726"/>
                  </a:solidFill>
                  <a:latin typeface="Google Sans Text"/>
                </a:endParaRPr>
              </a:p>
              <a:p>
                <a:r>
                  <a:rPr lang="en-US" b="1" dirty="0">
                    <a:solidFill>
                      <a:srgbClr val="002060"/>
                    </a:solidFill>
                    <a:latin typeface="Google Sans Text"/>
                  </a:rPr>
                  <a:t>PDE Loss:                 </a:t>
                </a:r>
                <a:r>
                  <a:rPr lang="en-US" dirty="0">
                    <a:solidFill>
                      <a:srgbClr val="D24726"/>
                    </a:solidFill>
                  </a:rPr>
                  <a:t>Penalizes physics violations </a:t>
                </a:r>
                <a:r>
                  <a:rPr lang="en-US" i="1" dirty="0">
                    <a:solidFill>
                      <a:srgbClr val="D24726"/>
                    </a:solidFill>
                  </a:rPr>
                  <a:t>(Residual)</a:t>
                </a:r>
                <a:endParaRPr lang="en-US" b="1" i="1" dirty="0">
                  <a:solidFill>
                    <a:srgbClr val="D24726"/>
                  </a:solidFill>
                </a:endParaRPr>
              </a:p>
              <a:p>
                <a:pPr lvl="1"/>
                <a:endParaRPr lang="en-US" b="1" dirty="0"/>
              </a:p>
            </p:txBody>
          </p:sp>
        </mc:Choice>
        <mc:Fallback>
          <p:sp>
            <p:nvSpPr>
              <p:cNvPr id="6" name="TextBox 5">
                <a:extLst>
                  <a:ext uri="{FF2B5EF4-FFF2-40B4-BE49-F238E27FC236}">
                    <a16:creationId xmlns:a16="http://schemas.microsoft.com/office/drawing/2014/main" id="{D68730BB-12E3-58E0-C58B-C9B56EA54AED}"/>
                  </a:ext>
                </a:extLst>
              </p:cNvPr>
              <p:cNvSpPr txBox="1">
                <a:spLocks noRot="1" noChangeAspect="1" noMove="1" noResize="1" noEditPoints="1" noAdjustHandles="1" noChangeArrowheads="1" noChangeShapeType="1" noTextEdit="1"/>
              </p:cNvSpPr>
              <p:nvPr/>
            </p:nvSpPr>
            <p:spPr>
              <a:xfrm>
                <a:off x="583648" y="1436581"/>
                <a:ext cx="10971048" cy="5201424"/>
              </a:xfrm>
              <a:prstGeom prst="rect">
                <a:avLst/>
              </a:prstGeom>
              <a:blipFill>
                <a:blip r:embed="rId2"/>
                <a:stretch>
                  <a:fillRect l="-889" t="-938"/>
                </a:stretch>
              </a:blipFill>
            </p:spPr>
            <p:txBody>
              <a:bodyPr/>
              <a:lstStyle/>
              <a:p>
                <a:r>
                  <a:rPr lang="en-PK">
                    <a:noFill/>
                  </a:rPr>
                  <a:t> </a:t>
                </a:r>
              </a:p>
            </p:txBody>
          </p:sp>
        </mc:Fallback>
      </mc:AlternateContent>
      <p:sp>
        <p:nvSpPr>
          <p:cNvPr id="5" name="Rectangle 3">
            <a:extLst>
              <a:ext uri="{FF2B5EF4-FFF2-40B4-BE49-F238E27FC236}">
                <a16:creationId xmlns:a16="http://schemas.microsoft.com/office/drawing/2014/main" id="{5DD2167D-4BF0-4953-474B-7FF6C8E5D401}"/>
              </a:ext>
            </a:extLst>
          </p:cNvPr>
          <p:cNvSpPr>
            <a:spLocks noChangeArrowheads="1"/>
          </p:cNvSpPr>
          <p:nvPr/>
        </p:nvSpPr>
        <p:spPr bwMode="auto">
          <a:xfrm>
            <a:off x="139148" y="119749"/>
            <a:ext cx="213520"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800" b="0" i="0" u="none" strike="noStrike" cap="none" normalizeH="0" baseline="0" dirty="0">
                <a:ln>
                  <a:noFill/>
                </a:ln>
                <a:solidFill>
                  <a:schemeClr val="tx1"/>
                </a:solidFill>
                <a:effectLst/>
              </a:rPr>
              <a:t> </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D5D5EF6-A5B4-7865-FEE9-6B66E880903E}"/>
                  </a:ext>
                </a:extLst>
              </p:cNvPr>
              <p:cNvSpPr txBox="1"/>
              <p:nvPr/>
            </p:nvSpPr>
            <p:spPr>
              <a:xfrm>
                <a:off x="2706098" y="4798242"/>
                <a:ext cx="6097656" cy="3948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PK" smtClean="0">
                          <a:latin typeface="Cambria Math" panose="02040503050406030204" pitchFamily="18" charset="0"/>
                        </a:rPr>
                        <m:t>Loss</m:t>
                      </m:r>
                      <m:r>
                        <a:rPr lang="en-PK" i="0">
                          <a:latin typeface="Cambria Math" panose="02040503050406030204" pitchFamily="18" charset="0"/>
                        </a:rPr>
                        <m:t>=</m:t>
                      </m:r>
                      <m:sSub>
                        <m:sSubPr>
                          <m:ctrlPr>
                            <a:rPr lang="en-PK" i="1">
                              <a:latin typeface="Cambria Math" panose="02040503050406030204" pitchFamily="18" charset="0"/>
                            </a:rPr>
                          </m:ctrlPr>
                        </m:sSubPr>
                        <m:e>
                          <m:r>
                            <m:rPr>
                              <m:sty m:val="p"/>
                            </m:rPr>
                            <a:rPr lang="en-PK" i="0">
                              <a:latin typeface="Cambria Math" panose="02040503050406030204" pitchFamily="18" charset="0"/>
                            </a:rPr>
                            <m:t>MSE</m:t>
                          </m:r>
                        </m:e>
                        <m:sub>
                          <m:r>
                            <m:rPr>
                              <m:sty m:val="p"/>
                            </m:rPr>
                            <a:rPr lang="en-PK" i="0">
                              <a:latin typeface="Cambria Math" panose="02040503050406030204" pitchFamily="18" charset="0"/>
                            </a:rPr>
                            <m:t>data</m:t>
                          </m:r>
                        </m:sub>
                      </m:sSub>
                      <m:r>
                        <a:rPr lang="en-PK" i="0">
                          <a:latin typeface="Cambria Math" panose="02040503050406030204" pitchFamily="18" charset="0"/>
                        </a:rPr>
                        <m:t>+</m:t>
                      </m:r>
                      <m:sSub>
                        <m:sSubPr>
                          <m:ctrlPr>
                            <a:rPr lang="en-PK" i="1">
                              <a:latin typeface="Cambria Math" panose="02040503050406030204" pitchFamily="18" charset="0"/>
                            </a:rPr>
                          </m:ctrlPr>
                        </m:sSubPr>
                        <m:e>
                          <m:r>
                            <m:rPr>
                              <m:sty m:val="p"/>
                            </m:rPr>
                            <a:rPr lang="en-PK" i="0">
                              <a:latin typeface="Cambria Math" panose="02040503050406030204" pitchFamily="18" charset="0"/>
                            </a:rPr>
                            <m:t>MSE</m:t>
                          </m:r>
                        </m:e>
                        <m:sub>
                          <m:r>
                            <m:rPr>
                              <m:sty m:val="p"/>
                            </m:rPr>
                            <a:rPr lang="en-PK" i="0">
                              <a:latin typeface="Cambria Math" panose="02040503050406030204" pitchFamily="18" charset="0"/>
                            </a:rPr>
                            <m:t>boundary</m:t>
                          </m:r>
                        </m:sub>
                      </m:sSub>
                      <m:r>
                        <a:rPr lang="en-PK" i="0">
                          <a:latin typeface="Cambria Math" panose="02040503050406030204" pitchFamily="18" charset="0"/>
                        </a:rPr>
                        <m:t>+</m:t>
                      </m:r>
                      <m:sSub>
                        <m:sSubPr>
                          <m:ctrlPr>
                            <a:rPr lang="en-PK" i="1">
                              <a:latin typeface="Cambria Math" panose="02040503050406030204" pitchFamily="18" charset="0"/>
                            </a:rPr>
                          </m:ctrlPr>
                        </m:sSubPr>
                        <m:e>
                          <m:r>
                            <m:rPr>
                              <m:sty m:val="p"/>
                            </m:rPr>
                            <a:rPr lang="en-PK" i="0">
                              <a:latin typeface="Cambria Math" panose="02040503050406030204" pitchFamily="18" charset="0"/>
                            </a:rPr>
                            <m:t>MSE</m:t>
                          </m:r>
                        </m:e>
                        <m:sub>
                          <m:r>
                            <m:rPr>
                              <m:sty m:val="p"/>
                            </m:rPr>
                            <a:rPr lang="en-PK" i="0">
                              <a:latin typeface="Cambria Math" panose="02040503050406030204" pitchFamily="18" charset="0"/>
                            </a:rPr>
                            <m:t>PDE</m:t>
                          </m:r>
                        </m:sub>
                      </m:sSub>
                    </m:oMath>
                  </m:oMathPara>
                </a14:m>
                <a:endParaRPr lang="en-PK" dirty="0"/>
              </a:p>
            </p:txBody>
          </p:sp>
        </mc:Choice>
        <mc:Fallback xmlns="">
          <p:sp>
            <p:nvSpPr>
              <p:cNvPr id="7" name="TextBox 6">
                <a:extLst>
                  <a:ext uri="{FF2B5EF4-FFF2-40B4-BE49-F238E27FC236}">
                    <a16:creationId xmlns:a16="http://schemas.microsoft.com/office/drawing/2014/main" id="{1D5D5EF6-A5B4-7865-FEE9-6B66E880903E}"/>
                  </a:ext>
                </a:extLst>
              </p:cNvPr>
              <p:cNvSpPr txBox="1">
                <a:spLocks noRot="1" noChangeAspect="1" noMove="1" noResize="1" noEditPoints="1" noAdjustHandles="1" noChangeArrowheads="1" noChangeShapeType="1" noTextEdit="1"/>
              </p:cNvSpPr>
              <p:nvPr/>
            </p:nvSpPr>
            <p:spPr>
              <a:xfrm>
                <a:off x="2706098" y="4798242"/>
                <a:ext cx="6097656" cy="394852"/>
              </a:xfrm>
              <a:prstGeom prst="rect">
                <a:avLst/>
              </a:prstGeom>
              <a:blipFill>
                <a:blip r:embed="rId3"/>
                <a:stretch>
                  <a:fillRect b="-9231"/>
                </a:stretch>
              </a:blipFill>
            </p:spPr>
            <p:txBody>
              <a:bodyPr/>
              <a:lstStyle/>
              <a:p>
                <a:r>
                  <a:rPr lang="en-PK">
                    <a:noFill/>
                  </a:rPr>
                  <a:t> </a:t>
                </a:r>
              </a:p>
            </p:txBody>
          </p:sp>
        </mc:Fallback>
      </mc:AlternateContent>
    </p:spTree>
    <p:extLst>
      <p:ext uri="{BB962C8B-B14F-4D97-AF65-F5344CB8AC3E}">
        <p14:creationId xmlns:p14="http://schemas.microsoft.com/office/powerpoint/2010/main" val="3154784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BBFC-8938-B664-260B-E43C4CDD21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CB7B0-B419-AA56-3012-8E9F2513E9A2}"/>
              </a:ext>
            </a:extLst>
          </p:cNvPr>
          <p:cNvSpPr>
            <a:spLocks noGrp="1"/>
          </p:cNvSpPr>
          <p:nvPr>
            <p:ph type="title"/>
          </p:nvPr>
        </p:nvSpPr>
        <p:spPr>
          <a:xfrm>
            <a:off x="444500" y="412137"/>
            <a:ext cx="9146972" cy="640080"/>
          </a:xfrm>
        </p:spPr>
        <p:txBody>
          <a:bodyPr>
            <a:normAutofit/>
          </a:bodyPr>
          <a:lstStyle/>
          <a:p>
            <a:r>
              <a:rPr lang="en-US" sz="4000" b="1" dirty="0">
                <a:solidFill>
                  <a:srgbClr val="002060"/>
                </a:solidFill>
                <a:latin typeface="Segoe UI Semibold" panose="020B0502040204020203" pitchFamily="34" charset="0"/>
                <a:cs typeface="Segoe UI Semibold" panose="020B0502040204020203" pitchFamily="34" charset="0"/>
              </a:rPr>
              <a:t>Introduction</a:t>
            </a:r>
          </a:p>
        </p:txBody>
      </p:sp>
      <p:sp>
        <p:nvSpPr>
          <p:cNvPr id="6" name="TextBox 5">
            <a:extLst>
              <a:ext uri="{FF2B5EF4-FFF2-40B4-BE49-F238E27FC236}">
                <a16:creationId xmlns:a16="http://schemas.microsoft.com/office/drawing/2014/main" id="{1CCAE77E-374F-D034-C319-170805DA762D}"/>
              </a:ext>
            </a:extLst>
          </p:cNvPr>
          <p:cNvSpPr txBox="1"/>
          <p:nvPr/>
        </p:nvSpPr>
        <p:spPr>
          <a:xfrm>
            <a:off x="444500" y="1169139"/>
            <a:ext cx="11156473" cy="738664"/>
          </a:xfrm>
          <a:prstGeom prst="rect">
            <a:avLst/>
          </a:prstGeom>
          <a:noFill/>
        </p:spPr>
        <p:txBody>
          <a:bodyPr wrap="square" rtlCol="0">
            <a:spAutoFit/>
          </a:bodyPr>
          <a:lstStyle/>
          <a:p>
            <a:pPr marL="0" lvl="1"/>
            <a:r>
              <a:rPr lang="en-US" sz="2400" dirty="0">
                <a:solidFill>
                  <a:srgbClr val="D24726"/>
                </a:solidFill>
              </a:rPr>
              <a:t>1D-Burger’s Equation </a:t>
            </a:r>
            <a:r>
              <a:rPr lang="en-US" dirty="0">
                <a:solidFill>
                  <a:srgbClr val="D24726"/>
                </a:solidFill>
              </a:rPr>
              <a:t>(</a:t>
            </a:r>
            <a:r>
              <a:rPr lang="en-US" i="1" dirty="0">
                <a:solidFill>
                  <a:srgbClr val="D24726"/>
                </a:solidFill>
              </a:rPr>
              <a:t>Finding Unknown Parameter)</a:t>
            </a:r>
            <a:br>
              <a:rPr lang="en-US" dirty="0"/>
            </a:br>
            <a:endParaRPr lang="en-US" dirty="0">
              <a:solidFill>
                <a:srgbClr val="D24726"/>
              </a:solidFill>
            </a:endParaRPr>
          </a:p>
        </p:txBody>
      </p:sp>
      <p:sp>
        <p:nvSpPr>
          <p:cNvPr id="5" name="Rectangle 3">
            <a:extLst>
              <a:ext uri="{FF2B5EF4-FFF2-40B4-BE49-F238E27FC236}">
                <a16:creationId xmlns:a16="http://schemas.microsoft.com/office/drawing/2014/main" id="{302E7BB3-4663-BD28-2DCF-2E2BCF8A6950}"/>
              </a:ext>
            </a:extLst>
          </p:cNvPr>
          <p:cNvSpPr>
            <a:spLocks noChangeArrowheads="1"/>
          </p:cNvSpPr>
          <p:nvPr/>
        </p:nvSpPr>
        <p:spPr bwMode="auto">
          <a:xfrm>
            <a:off x="139148" y="119749"/>
            <a:ext cx="213520"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800" b="0" i="0" u="none" strike="noStrike" cap="none" normalizeH="0" baseline="0" dirty="0">
                <a:ln>
                  <a:noFill/>
                </a:ln>
                <a:solidFill>
                  <a:schemeClr val="tx1"/>
                </a:solidFill>
                <a:effectLst/>
              </a:rPr>
              <a:t> </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9" name="Rectangle: Rounded Corners 8">
            <a:extLst>
              <a:ext uri="{FF2B5EF4-FFF2-40B4-BE49-F238E27FC236}">
                <a16:creationId xmlns:a16="http://schemas.microsoft.com/office/drawing/2014/main" id="{9E73E471-E946-6F83-77ED-B14171102519}"/>
              </a:ext>
            </a:extLst>
          </p:cNvPr>
          <p:cNvSpPr/>
          <p:nvPr/>
        </p:nvSpPr>
        <p:spPr>
          <a:xfrm>
            <a:off x="561996" y="1901614"/>
            <a:ext cx="5020734" cy="615553"/>
          </a:xfrm>
          <a:prstGeom prst="roundRect">
            <a:avLst/>
          </a:prstGeom>
          <a:solidFill>
            <a:schemeClr val="accent2"/>
          </a:solidFill>
          <a:ln>
            <a:solidFill>
              <a:srgbClr val="D2472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1# Generate/ Gather Course Data</a:t>
            </a:r>
            <a:endParaRPr lang="en-PK" dirty="0"/>
          </a:p>
        </p:txBody>
      </p:sp>
      <p:sp>
        <p:nvSpPr>
          <p:cNvPr id="12" name="TextBox 11">
            <a:extLst>
              <a:ext uri="{FF2B5EF4-FFF2-40B4-BE49-F238E27FC236}">
                <a16:creationId xmlns:a16="http://schemas.microsoft.com/office/drawing/2014/main" id="{C6C62B31-DCD6-F68F-5829-CAA7AF344859}"/>
              </a:ext>
            </a:extLst>
          </p:cNvPr>
          <p:cNvSpPr txBox="1"/>
          <p:nvPr/>
        </p:nvSpPr>
        <p:spPr>
          <a:xfrm>
            <a:off x="495375" y="2888178"/>
            <a:ext cx="5087355" cy="3503523"/>
          </a:xfrm>
          <a:prstGeom prst="rect">
            <a:avLst/>
          </a:prstGeom>
          <a:solidFill>
            <a:schemeClr val="bg1">
              <a:lumMod val="85000"/>
            </a:schemeClr>
          </a:solidFill>
        </p:spPr>
        <p:txBody>
          <a:bodyPr wrap="square">
            <a:spAutoFit/>
          </a:bodyPr>
          <a:lstStyle/>
          <a:p>
            <a:pPr>
              <a:lnSpc>
                <a:spcPts val="1425"/>
              </a:lnSpc>
              <a:buNone/>
            </a:pPr>
            <a:r>
              <a:rPr lang="en-US" sz="1100" b="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 --- Define the neural network ---</a:t>
            </a:r>
            <a:endPar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endParaRPr>
          </a:p>
          <a:p>
            <a:pPr>
              <a:lnSpc>
                <a:spcPts val="1425"/>
              </a:lnSpc>
              <a:buNone/>
            </a:pPr>
            <a:r>
              <a:rPr lang="en-US" sz="1100" b="0" dirty="0">
                <a:solidFill>
                  <a:srgbClr val="0000FF"/>
                </a:solidFill>
                <a:effectLst/>
                <a:latin typeface="Cascadia Code" panose="020B0609020000020004" pitchFamily="49" charset="0"/>
                <a:ea typeface="Cascadia Code" panose="020B0609020000020004" pitchFamily="49" charset="0"/>
                <a:cs typeface="Cascadia Code" panose="020B0609020000020004" pitchFamily="49" charset="0"/>
              </a:rPr>
              <a:t>class</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dirty="0">
                <a:solidFill>
                  <a:srgbClr val="257693"/>
                </a:solidFill>
                <a:effectLst/>
                <a:latin typeface="Cascadia Code" panose="020B0609020000020004" pitchFamily="49" charset="0"/>
                <a:ea typeface="Cascadia Code" panose="020B0609020000020004" pitchFamily="49" charset="0"/>
                <a:cs typeface="Cascadia Code" panose="020B0609020000020004" pitchFamily="49" charset="0"/>
              </a:rPr>
              <a:t>PINN</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dirty="0">
                <a:solidFill>
                  <a:srgbClr val="257693"/>
                </a:solidFill>
                <a:effectLst/>
                <a:latin typeface="Cascadia Code" panose="020B0609020000020004" pitchFamily="49" charset="0"/>
                <a:ea typeface="Cascadia Code" panose="020B0609020000020004" pitchFamily="49" charset="0"/>
                <a:cs typeface="Cascadia Code" panose="020B0609020000020004" pitchFamily="49" charset="0"/>
              </a:rPr>
              <a:t>nn</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dirty="0">
                <a:solidFill>
                  <a:srgbClr val="257693"/>
                </a:solidFill>
                <a:effectLst/>
                <a:latin typeface="Cascadia Code" panose="020B0609020000020004" pitchFamily="49" charset="0"/>
                <a:ea typeface="Cascadia Code" panose="020B0609020000020004" pitchFamily="49" charset="0"/>
                <a:cs typeface="Cascadia Code" panose="020B0609020000020004" pitchFamily="49" charset="0"/>
              </a:rPr>
              <a:t>Module</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dirty="0">
                <a:solidFill>
                  <a:srgbClr val="0000FF"/>
                </a:solidFill>
                <a:effectLst/>
                <a:latin typeface="Cascadia Code" panose="020B0609020000020004" pitchFamily="49" charset="0"/>
                <a:ea typeface="Cascadia Code" panose="020B0609020000020004" pitchFamily="49" charset="0"/>
                <a:cs typeface="Cascadia Code" panose="020B0609020000020004" pitchFamily="49" charset="0"/>
              </a:rPr>
              <a:t>def</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dirty="0">
                <a:solidFill>
                  <a:srgbClr val="6A5221"/>
                </a:solidFill>
                <a:effectLst/>
                <a:latin typeface="Cascadia Code" panose="020B0609020000020004" pitchFamily="49" charset="0"/>
                <a:ea typeface="Cascadia Code" panose="020B0609020000020004" pitchFamily="49" charset="0"/>
                <a:cs typeface="Cascadia Code" panose="020B0609020000020004" pitchFamily="49" charset="0"/>
              </a:rPr>
              <a:t>__init__</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dirty="0">
                <a:solidFill>
                  <a:srgbClr val="001080"/>
                </a:solidFill>
                <a:effectLst/>
                <a:latin typeface="Cascadia Code" panose="020B0609020000020004" pitchFamily="49" charset="0"/>
                <a:ea typeface="Cascadia Code" panose="020B0609020000020004" pitchFamily="49" charset="0"/>
                <a:cs typeface="Cascadia Code" panose="020B0609020000020004" pitchFamily="49" charset="0"/>
              </a:rPr>
              <a:t>self</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super(PINN, </a:t>
            </a:r>
            <a:r>
              <a:rPr lang="en-US" sz="1100" b="0" dirty="0">
                <a:solidFill>
                  <a:srgbClr val="001080"/>
                </a:solidFill>
                <a:effectLst/>
                <a:latin typeface="Cascadia Code" panose="020B0609020000020004" pitchFamily="49" charset="0"/>
                <a:ea typeface="Cascadia Code" panose="020B0609020000020004" pitchFamily="49" charset="0"/>
                <a:cs typeface="Cascadia Code" panose="020B0609020000020004" pitchFamily="49" charset="0"/>
              </a:rPr>
              <a:t>self</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dirty="0">
                <a:solidFill>
                  <a:srgbClr val="6A5221"/>
                </a:solidFill>
                <a:effectLst/>
                <a:latin typeface="Cascadia Code" panose="020B0609020000020004" pitchFamily="49" charset="0"/>
                <a:ea typeface="Cascadia Code" panose="020B0609020000020004" pitchFamily="49" charset="0"/>
                <a:cs typeface="Cascadia Code" panose="020B0609020000020004" pitchFamily="49" charset="0"/>
              </a:rPr>
              <a:t>__init__</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dirty="0">
                <a:solidFill>
                  <a:srgbClr val="001080"/>
                </a:solidFill>
                <a:effectLst/>
                <a:latin typeface="Cascadia Code" panose="020B0609020000020004" pitchFamily="49" charset="0"/>
                <a:ea typeface="Cascadia Code" panose="020B0609020000020004" pitchFamily="49" charset="0"/>
                <a:cs typeface="Cascadia Code" panose="020B0609020000020004" pitchFamily="49" charset="0"/>
              </a:rPr>
              <a:t>self</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.net = nn.Sequential(</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nn.Linear(</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2</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30</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nn.Tanh(),</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nn.Linear(</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30</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30</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nn.Tanh(),</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nn.Linear(</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30</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t>
            </a:r>
          </a:p>
          <a:p>
            <a:pPr>
              <a:lnSpc>
                <a:spcPts val="1425"/>
              </a:lnSpc>
              <a:buNone/>
            </a:pPr>
            <a:b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br>
            <a:endPar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endParaRP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dirty="0">
                <a:solidFill>
                  <a:srgbClr val="001080"/>
                </a:solidFill>
                <a:effectLst/>
                <a:latin typeface="Cascadia Code" panose="020B0609020000020004" pitchFamily="49" charset="0"/>
                <a:ea typeface="Cascadia Code" panose="020B0609020000020004" pitchFamily="49" charset="0"/>
                <a:cs typeface="Cascadia Code" panose="020B0609020000020004" pitchFamily="49" charset="0"/>
              </a:rPr>
              <a:t>self</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.nu = </a:t>
            </a:r>
            <a:r>
              <a:rPr lang="en-US" sz="1100" b="0" dirty="0" err="1">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nn.Parameter</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(torch.tensor([</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0.05</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],dtype=torch.float32, device=device))</a:t>
            </a:r>
          </a:p>
          <a:p>
            <a:pPr>
              <a:lnSpc>
                <a:spcPts val="1425"/>
              </a:lnSpc>
              <a:buNone/>
            </a:pPr>
            <a:b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br>
            <a:endPar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endParaRP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dirty="0">
                <a:solidFill>
                  <a:srgbClr val="0000FF"/>
                </a:solidFill>
                <a:effectLst/>
                <a:latin typeface="Cascadia Code" panose="020B0609020000020004" pitchFamily="49" charset="0"/>
                <a:ea typeface="Cascadia Code" panose="020B0609020000020004" pitchFamily="49" charset="0"/>
                <a:cs typeface="Cascadia Code" panose="020B0609020000020004" pitchFamily="49" charset="0"/>
              </a:rPr>
              <a:t>def</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dirty="0">
                <a:solidFill>
                  <a:srgbClr val="6A5221"/>
                </a:solidFill>
                <a:effectLst/>
                <a:latin typeface="Cascadia Code" panose="020B0609020000020004" pitchFamily="49" charset="0"/>
                <a:ea typeface="Cascadia Code" panose="020B0609020000020004" pitchFamily="49" charset="0"/>
                <a:cs typeface="Cascadia Code" panose="020B0609020000020004" pitchFamily="49" charset="0"/>
              </a:rPr>
              <a:t>forward</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dirty="0">
                <a:solidFill>
                  <a:srgbClr val="001080"/>
                </a:solidFill>
                <a:effectLst/>
                <a:latin typeface="Cascadia Code" panose="020B0609020000020004" pitchFamily="49" charset="0"/>
                <a:ea typeface="Cascadia Code" panose="020B0609020000020004" pitchFamily="49" charset="0"/>
                <a:cs typeface="Cascadia Code" panose="020B0609020000020004" pitchFamily="49" charset="0"/>
              </a:rPr>
              <a:t>self</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dirty="0">
                <a:solidFill>
                  <a:srgbClr val="001080"/>
                </a:solidFill>
                <a:effectLst/>
                <a:latin typeface="Cascadia Code" panose="020B0609020000020004" pitchFamily="49" charset="0"/>
                <a:ea typeface="Cascadia Code" panose="020B0609020000020004" pitchFamily="49" charset="0"/>
                <a:cs typeface="Cascadia Code" panose="020B0609020000020004" pitchFamily="49" charset="0"/>
              </a:rPr>
              <a:t>x</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dirty="0">
                <a:solidFill>
                  <a:srgbClr val="001080"/>
                </a:solidFill>
                <a:effectLst/>
                <a:latin typeface="Cascadia Code" panose="020B0609020000020004" pitchFamily="49" charset="0"/>
                <a:ea typeface="Cascadia Code" panose="020B0609020000020004" pitchFamily="49" charset="0"/>
                <a:cs typeface="Cascadia Code" panose="020B0609020000020004" pitchFamily="49" charset="0"/>
              </a:rPr>
              <a:t>t</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X = torch.cat([x, t], dim=</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1</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dirty="0">
                <a:solidFill>
                  <a:srgbClr val="9723B4"/>
                </a:solidFill>
                <a:effectLst/>
                <a:latin typeface="Cascadia Code" panose="020B0609020000020004" pitchFamily="49" charset="0"/>
                <a:ea typeface="Cascadia Code" panose="020B0609020000020004" pitchFamily="49" charset="0"/>
                <a:cs typeface="Cascadia Code" panose="020B0609020000020004" pitchFamily="49" charset="0"/>
              </a:rPr>
              <a:t>return</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dirty="0">
                <a:solidFill>
                  <a:srgbClr val="001080"/>
                </a:solidFill>
                <a:effectLst/>
                <a:latin typeface="Cascadia Code" panose="020B0609020000020004" pitchFamily="49" charset="0"/>
                <a:ea typeface="Cascadia Code" panose="020B0609020000020004" pitchFamily="49" charset="0"/>
                <a:cs typeface="Cascadia Code" panose="020B0609020000020004" pitchFamily="49" charset="0"/>
              </a:rPr>
              <a:t>self</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.net(X)</a:t>
            </a:r>
          </a:p>
        </p:txBody>
      </p:sp>
      <p:pic>
        <p:nvPicPr>
          <p:cNvPr id="13" name="Picture 12">
            <a:extLst>
              <a:ext uri="{FF2B5EF4-FFF2-40B4-BE49-F238E27FC236}">
                <a16:creationId xmlns:a16="http://schemas.microsoft.com/office/drawing/2014/main" id="{D83EF0D1-3ED6-1423-5092-87F75116B625}"/>
              </a:ext>
            </a:extLst>
          </p:cNvPr>
          <p:cNvPicPr>
            <a:picLocks noChangeAspect="1"/>
          </p:cNvPicPr>
          <p:nvPr/>
        </p:nvPicPr>
        <p:blipFill>
          <a:blip r:embed="rId3"/>
          <a:stretch>
            <a:fillRect/>
          </a:stretch>
        </p:blipFill>
        <p:spPr>
          <a:xfrm>
            <a:off x="5932749" y="1718971"/>
            <a:ext cx="6096000" cy="2338413"/>
          </a:xfrm>
          <a:prstGeom prst="rect">
            <a:avLst/>
          </a:prstGeom>
        </p:spPr>
      </p:pic>
      <p:sp>
        <p:nvSpPr>
          <p:cNvPr id="14" name="Rectangle: Rounded Corners 13">
            <a:extLst>
              <a:ext uri="{FF2B5EF4-FFF2-40B4-BE49-F238E27FC236}">
                <a16:creationId xmlns:a16="http://schemas.microsoft.com/office/drawing/2014/main" id="{EF3267E7-E5C1-C955-8CEC-E0A063FDE14B}"/>
              </a:ext>
            </a:extLst>
          </p:cNvPr>
          <p:cNvSpPr/>
          <p:nvPr/>
        </p:nvSpPr>
        <p:spPr>
          <a:xfrm>
            <a:off x="6096000" y="4464654"/>
            <a:ext cx="5020734" cy="615553"/>
          </a:xfrm>
          <a:prstGeom prst="roundRect">
            <a:avLst/>
          </a:prstGeom>
          <a:solidFill>
            <a:schemeClr val="accent2"/>
          </a:solidFill>
          <a:ln>
            <a:solidFill>
              <a:srgbClr val="D2472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2# Update model</a:t>
            </a:r>
            <a:endParaRPr lang="en-PK" dirty="0"/>
          </a:p>
        </p:txBody>
      </p:sp>
    </p:spTree>
    <p:extLst>
      <p:ext uri="{BB962C8B-B14F-4D97-AF65-F5344CB8AC3E}">
        <p14:creationId xmlns:p14="http://schemas.microsoft.com/office/powerpoint/2010/main" val="10862071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0D376-8869-46F2-800D-D7E8E6B8DF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6E95DC-D80C-1975-EA5D-60CF41C120CC}"/>
              </a:ext>
            </a:extLst>
          </p:cNvPr>
          <p:cNvSpPr>
            <a:spLocks noGrp="1"/>
          </p:cNvSpPr>
          <p:nvPr>
            <p:ph type="title"/>
          </p:nvPr>
        </p:nvSpPr>
        <p:spPr>
          <a:xfrm>
            <a:off x="444500" y="412137"/>
            <a:ext cx="9146972" cy="640080"/>
          </a:xfrm>
        </p:spPr>
        <p:txBody>
          <a:bodyPr>
            <a:normAutofit/>
          </a:bodyPr>
          <a:lstStyle/>
          <a:p>
            <a:r>
              <a:rPr lang="en-US" sz="4000" b="1" dirty="0">
                <a:solidFill>
                  <a:srgbClr val="002060"/>
                </a:solidFill>
                <a:latin typeface="Segoe UI Semibold" panose="020B0502040204020203" pitchFamily="34" charset="0"/>
                <a:cs typeface="Segoe UI Semibold" panose="020B0502040204020203" pitchFamily="34" charset="0"/>
              </a:rPr>
              <a:t>Introduction</a:t>
            </a:r>
          </a:p>
        </p:txBody>
      </p:sp>
      <p:sp>
        <p:nvSpPr>
          <p:cNvPr id="6" name="TextBox 5">
            <a:extLst>
              <a:ext uri="{FF2B5EF4-FFF2-40B4-BE49-F238E27FC236}">
                <a16:creationId xmlns:a16="http://schemas.microsoft.com/office/drawing/2014/main" id="{855AFC20-2B65-D44E-DB60-83AC53A1D368}"/>
              </a:ext>
            </a:extLst>
          </p:cNvPr>
          <p:cNvSpPr txBox="1"/>
          <p:nvPr/>
        </p:nvSpPr>
        <p:spPr>
          <a:xfrm>
            <a:off x="444500" y="1169139"/>
            <a:ext cx="11156473" cy="738664"/>
          </a:xfrm>
          <a:prstGeom prst="rect">
            <a:avLst/>
          </a:prstGeom>
          <a:noFill/>
        </p:spPr>
        <p:txBody>
          <a:bodyPr wrap="square" rtlCol="0">
            <a:spAutoFit/>
          </a:bodyPr>
          <a:lstStyle/>
          <a:p>
            <a:pPr marL="0" lvl="1"/>
            <a:r>
              <a:rPr lang="en-US" sz="2400" dirty="0">
                <a:solidFill>
                  <a:srgbClr val="D24726"/>
                </a:solidFill>
              </a:rPr>
              <a:t>1D-Burger’s Equation </a:t>
            </a:r>
            <a:r>
              <a:rPr lang="en-US" dirty="0">
                <a:solidFill>
                  <a:srgbClr val="D24726"/>
                </a:solidFill>
              </a:rPr>
              <a:t>(</a:t>
            </a:r>
            <a:r>
              <a:rPr lang="en-US" i="1" dirty="0">
                <a:solidFill>
                  <a:srgbClr val="D24726"/>
                </a:solidFill>
              </a:rPr>
              <a:t>Finding Unknown Parameter)</a:t>
            </a:r>
            <a:br>
              <a:rPr lang="en-US" dirty="0"/>
            </a:br>
            <a:endParaRPr lang="en-US" dirty="0">
              <a:solidFill>
                <a:srgbClr val="D24726"/>
              </a:solidFill>
            </a:endParaRPr>
          </a:p>
        </p:txBody>
      </p:sp>
      <p:sp>
        <p:nvSpPr>
          <p:cNvPr id="5" name="Rectangle 3">
            <a:extLst>
              <a:ext uri="{FF2B5EF4-FFF2-40B4-BE49-F238E27FC236}">
                <a16:creationId xmlns:a16="http://schemas.microsoft.com/office/drawing/2014/main" id="{EF3A8D2E-025C-E3A5-9764-17B10320BE96}"/>
              </a:ext>
            </a:extLst>
          </p:cNvPr>
          <p:cNvSpPr>
            <a:spLocks noChangeArrowheads="1"/>
          </p:cNvSpPr>
          <p:nvPr/>
        </p:nvSpPr>
        <p:spPr bwMode="auto">
          <a:xfrm>
            <a:off x="139148" y="119749"/>
            <a:ext cx="213520"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800" b="0" i="0" u="none" strike="noStrike" cap="none" normalizeH="0" baseline="0" dirty="0">
                <a:ln>
                  <a:noFill/>
                </a:ln>
                <a:solidFill>
                  <a:schemeClr val="tx1"/>
                </a:solidFill>
                <a:effectLst/>
              </a:rPr>
              <a:t> </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9" name="Rectangle: Rounded Corners 8">
            <a:extLst>
              <a:ext uri="{FF2B5EF4-FFF2-40B4-BE49-F238E27FC236}">
                <a16:creationId xmlns:a16="http://schemas.microsoft.com/office/drawing/2014/main" id="{5CDADA36-D5F8-1FD0-172D-8406E6B37AA3}"/>
              </a:ext>
            </a:extLst>
          </p:cNvPr>
          <p:cNvSpPr/>
          <p:nvPr/>
        </p:nvSpPr>
        <p:spPr>
          <a:xfrm>
            <a:off x="561996" y="1901614"/>
            <a:ext cx="5020734" cy="615553"/>
          </a:xfrm>
          <a:prstGeom prst="roundRect">
            <a:avLst/>
          </a:prstGeom>
          <a:solidFill>
            <a:schemeClr val="accent2"/>
          </a:solidFill>
          <a:ln>
            <a:solidFill>
              <a:srgbClr val="D2472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3# Update Physics loss</a:t>
            </a:r>
            <a:endParaRPr lang="en-PK" dirty="0"/>
          </a:p>
        </p:txBody>
      </p:sp>
      <p:sp>
        <p:nvSpPr>
          <p:cNvPr id="12" name="TextBox 11">
            <a:extLst>
              <a:ext uri="{FF2B5EF4-FFF2-40B4-BE49-F238E27FC236}">
                <a16:creationId xmlns:a16="http://schemas.microsoft.com/office/drawing/2014/main" id="{E74C2A66-F1BE-E088-366D-EF5BCC554728}"/>
              </a:ext>
            </a:extLst>
          </p:cNvPr>
          <p:cNvSpPr txBox="1"/>
          <p:nvPr/>
        </p:nvSpPr>
        <p:spPr>
          <a:xfrm>
            <a:off x="6513618" y="1341600"/>
            <a:ext cx="5087355" cy="2605842"/>
          </a:xfrm>
          <a:prstGeom prst="rect">
            <a:avLst/>
          </a:prstGeom>
          <a:solidFill>
            <a:schemeClr val="bg1">
              <a:lumMod val="85000"/>
            </a:schemeClr>
          </a:solidFill>
        </p:spPr>
        <p:txBody>
          <a:bodyPr wrap="square">
            <a:spAutoFit/>
          </a:bodyPr>
          <a:lstStyle/>
          <a:p>
            <a:pPr>
              <a:lnSpc>
                <a:spcPts val="1425"/>
              </a:lnSpc>
              <a:buNone/>
            </a:pPr>
            <a:r>
              <a:rPr lang="en-US" sz="1100" b="0" dirty="0">
                <a:solidFill>
                  <a:srgbClr val="008000"/>
                </a:solidFill>
                <a:effectLst/>
                <a:latin typeface="Cascadia Code" panose="020B0609020000020004" pitchFamily="49" charset="0"/>
                <a:ea typeface="Cascadia Code" panose="020B0609020000020004" pitchFamily="49" charset="0"/>
                <a:cs typeface="Cascadia Code" panose="020B0609020000020004" pitchFamily="49" charset="0"/>
              </a:rPr>
              <a:t># --- Physics Loss ---</a:t>
            </a:r>
            <a:endPar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endParaRPr>
          </a:p>
          <a:p>
            <a:pPr>
              <a:lnSpc>
                <a:spcPts val="1425"/>
              </a:lnSpc>
              <a:buNone/>
            </a:pPr>
            <a:r>
              <a:rPr lang="en-US" sz="1100" b="0" dirty="0">
                <a:solidFill>
                  <a:srgbClr val="0000FF"/>
                </a:solidFill>
                <a:effectLst/>
                <a:latin typeface="Cascadia Code" panose="020B0609020000020004" pitchFamily="49" charset="0"/>
                <a:ea typeface="Cascadia Code" panose="020B0609020000020004" pitchFamily="49" charset="0"/>
                <a:cs typeface="Cascadia Code" panose="020B0609020000020004" pitchFamily="49" charset="0"/>
              </a:rPr>
              <a:t>def</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dirty="0">
                <a:solidFill>
                  <a:srgbClr val="6A5221"/>
                </a:solidFill>
                <a:effectLst/>
                <a:latin typeface="Cascadia Code" panose="020B0609020000020004" pitchFamily="49" charset="0"/>
                <a:ea typeface="Cascadia Code" panose="020B0609020000020004" pitchFamily="49" charset="0"/>
                <a:cs typeface="Cascadia Code" panose="020B0609020000020004" pitchFamily="49" charset="0"/>
              </a:rPr>
              <a:t>physics_loss</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dirty="0">
                <a:solidFill>
                  <a:srgbClr val="001080"/>
                </a:solidFill>
                <a:effectLst/>
                <a:latin typeface="Cascadia Code" panose="020B0609020000020004" pitchFamily="49" charset="0"/>
                <a:ea typeface="Cascadia Code" panose="020B0609020000020004" pitchFamily="49" charset="0"/>
                <a:cs typeface="Cascadia Code" panose="020B0609020000020004" pitchFamily="49" charset="0"/>
              </a:rPr>
              <a:t>x</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dirty="0">
                <a:solidFill>
                  <a:srgbClr val="001080"/>
                </a:solidFill>
                <a:effectLst/>
                <a:latin typeface="Cascadia Code" panose="020B0609020000020004" pitchFamily="49" charset="0"/>
                <a:ea typeface="Cascadia Code" panose="020B0609020000020004" pitchFamily="49" charset="0"/>
                <a:cs typeface="Cascadia Code" panose="020B0609020000020004" pitchFamily="49" charset="0"/>
              </a:rPr>
              <a:t>t</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u = model(x, t)</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u_t = torch.autograd.grad(u, t, torch.ones_like(u), create_graph=</a:t>
            </a:r>
            <a:r>
              <a:rPr lang="en-US" sz="1100" b="0" dirty="0">
                <a:solidFill>
                  <a:srgbClr val="0000FF"/>
                </a:solidFill>
                <a:effectLst/>
                <a:latin typeface="Cascadia Code" panose="020B0609020000020004" pitchFamily="49" charset="0"/>
                <a:ea typeface="Cascadia Code" panose="020B0609020000020004" pitchFamily="49" charset="0"/>
                <a:cs typeface="Cascadia Code" panose="020B0609020000020004" pitchFamily="49" charset="0"/>
              </a:rPr>
              <a:t>True</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retain_graph=</a:t>
            </a:r>
            <a:r>
              <a:rPr lang="en-US" sz="1100" b="0" dirty="0">
                <a:solidFill>
                  <a:srgbClr val="0000FF"/>
                </a:solidFill>
                <a:effectLst/>
                <a:latin typeface="Cascadia Code" panose="020B0609020000020004" pitchFamily="49" charset="0"/>
                <a:ea typeface="Cascadia Code" panose="020B0609020000020004" pitchFamily="49" charset="0"/>
                <a:cs typeface="Cascadia Code" panose="020B0609020000020004" pitchFamily="49" charset="0"/>
              </a:rPr>
              <a:t>True</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0</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u_x = torch.autograd.grad(u, x, torch.ones_like(u), create_graph=</a:t>
            </a:r>
            <a:r>
              <a:rPr lang="en-US" sz="1100" b="0" dirty="0">
                <a:solidFill>
                  <a:srgbClr val="0000FF"/>
                </a:solidFill>
                <a:effectLst/>
                <a:latin typeface="Cascadia Code" panose="020B0609020000020004" pitchFamily="49" charset="0"/>
                <a:ea typeface="Cascadia Code" panose="020B0609020000020004" pitchFamily="49" charset="0"/>
                <a:cs typeface="Cascadia Code" panose="020B0609020000020004" pitchFamily="49" charset="0"/>
              </a:rPr>
              <a:t>True</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retain_graph=</a:t>
            </a:r>
            <a:r>
              <a:rPr lang="en-US" sz="1100" b="0" dirty="0">
                <a:solidFill>
                  <a:srgbClr val="0000FF"/>
                </a:solidFill>
                <a:effectLst/>
                <a:latin typeface="Cascadia Code" panose="020B0609020000020004" pitchFamily="49" charset="0"/>
                <a:ea typeface="Cascadia Code" panose="020B0609020000020004" pitchFamily="49" charset="0"/>
                <a:cs typeface="Cascadia Code" panose="020B0609020000020004" pitchFamily="49" charset="0"/>
              </a:rPr>
              <a:t>True</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0</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u_xx = torch.autograd.grad(u_x, x, torch.ones_like(u_x), create_graph=</a:t>
            </a:r>
            <a:r>
              <a:rPr lang="en-US" sz="1100" b="0" dirty="0">
                <a:solidFill>
                  <a:srgbClr val="0000FF"/>
                </a:solidFill>
                <a:effectLst/>
                <a:latin typeface="Cascadia Code" panose="020B0609020000020004" pitchFamily="49" charset="0"/>
                <a:ea typeface="Cascadia Code" panose="020B0609020000020004" pitchFamily="49" charset="0"/>
                <a:cs typeface="Cascadia Code" panose="020B0609020000020004" pitchFamily="49" charset="0"/>
              </a:rPr>
              <a:t>True</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retain_graph=</a:t>
            </a:r>
            <a:r>
              <a:rPr lang="en-US" sz="1100" b="0" dirty="0">
                <a:solidFill>
                  <a:srgbClr val="0000FF"/>
                </a:solidFill>
                <a:effectLst/>
                <a:latin typeface="Cascadia Code" panose="020B0609020000020004" pitchFamily="49" charset="0"/>
                <a:ea typeface="Cascadia Code" panose="020B0609020000020004" pitchFamily="49" charset="0"/>
                <a:cs typeface="Cascadia Code" panose="020B0609020000020004" pitchFamily="49" charset="0"/>
              </a:rPr>
              <a:t>True</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0</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b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br>
            <a:endPar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endParaRP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f = u_t + u * u_x - model.nu * u_xx</a:t>
            </a:r>
          </a:p>
          <a:p>
            <a:pPr>
              <a:lnSpc>
                <a:spcPts val="1425"/>
              </a:lnSpc>
              <a:buNone/>
            </a:pP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100" b="0" dirty="0">
                <a:solidFill>
                  <a:srgbClr val="9723B4"/>
                </a:solidFill>
                <a:effectLst/>
                <a:latin typeface="Cascadia Code" panose="020B0609020000020004" pitchFamily="49" charset="0"/>
                <a:ea typeface="Cascadia Code" panose="020B0609020000020004" pitchFamily="49" charset="0"/>
                <a:cs typeface="Cascadia Code" panose="020B0609020000020004" pitchFamily="49" charset="0"/>
              </a:rPr>
              <a:t>return</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 torch.mean(f**</a:t>
            </a:r>
            <a:r>
              <a:rPr lang="en-US" sz="1100" b="0" dirty="0">
                <a:solidFill>
                  <a:srgbClr val="116644"/>
                </a:solidFill>
                <a:effectLst/>
                <a:latin typeface="Cascadia Code" panose="020B0609020000020004" pitchFamily="49" charset="0"/>
                <a:ea typeface="Cascadia Code" panose="020B0609020000020004" pitchFamily="49" charset="0"/>
                <a:cs typeface="Cascadia Code" panose="020B0609020000020004" pitchFamily="49" charset="0"/>
              </a:rPr>
              <a:t>2</a:t>
            </a:r>
            <a:r>
              <a:rPr lang="en-US" sz="1100" b="0" dirty="0">
                <a:solidFill>
                  <a:srgbClr val="000000"/>
                </a:solidFill>
                <a:effectLst/>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14" name="Rectangle: Rounded Corners 13">
            <a:extLst>
              <a:ext uri="{FF2B5EF4-FFF2-40B4-BE49-F238E27FC236}">
                <a16:creationId xmlns:a16="http://schemas.microsoft.com/office/drawing/2014/main" id="{9F82EA89-F935-D719-7E6D-63B4029A5AD9}"/>
              </a:ext>
            </a:extLst>
          </p:cNvPr>
          <p:cNvSpPr/>
          <p:nvPr/>
        </p:nvSpPr>
        <p:spPr>
          <a:xfrm>
            <a:off x="561996" y="4642421"/>
            <a:ext cx="5020734" cy="615553"/>
          </a:xfrm>
          <a:prstGeom prst="roundRect">
            <a:avLst/>
          </a:prstGeom>
          <a:solidFill>
            <a:schemeClr val="accent2"/>
          </a:solidFill>
          <a:ln>
            <a:solidFill>
              <a:srgbClr val="D2472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4# Update Combined loss</a:t>
            </a:r>
            <a:endParaRPr lang="en-PK" dirty="0"/>
          </a:p>
        </p:txBody>
      </p:sp>
      <p:sp>
        <p:nvSpPr>
          <p:cNvPr id="7" name="TextBox 6">
            <a:extLst>
              <a:ext uri="{FF2B5EF4-FFF2-40B4-BE49-F238E27FC236}">
                <a16:creationId xmlns:a16="http://schemas.microsoft.com/office/drawing/2014/main" id="{6C7292ED-5919-B2B3-401B-73D913FB706F}"/>
              </a:ext>
            </a:extLst>
          </p:cNvPr>
          <p:cNvSpPr txBox="1"/>
          <p:nvPr/>
        </p:nvSpPr>
        <p:spPr>
          <a:xfrm>
            <a:off x="6513617" y="4642421"/>
            <a:ext cx="5087355" cy="1697388"/>
          </a:xfrm>
          <a:prstGeom prst="rect">
            <a:avLst/>
          </a:prstGeom>
          <a:solidFill>
            <a:schemeClr val="bg1">
              <a:lumMod val="85000"/>
            </a:schemeClr>
          </a:solidFill>
        </p:spPr>
        <p:txBody>
          <a:bodyPr wrap="square">
            <a:spAutoFit/>
          </a:bodyPr>
          <a:lstStyle/>
          <a:p>
            <a:pPr>
              <a:lnSpc>
                <a:spcPts val="1425"/>
              </a:lnSpc>
              <a:buNone/>
            </a:pPr>
            <a:r>
              <a:rPr lang="en-US" sz="1100" dirty="0">
                <a:solidFill>
                  <a:srgbClr val="008000"/>
                </a:solidFill>
                <a:latin typeface="Cascadia Code" panose="020B0609020000020004" pitchFamily="49" charset="0"/>
                <a:ea typeface="Cascadia Code" panose="020B0609020000020004" pitchFamily="49" charset="0"/>
                <a:cs typeface="Cascadia Code" panose="020B0609020000020004" pitchFamily="49" charset="0"/>
              </a:rPr>
              <a:t># Data term</a:t>
            </a:r>
            <a:endPar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endParaRPr>
          </a:p>
          <a:p>
            <a:pPr>
              <a:lnSpc>
                <a:spcPts val="1425"/>
              </a:lnSpc>
              <a:buNone/>
            </a:pPr>
            <a:r>
              <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dirty="0">
                <a:solidFill>
                  <a:srgbClr val="9723B4"/>
                </a:solidFill>
                <a:latin typeface="Cascadia Code" panose="020B0609020000020004" pitchFamily="49" charset="0"/>
                <a:ea typeface="Cascadia Code" panose="020B0609020000020004" pitchFamily="49" charset="0"/>
                <a:cs typeface="Cascadia Code" panose="020B0609020000020004" pitchFamily="49" charset="0"/>
              </a:rPr>
              <a:t>if</a:t>
            </a:r>
            <a:r>
              <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dirty="0" err="1">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x_u</a:t>
            </a:r>
            <a:r>
              <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dirty="0">
                <a:solidFill>
                  <a:srgbClr val="0000FF"/>
                </a:solidFill>
                <a:latin typeface="Cascadia Code" panose="020B0609020000020004" pitchFamily="49" charset="0"/>
                <a:ea typeface="Cascadia Code" panose="020B0609020000020004" pitchFamily="49" charset="0"/>
                <a:cs typeface="Cascadia Code" panose="020B0609020000020004" pitchFamily="49" charset="0"/>
              </a:rPr>
              <a:t>is</a:t>
            </a:r>
            <a:r>
              <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dirty="0">
                <a:solidFill>
                  <a:srgbClr val="0000FF"/>
                </a:solidFill>
                <a:latin typeface="Cascadia Code" panose="020B0609020000020004" pitchFamily="49" charset="0"/>
                <a:ea typeface="Cascadia Code" panose="020B0609020000020004" pitchFamily="49" charset="0"/>
                <a:cs typeface="Cascadia Code" panose="020B0609020000020004" pitchFamily="49" charset="0"/>
              </a:rPr>
              <a:t>not</a:t>
            </a:r>
            <a:r>
              <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dirty="0">
                <a:solidFill>
                  <a:srgbClr val="0000FF"/>
                </a:solidFill>
                <a:latin typeface="Cascadia Code" panose="020B0609020000020004" pitchFamily="49" charset="0"/>
                <a:ea typeface="Cascadia Code" panose="020B0609020000020004" pitchFamily="49" charset="0"/>
                <a:cs typeface="Cascadia Code" panose="020B0609020000020004" pitchFamily="49" charset="0"/>
              </a:rPr>
              <a:t>None</a:t>
            </a:r>
            <a:r>
              <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dirty="0" err="1">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loss_data</a:t>
            </a:r>
            <a:r>
              <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 = </a:t>
            </a:r>
            <a:r>
              <a:rPr lang="en-US" sz="1100" dirty="0" err="1">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data_loss</a:t>
            </a:r>
            <a:r>
              <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a:t>
            </a:r>
            <a:r>
              <a:rPr lang="en-US" sz="1100" dirty="0" err="1">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x_u</a:t>
            </a:r>
            <a:r>
              <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dirty="0" err="1">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t_u</a:t>
            </a:r>
            <a:r>
              <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dirty="0" err="1">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u_u</a:t>
            </a:r>
            <a:r>
              <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dirty="0">
                <a:solidFill>
                  <a:srgbClr val="9723B4"/>
                </a:solidFill>
                <a:latin typeface="Cascadia Code" panose="020B0609020000020004" pitchFamily="49" charset="0"/>
                <a:ea typeface="Cascadia Code" panose="020B0609020000020004" pitchFamily="49" charset="0"/>
                <a:cs typeface="Cascadia Code" panose="020B0609020000020004" pitchFamily="49" charset="0"/>
              </a:rPr>
              <a:t>else</a:t>
            </a:r>
            <a:r>
              <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a:t>
            </a:r>
          </a:p>
          <a:p>
            <a:pPr>
              <a:lnSpc>
                <a:spcPts val="1425"/>
              </a:lnSpc>
              <a:buNone/>
            </a:pPr>
            <a:r>
              <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dirty="0" err="1">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loss_data</a:t>
            </a:r>
            <a:r>
              <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 = torch.tensor(</a:t>
            </a:r>
            <a:r>
              <a:rPr lang="en-US" sz="1100" dirty="0">
                <a:solidFill>
                  <a:srgbClr val="116644"/>
                </a:solidFill>
                <a:latin typeface="Cascadia Code" panose="020B0609020000020004" pitchFamily="49" charset="0"/>
                <a:ea typeface="Cascadia Code" panose="020B0609020000020004" pitchFamily="49" charset="0"/>
                <a:cs typeface="Cascadia Code" panose="020B0609020000020004" pitchFamily="49" charset="0"/>
              </a:rPr>
              <a:t>0.0</a:t>
            </a:r>
            <a:r>
              <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 device=device)</a:t>
            </a:r>
          </a:p>
          <a:p>
            <a:pPr>
              <a:lnSpc>
                <a:spcPts val="1425"/>
              </a:lnSpc>
              <a:buNone/>
            </a:pPr>
            <a:br>
              <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br>
            <a:endPar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endParaRPr>
          </a:p>
          <a:p>
            <a:pPr>
              <a:lnSpc>
                <a:spcPts val="1425"/>
              </a:lnSpc>
            </a:pPr>
            <a:r>
              <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    loss = loss_ic + loss_bc + loss_pde + </a:t>
            </a:r>
            <a:r>
              <a:rPr lang="en-US" sz="1100" dirty="0" err="1">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lambda_data</a:t>
            </a:r>
            <a:r>
              <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 * </a:t>
            </a:r>
            <a:r>
              <a:rPr lang="en-US" sz="1100" dirty="0" err="1">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loss_data</a:t>
            </a:r>
            <a:r>
              <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 </a:t>
            </a:r>
            <a:r>
              <a:rPr lang="en-US" sz="1100" dirty="0">
                <a:solidFill>
                  <a:srgbClr val="008000"/>
                </a:solidFill>
                <a:latin typeface="Cascadia Code" panose="020B0609020000020004" pitchFamily="49" charset="0"/>
                <a:ea typeface="Cascadia Code" panose="020B0609020000020004" pitchFamily="49" charset="0"/>
                <a:cs typeface="Cascadia Code" panose="020B0609020000020004" pitchFamily="49" charset="0"/>
              </a:rPr>
              <a:t># Experiment with </a:t>
            </a:r>
            <a:r>
              <a:rPr lang="en-US" sz="1100" dirty="0" err="1">
                <a:solidFill>
                  <a:srgbClr val="008000"/>
                </a:solidFill>
                <a:latin typeface="Cascadia Code" panose="020B0609020000020004" pitchFamily="49" charset="0"/>
                <a:ea typeface="Cascadia Code" panose="020B0609020000020004" pitchFamily="49" charset="0"/>
                <a:cs typeface="Cascadia Code" panose="020B0609020000020004" pitchFamily="49" charset="0"/>
              </a:rPr>
              <a:t>lambda_data</a:t>
            </a:r>
            <a:r>
              <a:rPr lang="en-US" sz="1100" dirty="0">
                <a:solidFill>
                  <a:srgbClr val="008000"/>
                </a:solidFill>
                <a:latin typeface="Cascadia Code" panose="020B0609020000020004" pitchFamily="49" charset="0"/>
                <a:ea typeface="Cascadia Code" panose="020B0609020000020004" pitchFamily="49" charset="0"/>
                <a:cs typeface="Cascadia Code" panose="020B0609020000020004" pitchFamily="49" charset="0"/>
              </a:rPr>
              <a:t> constant</a:t>
            </a:r>
            <a:endParaRPr lang="en-US" sz="11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endParaRP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7738F43B-DF63-648C-B60E-841771D81190}"/>
                  </a:ext>
                </a:extLst>
              </p:cNvPr>
              <p:cNvSpPr txBox="1"/>
              <p:nvPr/>
            </p:nvSpPr>
            <p:spPr>
              <a:xfrm>
                <a:off x="561996" y="5365695"/>
                <a:ext cx="5534004" cy="666144"/>
              </a:xfrm>
              <a:prstGeom prst="rect">
                <a:avLst/>
              </a:prstGeom>
              <a:noFill/>
            </p:spPr>
            <p:txBody>
              <a:bodyPr wrap="square">
                <a:spAutoFit/>
              </a:bodyPr>
              <a:lstStyle/>
              <a:p>
                <a:pPr lvl="0" eaLnBrk="0" fontAlgn="base" hangingPunct="0">
                  <a:spcBef>
                    <a:spcPct val="0"/>
                  </a:spcBef>
                  <a:spcAft>
                    <a:spcPct val="0"/>
                  </a:spcAft>
                </a:pPr>
                <a:r>
                  <a:rPr lang="en-PK" altLang="en-PK" dirty="0">
                    <a:latin typeface="Arial" panose="020B0604020202020204" pitchFamily="34" charset="0"/>
                  </a:rPr>
                  <a:t>Increase the </a:t>
                </a:r>
                <a14:m>
                  <m:oMath xmlns:m="http://schemas.openxmlformats.org/officeDocument/2006/math">
                    <m:sSub>
                      <m:sSubPr>
                        <m:ctrlPr>
                          <a:rPr lang="en-PK" altLang="en-PK" i="1" dirty="0" smtClean="0">
                            <a:latin typeface="Cambria Math" panose="02040503050406030204" pitchFamily="18" charset="0"/>
                          </a:rPr>
                        </m:ctrlPr>
                      </m:sSubPr>
                      <m:e>
                        <m:r>
                          <a:rPr lang="en-PK" altLang="en-PK" i="1" dirty="0" smtClean="0">
                            <a:latin typeface="Cambria Math" panose="02040503050406030204" pitchFamily="18" charset="0"/>
                          </a:rPr>
                          <m:t>𝜆</m:t>
                        </m:r>
                      </m:e>
                      <m:sub>
                        <m:r>
                          <m:rPr>
                            <m:nor/>
                          </m:rPr>
                          <a:rPr lang="en-PK" altLang="en-PK" i="0" baseline="-25000" dirty="0" smtClean="0">
                            <a:latin typeface="Cambria Math" panose="02040503050406030204" pitchFamily="18" charset="0"/>
                          </a:rPr>
                          <m:t>data</m:t>
                        </m:r>
                      </m:sub>
                    </m:sSub>
                    <m:r>
                      <a:rPr lang="en-PK" altLang="en-PK" i="1" dirty="0" smtClean="0">
                        <a:latin typeface="Cambria Math" panose="02040503050406030204" pitchFamily="18" charset="0"/>
                      </a:rPr>
                      <m:t> </m:t>
                    </m:r>
                  </m:oMath>
                </a14:m>
                <a:r>
                  <a:rPr lang="en-PK" altLang="en-PK" dirty="0"/>
                  <a:t>constant to allow the model to learn more strongly from the data.</a:t>
                </a:r>
                <a:endParaRPr lang="en-PK" altLang="en-PK" dirty="0">
                  <a:latin typeface="Arial" panose="020B0604020202020204" pitchFamily="34" charset="0"/>
                </a:endParaRPr>
              </a:p>
            </p:txBody>
          </p:sp>
        </mc:Choice>
        <mc:Fallback>
          <p:sp>
            <p:nvSpPr>
              <p:cNvPr id="8" name="TextBox 7">
                <a:extLst>
                  <a:ext uri="{FF2B5EF4-FFF2-40B4-BE49-F238E27FC236}">
                    <a16:creationId xmlns:a16="http://schemas.microsoft.com/office/drawing/2014/main" id="{7738F43B-DF63-648C-B60E-841771D81190}"/>
                  </a:ext>
                </a:extLst>
              </p:cNvPr>
              <p:cNvSpPr txBox="1">
                <a:spLocks noRot="1" noChangeAspect="1" noMove="1" noResize="1" noEditPoints="1" noAdjustHandles="1" noChangeArrowheads="1" noChangeShapeType="1" noTextEdit="1"/>
              </p:cNvSpPr>
              <p:nvPr/>
            </p:nvSpPr>
            <p:spPr>
              <a:xfrm>
                <a:off x="561996" y="5365695"/>
                <a:ext cx="5534004" cy="666144"/>
              </a:xfrm>
              <a:prstGeom prst="rect">
                <a:avLst/>
              </a:prstGeom>
              <a:blipFill>
                <a:blip r:embed="rId3"/>
                <a:stretch>
                  <a:fillRect l="-881" t="-5505" r="-1211" b="-11927"/>
                </a:stretch>
              </a:blipFill>
            </p:spPr>
            <p:txBody>
              <a:bodyPr/>
              <a:lstStyle/>
              <a:p>
                <a:r>
                  <a:rPr lang="en-PK">
                    <a:noFill/>
                  </a:rPr>
                  <a:t> </a:t>
                </a:r>
              </a:p>
            </p:txBody>
          </p:sp>
        </mc:Fallback>
      </mc:AlternateContent>
    </p:spTree>
    <p:extLst>
      <p:ext uri="{BB962C8B-B14F-4D97-AF65-F5344CB8AC3E}">
        <p14:creationId xmlns:p14="http://schemas.microsoft.com/office/powerpoint/2010/main" val="22877285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956BB-E90E-0968-18A2-140A7B3D6F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AAC7A2-3F64-B2AA-4BE8-1E503DC00121}"/>
              </a:ext>
            </a:extLst>
          </p:cNvPr>
          <p:cNvSpPr>
            <a:spLocks noGrp="1"/>
          </p:cNvSpPr>
          <p:nvPr>
            <p:ph type="title"/>
          </p:nvPr>
        </p:nvSpPr>
        <p:spPr>
          <a:xfrm>
            <a:off x="444500" y="412137"/>
            <a:ext cx="9146972" cy="640080"/>
          </a:xfrm>
        </p:spPr>
        <p:txBody>
          <a:bodyPr>
            <a:normAutofit/>
          </a:bodyPr>
          <a:lstStyle/>
          <a:p>
            <a:r>
              <a:rPr lang="en-US" sz="4000" b="1" dirty="0">
                <a:solidFill>
                  <a:srgbClr val="002060"/>
                </a:solidFill>
                <a:latin typeface="Segoe UI Semibold" panose="020B0502040204020203" pitchFamily="34" charset="0"/>
                <a:cs typeface="Segoe UI Semibold" panose="020B0502040204020203" pitchFamily="34" charset="0"/>
              </a:rPr>
              <a:t>Introduction</a:t>
            </a:r>
          </a:p>
        </p:txBody>
      </p:sp>
      <p:sp>
        <p:nvSpPr>
          <p:cNvPr id="6" name="TextBox 5">
            <a:extLst>
              <a:ext uri="{FF2B5EF4-FFF2-40B4-BE49-F238E27FC236}">
                <a16:creationId xmlns:a16="http://schemas.microsoft.com/office/drawing/2014/main" id="{2351B463-6CB5-2234-5C11-AF285F49942B}"/>
              </a:ext>
            </a:extLst>
          </p:cNvPr>
          <p:cNvSpPr txBox="1"/>
          <p:nvPr/>
        </p:nvSpPr>
        <p:spPr>
          <a:xfrm>
            <a:off x="444500" y="1169139"/>
            <a:ext cx="11156473" cy="738664"/>
          </a:xfrm>
          <a:prstGeom prst="rect">
            <a:avLst/>
          </a:prstGeom>
          <a:noFill/>
        </p:spPr>
        <p:txBody>
          <a:bodyPr wrap="square" rtlCol="0">
            <a:spAutoFit/>
          </a:bodyPr>
          <a:lstStyle/>
          <a:p>
            <a:pPr marL="0" lvl="1"/>
            <a:r>
              <a:rPr lang="en-US" sz="2400" dirty="0">
                <a:solidFill>
                  <a:srgbClr val="D24726"/>
                </a:solidFill>
              </a:rPr>
              <a:t>1D-Burger’s Equation </a:t>
            </a:r>
            <a:r>
              <a:rPr lang="en-US" dirty="0">
                <a:solidFill>
                  <a:srgbClr val="D24726"/>
                </a:solidFill>
              </a:rPr>
              <a:t>(</a:t>
            </a:r>
            <a:r>
              <a:rPr lang="en-US" i="1" dirty="0">
                <a:solidFill>
                  <a:srgbClr val="D24726"/>
                </a:solidFill>
              </a:rPr>
              <a:t>Finding Unknown Parameter)</a:t>
            </a:r>
            <a:br>
              <a:rPr lang="en-US" dirty="0"/>
            </a:br>
            <a:endParaRPr lang="en-US" dirty="0">
              <a:solidFill>
                <a:srgbClr val="D24726"/>
              </a:solidFill>
            </a:endParaRPr>
          </a:p>
        </p:txBody>
      </p:sp>
      <p:sp>
        <p:nvSpPr>
          <p:cNvPr id="5" name="Rectangle 3">
            <a:extLst>
              <a:ext uri="{FF2B5EF4-FFF2-40B4-BE49-F238E27FC236}">
                <a16:creationId xmlns:a16="http://schemas.microsoft.com/office/drawing/2014/main" id="{EDD3AEE5-35CB-8E45-9435-41FF123464D4}"/>
              </a:ext>
            </a:extLst>
          </p:cNvPr>
          <p:cNvSpPr>
            <a:spLocks noChangeArrowheads="1"/>
          </p:cNvSpPr>
          <p:nvPr/>
        </p:nvSpPr>
        <p:spPr bwMode="auto">
          <a:xfrm>
            <a:off x="139148" y="119749"/>
            <a:ext cx="213520"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800" b="0" i="0" u="none" strike="noStrike" cap="none" normalizeH="0" baseline="0" dirty="0">
                <a:ln>
                  <a:noFill/>
                </a:ln>
                <a:solidFill>
                  <a:schemeClr val="tx1"/>
                </a:solidFill>
                <a:effectLst/>
              </a:rPr>
              <a:t> </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9" name="Rectangle: Rounded Corners 8">
            <a:extLst>
              <a:ext uri="{FF2B5EF4-FFF2-40B4-BE49-F238E27FC236}">
                <a16:creationId xmlns:a16="http://schemas.microsoft.com/office/drawing/2014/main" id="{2B2E6AC9-7037-65E5-62D9-349639397D89}"/>
              </a:ext>
            </a:extLst>
          </p:cNvPr>
          <p:cNvSpPr/>
          <p:nvPr/>
        </p:nvSpPr>
        <p:spPr>
          <a:xfrm>
            <a:off x="561996" y="1716948"/>
            <a:ext cx="5020734" cy="615553"/>
          </a:xfrm>
          <a:prstGeom prst="roundRect">
            <a:avLst/>
          </a:prstGeom>
          <a:solidFill>
            <a:schemeClr val="accent2"/>
          </a:solidFill>
          <a:ln>
            <a:solidFill>
              <a:srgbClr val="D2472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5# Visualize the loss</a:t>
            </a:r>
            <a:endParaRPr lang="en-PK" dirty="0"/>
          </a:p>
        </p:txBody>
      </p:sp>
      <p:pic>
        <p:nvPicPr>
          <p:cNvPr id="3" name="Picture 2">
            <a:extLst>
              <a:ext uri="{FF2B5EF4-FFF2-40B4-BE49-F238E27FC236}">
                <a16:creationId xmlns:a16="http://schemas.microsoft.com/office/drawing/2014/main" id="{872EF883-F2B1-CFCC-077C-5EFFAF6CC83A}"/>
              </a:ext>
            </a:extLst>
          </p:cNvPr>
          <p:cNvPicPr>
            <a:picLocks noChangeAspect="1"/>
          </p:cNvPicPr>
          <p:nvPr/>
        </p:nvPicPr>
        <p:blipFill>
          <a:blip r:embed="rId3"/>
          <a:stretch>
            <a:fillRect/>
          </a:stretch>
        </p:blipFill>
        <p:spPr>
          <a:xfrm>
            <a:off x="561996" y="2455612"/>
            <a:ext cx="5191125" cy="3743325"/>
          </a:xfrm>
          <a:prstGeom prst="rect">
            <a:avLst/>
          </a:prstGeom>
        </p:spPr>
      </p:pic>
      <p:pic>
        <p:nvPicPr>
          <p:cNvPr id="4" name="Picture 3">
            <a:extLst>
              <a:ext uri="{FF2B5EF4-FFF2-40B4-BE49-F238E27FC236}">
                <a16:creationId xmlns:a16="http://schemas.microsoft.com/office/drawing/2014/main" id="{410A1328-E995-0925-F05A-1CFFE0819B94}"/>
              </a:ext>
            </a:extLst>
          </p:cNvPr>
          <p:cNvPicPr>
            <a:picLocks noChangeAspect="1"/>
          </p:cNvPicPr>
          <p:nvPr/>
        </p:nvPicPr>
        <p:blipFill>
          <a:blip r:embed="rId4"/>
          <a:stretch>
            <a:fillRect/>
          </a:stretch>
        </p:blipFill>
        <p:spPr>
          <a:xfrm>
            <a:off x="6267979" y="2455611"/>
            <a:ext cx="5210175" cy="3743325"/>
          </a:xfrm>
          <a:prstGeom prst="rect">
            <a:avLst/>
          </a:prstGeom>
        </p:spPr>
      </p:pic>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581FE0E1-7D5D-3613-35F0-8E21EF1CC58B}"/>
                  </a:ext>
                </a:extLst>
              </p:cNvPr>
              <p:cNvSpPr txBox="1"/>
              <p:nvPr/>
            </p:nvSpPr>
            <p:spPr>
              <a:xfrm>
                <a:off x="6543472" y="1701558"/>
                <a:ext cx="6096000" cy="646331"/>
              </a:xfrm>
              <a:prstGeom prst="rect">
                <a:avLst/>
              </a:prstGeom>
              <a:noFill/>
            </p:spPr>
            <p:txBody>
              <a:bodyPr wrap="square">
                <a:spAutoFit/>
              </a:bodyPr>
              <a:lstStyle/>
              <a:p>
                <a:r>
                  <a:rPr lang="en-US" i="0" dirty="0">
                    <a:solidFill>
                      <a:srgbClr val="1F1F1F"/>
                    </a:solidFill>
                    <a:effectLst/>
                  </a:rPr>
                  <a:t>Final learned </a:t>
                </a:r>
                <a14:m>
                  <m:oMath xmlns:m="http://schemas.openxmlformats.org/officeDocument/2006/math">
                    <m:r>
                      <a:rPr lang="en-US" b="0" i="1">
                        <a:ea typeface="Cambria Math" panose="02040503050406030204" pitchFamily="18" charset="0"/>
                      </a:rPr>
                      <m:t>𝜈</m:t>
                    </m:r>
                    <m:r>
                      <a:rPr lang="en-US" b="0" i="1">
                        <a:ea typeface="Cambria Math" panose="02040503050406030204" pitchFamily="18" charset="0"/>
                      </a:rPr>
                      <m:t> </m:t>
                    </m:r>
                  </m:oMath>
                </a14:m>
                <a:r>
                  <a:rPr lang="en-US" i="0" dirty="0">
                    <a:solidFill>
                      <a:srgbClr val="1F1F1F"/>
                    </a:solidFill>
                    <a:effectLst/>
                  </a:rPr>
                  <a:t>: 0.005945220589637756</a:t>
                </a:r>
              </a:p>
              <a:p>
                <a:r>
                  <a:rPr lang="en-US" dirty="0"/>
                  <a:t>	True </a:t>
                </a:r>
                <a14:m>
                  <m:oMath xmlns:m="http://schemas.openxmlformats.org/officeDocument/2006/math">
                    <m:r>
                      <a:rPr lang="en-US" b="0" i="1" smtClean="0">
                        <a:ea typeface="Cambria Math" panose="02040503050406030204" pitchFamily="18" charset="0"/>
                      </a:rPr>
                      <m:t>𝜈</m:t>
                    </m:r>
                    <m:r>
                      <a:rPr lang="en-US" b="0" i="0" smtClean="0">
                        <a:latin typeface="Cambria Math" panose="02040503050406030204" pitchFamily="18" charset="0"/>
                        <a:ea typeface="Cambria Math" panose="02040503050406030204" pitchFamily="18" charset="0"/>
                      </a:rPr>
                      <m:t>:</m:t>
                    </m:r>
                  </m:oMath>
                </a14:m>
                <a:r>
                  <a:rPr lang="en-US" dirty="0"/>
                  <a:t> </a:t>
                </a:r>
                <a:r>
                  <a:rPr lang="en-PK" dirty="0"/>
                  <a:t>0.00318309886184</a:t>
                </a:r>
              </a:p>
            </p:txBody>
          </p:sp>
        </mc:Choice>
        <mc:Fallback>
          <p:sp>
            <p:nvSpPr>
              <p:cNvPr id="11" name="TextBox 10">
                <a:extLst>
                  <a:ext uri="{FF2B5EF4-FFF2-40B4-BE49-F238E27FC236}">
                    <a16:creationId xmlns:a16="http://schemas.microsoft.com/office/drawing/2014/main" id="{581FE0E1-7D5D-3613-35F0-8E21EF1CC58B}"/>
                  </a:ext>
                </a:extLst>
              </p:cNvPr>
              <p:cNvSpPr txBox="1">
                <a:spLocks noRot="1" noChangeAspect="1" noMove="1" noResize="1" noEditPoints="1" noAdjustHandles="1" noChangeArrowheads="1" noChangeShapeType="1" noTextEdit="1"/>
              </p:cNvSpPr>
              <p:nvPr/>
            </p:nvSpPr>
            <p:spPr>
              <a:xfrm>
                <a:off x="6543472" y="1701558"/>
                <a:ext cx="6096000" cy="646331"/>
              </a:xfrm>
              <a:prstGeom prst="rect">
                <a:avLst/>
              </a:prstGeom>
              <a:blipFill>
                <a:blip r:embed="rId5"/>
                <a:stretch>
                  <a:fillRect l="-800" t="-3774" b="-15094"/>
                </a:stretch>
              </a:blipFill>
            </p:spPr>
            <p:txBody>
              <a:bodyPr/>
              <a:lstStyle/>
              <a:p>
                <a:r>
                  <a:rPr lang="en-PK">
                    <a:noFill/>
                  </a:rPr>
                  <a:t> </a:t>
                </a:r>
              </a:p>
            </p:txBody>
          </p:sp>
        </mc:Fallback>
      </mc:AlternateContent>
    </p:spTree>
    <p:extLst>
      <p:ext uri="{BB962C8B-B14F-4D97-AF65-F5344CB8AC3E}">
        <p14:creationId xmlns:p14="http://schemas.microsoft.com/office/powerpoint/2010/main" val="6114144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4887</TotalTime>
  <Words>3903</Words>
  <Application>Microsoft Office PowerPoint</Application>
  <PresentationFormat>Widescreen</PresentationFormat>
  <Paragraphs>434</Paragraphs>
  <Slides>21</Slides>
  <Notes>6</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21</vt:i4>
      </vt:variant>
    </vt:vector>
  </HeadingPairs>
  <TitlesOfParts>
    <vt:vector size="35" baseType="lpstr">
      <vt:lpstr>Aptos</vt:lpstr>
      <vt:lpstr>Aptos Display</vt:lpstr>
      <vt:lpstr>Arial</vt:lpstr>
      <vt:lpstr>Cambria Math</vt:lpstr>
      <vt:lpstr>Cascadia Code</vt:lpstr>
      <vt:lpstr>Courier New,monospace</vt:lpstr>
      <vt:lpstr>Google Sans Text</vt:lpstr>
      <vt:lpstr>inherit</vt:lpstr>
      <vt:lpstr>MathJax_Main</vt:lpstr>
      <vt:lpstr>MathJax_Math-italic</vt:lpstr>
      <vt:lpstr>Segoe UI</vt:lpstr>
      <vt:lpstr>Segoe UI Semibold</vt:lpstr>
      <vt:lpstr>system-ui</vt:lpstr>
      <vt:lpstr>Office Theme</vt:lpstr>
      <vt:lpstr>Neural Solvers for CFD:  Introduction to Physics Informed Neural Networks (PINNs) and Neural Operators (PINOs)</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Gulzar Ali</dc:creator>
  <cp:lastModifiedBy>GULZAR ALI</cp:lastModifiedBy>
  <cp:revision>196</cp:revision>
  <dcterms:created xsi:type="dcterms:W3CDTF">2025-10-11T05:20:16Z</dcterms:created>
  <dcterms:modified xsi:type="dcterms:W3CDTF">2025-12-04T10:54:00Z</dcterms:modified>
</cp:coreProperties>
</file>